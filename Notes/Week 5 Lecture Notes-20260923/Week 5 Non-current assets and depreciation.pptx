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02" r:id="rId3"/>
    <p:sldId id="285" r:id="rId4"/>
    <p:sldId id="268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Year</c:v>
                </c:pt>
              </c:strCache>
            </c:strRef>
          </c:tx>
          <c:marker>
            <c:symbol val="none"/>
          </c:marker>
          <c: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59-432F-91FC-7FA8F37A82FD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Straight Line</c:v>
                </c:pt>
              </c:strCache>
            </c:strRef>
          </c:tx>
          <c:marker>
            <c:symbol val="none"/>
          </c:marker>
          <c:val>
            <c:numRef>
              <c:f>Sheet1!$B$2:$B$5</c:f>
              <c:numCache>
                <c:formatCode>_-* #,##0_-;\-* #,##0_-;_-* "-"??_-;_-@_-</c:formatCode>
                <c:ptCount val="4"/>
                <c:pt idx="0">
                  <c:v>10000</c:v>
                </c:pt>
                <c:pt idx="1">
                  <c:v>10000</c:v>
                </c:pt>
                <c:pt idx="2">
                  <c:v>10000</c:v>
                </c:pt>
                <c:pt idx="3">
                  <c:v>10000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59-432F-91FC-7FA8F37A82FD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Reducing Balance</c:v>
                </c:pt>
              </c:strCache>
            </c:strRef>
          </c:tx>
          <c:marker>
            <c:symbol val="none"/>
          </c:marker>
          <c:val>
            <c:numRef>
              <c:f>Sheet1!$C$2:$C$5</c:f>
              <c:numCache>
                <c:formatCode>_-* #,##0_-;\-* #,##0_-;_-* "-"??_-;_-@_-</c:formatCode>
                <c:ptCount val="4"/>
                <c:pt idx="0">
                  <c:v>16500</c:v>
                </c:pt>
                <c:pt idx="1">
                  <c:v>11055</c:v>
                </c:pt>
                <c:pt idx="2">
                  <c:v>7407</c:v>
                </c:pt>
                <c:pt idx="3">
                  <c:v>4963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59-432F-91FC-7FA8F37A82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319168"/>
        <c:axId val="31320704"/>
      </c:lineChart>
      <c:catAx>
        <c:axId val="31319168"/>
        <c:scaling>
          <c:orientation val="minMax"/>
        </c:scaling>
        <c:delete val="0"/>
        <c:axPos val="b"/>
        <c:majorTickMark val="out"/>
        <c:minorTickMark val="none"/>
        <c:tickLblPos val="nextTo"/>
        <c:crossAx val="31320704"/>
        <c:crosses val="autoZero"/>
        <c:auto val="1"/>
        <c:lblAlgn val="ctr"/>
        <c:lblOffset val="100"/>
        <c:noMultiLvlLbl val="0"/>
      </c:catAx>
      <c:valAx>
        <c:axId val="313207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1319168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83B446-95B2-40E9-9F7E-041952E29C6A}" type="doc">
      <dgm:prSet loTypeId="urn:microsoft.com/office/officeart/2005/8/layout/equation1" loCatId="process" qsTypeId="urn:microsoft.com/office/officeart/2005/8/quickstyle/simple1" qsCatId="simple" csTypeId="urn:microsoft.com/office/officeart/2005/8/colors/accent6_1" csCatId="accent6" phldr="1"/>
      <dgm:spPr/>
    </dgm:pt>
    <dgm:pt modelId="{EE64435A-3A56-4D55-931A-897A7E06A126}">
      <dgm:prSet phldrT="[Text]" custT="1"/>
      <dgm:spPr/>
      <dgm:t>
        <a:bodyPr/>
        <a:lstStyle/>
        <a:p>
          <a:r>
            <a:rPr lang="en-AU" sz="2000" dirty="0">
              <a:latin typeface="Arial Narrow" pitchFamily="34" charset="0"/>
            </a:rPr>
            <a:t>Book value</a:t>
          </a:r>
        </a:p>
      </dgm:t>
    </dgm:pt>
    <dgm:pt modelId="{C232CDC4-AD2E-41F0-8B7E-6EF1A723EE34}" type="parTrans" cxnId="{B305B07A-6716-44F5-8375-12D6DEE69450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B882A3E2-BA25-4428-B8A5-3F4E5FFB27FF}" type="sibTrans" cxnId="{B305B07A-6716-44F5-8375-12D6DEE69450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B90CF9E6-E90B-4092-86B5-3B7D96854279}">
      <dgm:prSet phldrT="[Text]" custT="1"/>
      <dgm:spPr/>
      <dgm:t>
        <a:bodyPr/>
        <a:lstStyle/>
        <a:p>
          <a:r>
            <a:rPr lang="en-AU" sz="2000" dirty="0">
              <a:latin typeface="Arial Narrow" pitchFamily="34" charset="0"/>
            </a:rPr>
            <a:t>Original cost</a:t>
          </a:r>
        </a:p>
      </dgm:t>
    </dgm:pt>
    <dgm:pt modelId="{3CE1F98C-C3BF-4C42-8DC2-3705299F8A71}" type="parTrans" cxnId="{1CFB7E43-56A6-4C2E-9F5F-F55C920A10F1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B39C66DD-C583-4C6A-805A-BAD3B6D192C7}" type="sibTrans" cxnId="{1CFB7E43-56A6-4C2E-9F5F-F55C920A10F1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FA524BAB-EB89-4849-81C1-611D2BA92B9D}">
      <dgm:prSet phldrT="[Text]"/>
      <dgm:spPr/>
      <dgm:t>
        <a:bodyPr/>
        <a:lstStyle/>
        <a:p>
          <a:r>
            <a:rPr lang="en-AU" dirty="0">
              <a:latin typeface="Arial Narrow" pitchFamily="34" charset="0"/>
            </a:rPr>
            <a:t>Accumulated depreciation</a:t>
          </a:r>
        </a:p>
      </dgm:t>
    </dgm:pt>
    <dgm:pt modelId="{229D5DF4-C54E-4111-982D-922E183D7BEC}" type="parTrans" cxnId="{68EE80D9-2E9D-440F-A7F6-039AF5016A98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60213943-2AC4-4647-ADB2-7231BD6FD902}" type="sibTrans" cxnId="{68EE80D9-2E9D-440F-A7F6-039AF5016A98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A17F2EFD-99F7-4BD9-AF57-2526F38E00B3}" type="pres">
      <dgm:prSet presAssocID="{8583B446-95B2-40E9-9F7E-041952E29C6A}" presName="linearFlow" presStyleCnt="0">
        <dgm:presLayoutVars>
          <dgm:dir/>
          <dgm:resizeHandles val="exact"/>
        </dgm:presLayoutVars>
      </dgm:prSet>
      <dgm:spPr/>
    </dgm:pt>
    <dgm:pt modelId="{08B8DE15-B3E4-4C2A-B8AF-99424E8222BA}" type="pres">
      <dgm:prSet presAssocID="{EE64435A-3A56-4D55-931A-897A7E06A126}" presName="node" presStyleLbl="node1" presStyleIdx="0" presStyleCnt="3">
        <dgm:presLayoutVars>
          <dgm:bulletEnabled val="1"/>
        </dgm:presLayoutVars>
      </dgm:prSet>
      <dgm:spPr/>
    </dgm:pt>
    <dgm:pt modelId="{06F3A3ED-4514-4361-8703-C2576D668C2F}" type="pres">
      <dgm:prSet presAssocID="{B882A3E2-BA25-4428-B8A5-3F4E5FFB27FF}" presName="spacerL" presStyleCnt="0"/>
      <dgm:spPr/>
    </dgm:pt>
    <dgm:pt modelId="{6D7BE85D-5B09-4187-BEBF-C4FFCFBE92CD}" type="pres">
      <dgm:prSet presAssocID="{B882A3E2-BA25-4428-B8A5-3F4E5FFB27FF}" presName="sibTrans" presStyleLbl="sibTrans2D1" presStyleIdx="0" presStyleCnt="2"/>
      <dgm:spPr>
        <a:prstGeom prst="mathEqual">
          <a:avLst/>
        </a:prstGeom>
      </dgm:spPr>
    </dgm:pt>
    <dgm:pt modelId="{E134F15E-6A6B-489C-9E3C-7BF10A62F5B2}" type="pres">
      <dgm:prSet presAssocID="{B882A3E2-BA25-4428-B8A5-3F4E5FFB27FF}" presName="spacerR" presStyleCnt="0"/>
      <dgm:spPr/>
    </dgm:pt>
    <dgm:pt modelId="{B9235125-9DBE-433E-A999-AF3C57DE39A8}" type="pres">
      <dgm:prSet presAssocID="{B90CF9E6-E90B-4092-86B5-3B7D96854279}" presName="node" presStyleLbl="node1" presStyleIdx="1" presStyleCnt="3">
        <dgm:presLayoutVars>
          <dgm:bulletEnabled val="1"/>
        </dgm:presLayoutVars>
      </dgm:prSet>
      <dgm:spPr/>
    </dgm:pt>
    <dgm:pt modelId="{07B7E4E2-731F-4441-90E7-DBEDA8F0757A}" type="pres">
      <dgm:prSet presAssocID="{B39C66DD-C583-4C6A-805A-BAD3B6D192C7}" presName="spacerL" presStyleCnt="0"/>
      <dgm:spPr/>
    </dgm:pt>
    <dgm:pt modelId="{01D4ED92-6E37-438D-A2EC-8D73C3683715}" type="pres">
      <dgm:prSet presAssocID="{B39C66DD-C583-4C6A-805A-BAD3B6D192C7}" presName="sibTrans" presStyleLbl="sibTrans2D1" presStyleIdx="1" presStyleCnt="2"/>
      <dgm:spPr>
        <a:prstGeom prst="mathMinus">
          <a:avLst/>
        </a:prstGeom>
      </dgm:spPr>
    </dgm:pt>
    <dgm:pt modelId="{E415B7A2-0F33-4FE0-8525-9FBA7AA8EF0F}" type="pres">
      <dgm:prSet presAssocID="{B39C66DD-C583-4C6A-805A-BAD3B6D192C7}" presName="spacerR" presStyleCnt="0"/>
      <dgm:spPr/>
    </dgm:pt>
    <dgm:pt modelId="{65E93E42-4923-4D47-894C-AA3AF23C4D54}" type="pres">
      <dgm:prSet presAssocID="{FA524BAB-EB89-4849-81C1-611D2BA92B9D}" presName="node" presStyleLbl="node1" presStyleIdx="2" presStyleCnt="3">
        <dgm:presLayoutVars>
          <dgm:bulletEnabled val="1"/>
        </dgm:presLayoutVars>
      </dgm:prSet>
      <dgm:spPr/>
    </dgm:pt>
  </dgm:ptLst>
  <dgm:cxnLst>
    <dgm:cxn modelId="{00F56904-C6CD-2549-831E-5FFB7C3CACB0}" type="presOf" srcId="{EE64435A-3A56-4D55-931A-897A7E06A126}" destId="{08B8DE15-B3E4-4C2A-B8AF-99424E8222BA}" srcOrd="0" destOrd="0" presId="urn:microsoft.com/office/officeart/2005/8/layout/equation1"/>
    <dgm:cxn modelId="{9CD0F125-EA80-414F-B9C0-0F6A63532EF9}" type="presOf" srcId="{FA524BAB-EB89-4849-81C1-611D2BA92B9D}" destId="{65E93E42-4923-4D47-894C-AA3AF23C4D54}" srcOrd="0" destOrd="0" presId="urn:microsoft.com/office/officeart/2005/8/layout/equation1"/>
    <dgm:cxn modelId="{DA54A72C-BAD5-9F49-914B-F1F962516202}" type="presOf" srcId="{B39C66DD-C583-4C6A-805A-BAD3B6D192C7}" destId="{01D4ED92-6E37-438D-A2EC-8D73C3683715}" srcOrd="0" destOrd="0" presId="urn:microsoft.com/office/officeart/2005/8/layout/equation1"/>
    <dgm:cxn modelId="{1CFB7E43-56A6-4C2E-9F5F-F55C920A10F1}" srcId="{8583B446-95B2-40E9-9F7E-041952E29C6A}" destId="{B90CF9E6-E90B-4092-86B5-3B7D96854279}" srcOrd="1" destOrd="0" parTransId="{3CE1F98C-C3BF-4C42-8DC2-3705299F8A71}" sibTransId="{B39C66DD-C583-4C6A-805A-BAD3B6D192C7}"/>
    <dgm:cxn modelId="{08BDEE78-CEAA-8840-BD8C-D26FFE63C023}" type="presOf" srcId="{B90CF9E6-E90B-4092-86B5-3B7D96854279}" destId="{B9235125-9DBE-433E-A999-AF3C57DE39A8}" srcOrd="0" destOrd="0" presId="urn:microsoft.com/office/officeart/2005/8/layout/equation1"/>
    <dgm:cxn modelId="{B305B07A-6716-44F5-8375-12D6DEE69450}" srcId="{8583B446-95B2-40E9-9F7E-041952E29C6A}" destId="{EE64435A-3A56-4D55-931A-897A7E06A126}" srcOrd="0" destOrd="0" parTransId="{C232CDC4-AD2E-41F0-8B7E-6EF1A723EE34}" sibTransId="{B882A3E2-BA25-4428-B8A5-3F4E5FFB27FF}"/>
    <dgm:cxn modelId="{07BA3A7C-A16B-AF46-953E-8E2A0DCB4513}" type="presOf" srcId="{8583B446-95B2-40E9-9F7E-041952E29C6A}" destId="{A17F2EFD-99F7-4BD9-AF57-2526F38E00B3}" srcOrd="0" destOrd="0" presId="urn:microsoft.com/office/officeart/2005/8/layout/equation1"/>
    <dgm:cxn modelId="{2D5459CF-3026-2245-8B0B-FE6DCF0AEF46}" type="presOf" srcId="{B882A3E2-BA25-4428-B8A5-3F4E5FFB27FF}" destId="{6D7BE85D-5B09-4187-BEBF-C4FFCFBE92CD}" srcOrd="0" destOrd="0" presId="urn:microsoft.com/office/officeart/2005/8/layout/equation1"/>
    <dgm:cxn modelId="{68EE80D9-2E9D-440F-A7F6-039AF5016A98}" srcId="{8583B446-95B2-40E9-9F7E-041952E29C6A}" destId="{FA524BAB-EB89-4849-81C1-611D2BA92B9D}" srcOrd="2" destOrd="0" parTransId="{229D5DF4-C54E-4111-982D-922E183D7BEC}" sibTransId="{60213943-2AC4-4647-ADB2-7231BD6FD902}"/>
    <dgm:cxn modelId="{4D9225B5-2D06-DF47-B237-075363E2D8E9}" type="presParOf" srcId="{A17F2EFD-99F7-4BD9-AF57-2526F38E00B3}" destId="{08B8DE15-B3E4-4C2A-B8AF-99424E8222BA}" srcOrd="0" destOrd="0" presId="urn:microsoft.com/office/officeart/2005/8/layout/equation1"/>
    <dgm:cxn modelId="{EF13F4A5-C696-0A45-A975-705669923D3B}" type="presParOf" srcId="{A17F2EFD-99F7-4BD9-AF57-2526F38E00B3}" destId="{06F3A3ED-4514-4361-8703-C2576D668C2F}" srcOrd="1" destOrd="0" presId="urn:microsoft.com/office/officeart/2005/8/layout/equation1"/>
    <dgm:cxn modelId="{CB95F553-6019-534C-BFEE-D041D2B9E3D8}" type="presParOf" srcId="{A17F2EFD-99F7-4BD9-AF57-2526F38E00B3}" destId="{6D7BE85D-5B09-4187-BEBF-C4FFCFBE92CD}" srcOrd="2" destOrd="0" presId="urn:microsoft.com/office/officeart/2005/8/layout/equation1"/>
    <dgm:cxn modelId="{B31E0DF5-7948-C34F-8277-F12880487146}" type="presParOf" srcId="{A17F2EFD-99F7-4BD9-AF57-2526F38E00B3}" destId="{E134F15E-6A6B-489C-9E3C-7BF10A62F5B2}" srcOrd="3" destOrd="0" presId="urn:microsoft.com/office/officeart/2005/8/layout/equation1"/>
    <dgm:cxn modelId="{716B5ABE-4D9C-854D-8B03-63D5615B2992}" type="presParOf" srcId="{A17F2EFD-99F7-4BD9-AF57-2526F38E00B3}" destId="{B9235125-9DBE-433E-A999-AF3C57DE39A8}" srcOrd="4" destOrd="0" presId="urn:microsoft.com/office/officeart/2005/8/layout/equation1"/>
    <dgm:cxn modelId="{77874C39-F71B-0D47-A3CA-C4473A79F751}" type="presParOf" srcId="{A17F2EFD-99F7-4BD9-AF57-2526F38E00B3}" destId="{07B7E4E2-731F-4441-90E7-DBEDA8F0757A}" srcOrd="5" destOrd="0" presId="urn:microsoft.com/office/officeart/2005/8/layout/equation1"/>
    <dgm:cxn modelId="{05C6F723-4A80-E343-8304-CA5BFB747718}" type="presParOf" srcId="{A17F2EFD-99F7-4BD9-AF57-2526F38E00B3}" destId="{01D4ED92-6E37-438D-A2EC-8D73C3683715}" srcOrd="6" destOrd="0" presId="urn:microsoft.com/office/officeart/2005/8/layout/equation1"/>
    <dgm:cxn modelId="{DA3DCE1C-DFE9-E240-9CF4-0C65980FAB78}" type="presParOf" srcId="{A17F2EFD-99F7-4BD9-AF57-2526F38E00B3}" destId="{E415B7A2-0F33-4FE0-8525-9FBA7AA8EF0F}" srcOrd="7" destOrd="0" presId="urn:microsoft.com/office/officeart/2005/8/layout/equation1"/>
    <dgm:cxn modelId="{14ED2183-DD60-7C4D-8BC1-761ABB10C64C}" type="presParOf" srcId="{A17F2EFD-99F7-4BD9-AF57-2526F38E00B3}" destId="{65E93E42-4923-4D47-894C-AA3AF23C4D54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8DE15-B3E4-4C2A-B8AF-99424E8222BA}">
      <dsp:nvSpPr>
        <dsp:cNvPr id="0" name=""/>
        <dsp:cNvSpPr/>
      </dsp:nvSpPr>
      <dsp:spPr>
        <a:xfrm>
          <a:off x="1235" y="837602"/>
          <a:ext cx="1637162" cy="16371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 dirty="0">
              <a:latin typeface="Arial Narrow" pitchFamily="34" charset="0"/>
            </a:rPr>
            <a:t>Book value</a:t>
          </a:r>
        </a:p>
      </dsp:txBody>
      <dsp:txXfrm>
        <a:off x="240992" y="1077359"/>
        <a:ext cx="1157648" cy="1157648"/>
      </dsp:txXfrm>
    </dsp:sp>
    <dsp:sp modelId="{6D7BE85D-5B09-4187-BEBF-C4FFCFBE92CD}">
      <dsp:nvSpPr>
        <dsp:cNvPr id="0" name=""/>
        <dsp:cNvSpPr/>
      </dsp:nvSpPr>
      <dsp:spPr>
        <a:xfrm>
          <a:off x="1771335" y="1181406"/>
          <a:ext cx="949554" cy="949554"/>
        </a:xfrm>
        <a:prstGeom prst="mathEqual">
          <a:avLst/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1500" kern="1200">
            <a:latin typeface="Arial Narrow" pitchFamily="34" charset="0"/>
          </a:endParaRPr>
        </a:p>
      </dsp:txBody>
      <dsp:txXfrm>
        <a:off x="1897198" y="1377014"/>
        <a:ext cx="697828" cy="558338"/>
      </dsp:txXfrm>
    </dsp:sp>
    <dsp:sp modelId="{B9235125-9DBE-433E-A999-AF3C57DE39A8}">
      <dsp:nvSpPr>
        <dsp:cNvPr id="0" name=""/>
        <dsp:cNvSpPr/>
      </dsp:nvSpPr>
      <dsp:spPr>
        <a:xfrm>
          <a:off x="2853826" y="837602"/>
          <a:ext cx="1637162" cy="16371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 dirty="0">
              <a:latin typeface="Arial Narrow" pitchFamily="34" charset="0"/>
            </a:rPr>
            <a:t>Original cost</a:t>
          </a:r>
        </a:p>
      </dsp:txBody>
      <dsp:txXfrm>
        <a:off x="3093583" y="1077359"/>
        <a:ext cx="1157648" cy="1157648"/>
      </dsp:txXfrm>
    </dsp:sp>
    <dsp:sp modelId="{01D4ED92-6E37-438D-A2EC-8D73C3683715}">
      <dsp:nvSpPr>
        <dsp:cNvPr id="0" name=""/>
        <dsp:cNvSpPr/>
      </dsp:nvSpPr>
      <dsp:spPr>
        <a:xfrm>
          <a:off x="4623926" y="1181406"/>
          <a:ext cx="949554" cy="949554"/>
        </a:xfrm>
        <a:prstGeom prst="mathMinus">
          <a:avLst/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1500" kern="1200">
            <a:latin typeface="Arial Narrow" pitchFamily="34" charset="0"/>
          </a:endParaRPr>
        </a:p>
      </dsp:txBody>
      <dsp:txXfrm>
        <a:off x="4749789" y="1544515"/>
        <a:ext cx="697828" cy="223336"/>
      </dsp:txXfrm>
    </dsp:sp>
    <dsp:sp modelId="{65E93E42-4923-4D47-894C-AA3AF23C4D54}">
      <dsp:nvSpPr>
        <dsp:cNvPr id="0" name=""/>
        <dsp:cNvSpPr/>
      </dsp:nvSpPr>
      <dsp:spPr>
        <a:xfrm>
          <a:off x="5706418" y="837602"/>
          <a:ext cx="1637162" cy="16371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latin typeface="Arial Narrow" pitchFamily="34" charset="0"/>
            </a:rPr>
            <a:t>Accumulated depreciation</a:t>
          </a:r>
        </a:p>
      </dsp:txBody>
      <dsp:txXfrm>
        <a:off x="5946175" y="1077359"/>
        <a:ext cx="1157648" cy="1157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FB364-9B71-4253-86E7-4507702045C7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3E7F3-9368-4B98-BCD7-91390700D58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8113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C4FECC2-155C-4983-880B-3A2979DA1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0AB94DD-5201-48D0-9083-B84BE2492E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3EFD75F-17A9-4E94-8DA5-9544199514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D5E9D62-0886-4924-8BA4-ABE1B0320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EFE2ED9-4A71-4663-A90C-B19A9B8457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C6DBD71-FC6B-405A-A754-3532617D1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620DA6A-F467-4A00-BD2A-79B9E2593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4FFA6AA-40B7-4EFE-A272-FB70F8FFD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C5A0E70-57BD-4017-980A-E1A3205788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1C43D31-A7F9-4CB7-91BA-2FCB806E0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A24E632-804C-46EB-8DD2-00CB009419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11E2DB9-112D-4FB9-882C-1FE6316C3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C692E72-708E-4798-9327-4B8A481D35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F55704A-0714-48BD-AD0B-58452324FB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11D5BD0-A52C-4B70-A871-B48279BC8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6D088F6-7F36-470F-89EA-BDAFC3F31A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685D4F5-A3E3-4F9B-94E7-54B2626C1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949BA43-4BF0-407A-B448-429812E84F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AF8F556-9A16-4BF5-8DE5-693DDBA84B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D3E3499-23D8-4234-8FE0-CC26784FC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BC052B61-5B79-4321-B50C-0B18941197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5B612946-D419-49AD-8BE7-DF3F06C0A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ECD7E-9642-4F75-86D6-0EAF02900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6FF1B-5CE6-4D05-827D-FAFADE406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2CBA5-36BC-4119-A79A-E40949277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C93A5-F483-4C92-8B7E-BFB4A636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615EE-74E8-4264-BF92-8AC74004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66426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A3E06-4FE3-4BE1-B448-68BBDD9D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F5978-4FE9-493C-89BA-1BB96083F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2BF9E-F851-4268-A6B8-F69434EE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91816-ACC9-4D99-A98C-52C89C570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44C74-AC07-4ED8-A646-DA370EF1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6694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9CD1-AB62-4478-9F2B-0B10D3CE0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BB00A-15AD-46D9-A531-54B652081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3331A-58E3-4DA4-AADB-C3B063063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A5C4C-CAAF-47BB-8B8C-9C37B9F5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57BAE-7DE6-4166-8367-8B4370071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6531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F405-F4B9-4107-9A4B-3DCF5309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A1482-BAE1-45B4-8EBB-88CF98D1D4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D0920-68C8-4CEA-9D00-AE91D6A0D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3985F-DE33-4DC3-865F-D4E5BCEE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898CF-99FF-49B8-B3A9-30BC09C1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F6F90-47E6-43A7-9565-A527AA09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8785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CF3F-AF76-4564-B13E-07B469C90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015B4-0DD3-46BE-827B-51EA3F121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969D9-4060-455E-AC3B-7E036DE3F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48521A-6C3C-4CC2-B4BE-39C745CA5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30CD35-6B10-42A2-87F0-CE03D1F34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F6565B-FF49-4458-842E-B6B932CEF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43C24E-47C9-4AA6-B88C-49E2DE69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19EA0-DEB5-4D4F-B015-23F894073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1282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2325-3D73-4401-9177-AD8088F2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DC24C6-EC63-4D1C-841B-E28C4A08A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0F909-E200-4EE4-A5DC-FB039133E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7D2DD-08E4-4DB2-8609-DDC058E38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5978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8806F3-1CF4-4FD9-8785-DB7D5FBE8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99E544-2A00-482A-B295-927B72799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F6994-9B51-491B-AD87-BBE3D163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3541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0A5C6-1AF7-4B4C-8A95-88BB46482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70BE2-CB03-4342-853D-5EF79ED1E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FF6A1-EE7A-4556-9709-3CD0F28F8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9BE0D-3FC0-41C9-B55F-53CFF9C5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8BCF3-EBE0-4041-9008-B7084C7AA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4ADB7-23BF-48B5-AD5D-5300E8A3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96158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5C4D2-0F12-4035-AD52-D4D465F9C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0B3D6D-843A-4598-9C68-48238454FD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1CDF9-63BA-4776-9D08-4913D96A1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D9FEB-1E0F-4572-A4FA-98D107454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806E9-CE50-4B5C-BB75-35C4B953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F3AC5-0594-4267-A9BA-1F8F986FB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2209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0E290-D8BB-4B52-9C16-8E202E4D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714C5-7769-402C-B148-1D9C0A399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C4A66-609A-4652-9C1B-32E4A818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FAEEC-27B9-404D-838D-A4E0C927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37BAD-5616-4C67-8981-2AD29DA5E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6005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46C25-513C-4A57-82AC-7BB69CDA6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419A5-9227-44BE-8CB9-B8FDA79DB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DF210-F75E-4AC3-93A2-ED63406C1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B3184-E154-44CB-BF6B-D1FAEB22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14583-2D7B-44BC-920F-96913178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1993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F36808-D068-4F75-B04E-6902E92F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842D7-F9D0-4D2B-99E0-CC701A71A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560B1-08F2-4BB2-B98F-F6CE94E98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6A5CC-2DDC-405E-83CF-D904661AF3CA}" type="datetimeFigureOut">
              <a:rPr lang="en-NZ" smtClean="0"/>
              <a:t>30/01/2025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C98CD-C81A-4590-A3A8-B7F2C6A68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CB615-0954-49F2-B0F4-E9FEC5A4B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D61B9-528C-45C3-9769-5B94460CE1C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483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6E3C-D5D8-492E-ACAD-A063BF5A8F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Non-current assets and depreciation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C92C-6F33-4CC5-820D-318D1D3E43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7594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4110-9BB6-4C60-9D7A-9EC2753E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question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F6C09-FF7F-4B85-8E86-218458CBD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is depreciation and how is </a:t>
            </a:r>
            <a:r>
              <a:rPr lang="en-AU"/>
              <a:t>it accounted for?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65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4F17-77AF-4023-AD99-BAF71D90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/>
          <a:lstStyle/>
          <a:p>
            <a:pPr>
              <a:defRPr/>
            </a:pPr>
            <a:r>
              <a:rPr lang="en-AU" altLang="en-US" dirty="0">
                <a:latin typeface="Arial Narrow" panose="020B0606020202030204" pitchFamily="34" charset="0"/>
              </a:rPr>
              <a:t>The cost of a non-current asset</a:t>
            </a:r>
            <a:endParaRPr lang="en-NZ" dirty="0">
              <a:latin typeface="Arial Narrow" panose="020B0606020202030204" pitchFamily="34" charset="0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D6858E58-D7C9-4FAE-B4E4-0154FF3AD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1584326"/>
            <a:ext cx="8001000" cy="42973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AU" altLang="en-US" sz="26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Includes</a:t>
            </a:r>
            <a:r>
              <a:rPr lang="en-AU" alt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at acquisition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reasonabl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</a:t>
            </a:r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necessary 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expenditures</a:t>
            </a:r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incurred to place the asset in a position and condition ready for use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subsequent to acquisition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expenditures</a:t>
            </a:r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which enhance the future economic benefits of the asset beyond those initially expected; 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and/or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extend the useful life of the asset</a:t>
            </a:r>
            <a:endParaRPr lang="en-AU" altLang="en-US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endParaRPr lang="en-NZ" altLang="en-US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8F2DC0E4-469B-40AB-9894-AE5BE04A112E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774825" y="647700"/>
            <a:ext cx="8642350" cy="863600"/>
          </a:xfrm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>
              <a:spcAft>
                <a:spcPts val="1800"/>
              </a:spcAft>
              <a:defRPr/>
            </a:pPr>
            <a:r>
              <a:rPr altLang="en-US" cap="none">
                <a:latin typeface="Arial Narrow" charset="0"/>
                <a:cs typeface="Arial" charset="0"/>
              </a:rPr>
              <a:t>Property and equipment</a:t>
            </a:r>
            <a:br>
              <a:rPr altLang="en-US" cap="none">
                <a:latin typeface="Arial Narrow" charset="0"/>
                <a:cs typeface="Arial" charset="0"/>
              </a:rPr>
            </a:br>
            <a:endParaRPr altLang="en-US" cap="none">
              <a:latin typeface="Arial Narrow" charset="0"/>
              <a:cs typeface="Arial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527D9D2-49E1-44E5-A31F-9C1880D1EC02}"/>
              </a:ext>
            </a:extLst>
          </p:cNvPr>
          <p:cNvGraphicFramePr/>
          <p:nvPr/>
        </p:nvGraphicFramePr>
        <p:xfrm>
          <a:off x="2423592" y="2204864"/>
          <a:ext cx="7344816" cy="331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604" name="TextBox 1">
            <a:extLst>
              <a:ext uri="{FF2B5EF4-FFF2-40B4-BE49-F238E27FC236}">
                <a16:creationId xmlns:a16="http://schemas.microsoft.com/office/drawing/2014/main" id="{44AD08EB-F03C-41C3-9065-5D424A67E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725" y="1279525"/>
            <a:ext cx="64087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Land is listed on the balance sheet at its </a:t>
            </a:r>
            <a:r>
              <a:rPr lang="en-AU" altLang="en-US">
                <a:solidFill>
                  <a:srgbClr val="C75F09"/>
                </a:solidFill>
                <a:latin typeface="Arial Narrow" panose="020B0606020202030204" pitchFamily="34" charset="0"/>
              </a:rPr>
              <a:t>original cost</a:t>
            </a:r>
            <a:r>
              <a:rPr lang="en-AU" altLang="en-US">
                <a:latin typeface="Arial Narrow" panose="020B0606020202030204" pitchFamily="34" charset="0"/>
              </a:rPr>
              <a:t>. The remaining fixed assets are listed at their book values.</a:t>
            </a:r>
            <a:br>
              <a:rPr lang="en-AU" altLang="en-US">
                <a:latin typeface="Arial Narrow" panose="020B0606020202030204" pitchFamily="34" charset="0"/>
              </a:rPr>
            </a:br>
            <a:r>
              <a:rPr lang="en-AU" altLang="en-US">
                <a:latin typeface="Arial Narrow" panose="020B0606020202030204" pitchFamily="34" charset="0"/>
              </a:rPr>
              <a:t>Cost – accumulated depreciation = Net Book Value. (Written down value)</a:t>
            </a:r>
            <a:br>
              <a:rPr lang="en-AU" altLang="en-US" sz="4000">
                <a:latin typeface="Arial Narrow" panose="020B0606020202030204" pitchFamily="34" charset="0"/>
              </a:rPr>
            </a:br>
            <a:endParaRPr lang="en-NZ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>
            <a:extLst>
              <a:ext uri="{FF2B5EF4-FFF2-40B4-BE49-F238E27FC236}">
                <a16:creationId xmlns:a16="http://schemas.microsoft.com/office/drawing/2014/main" id="{72B2F1EA-E769-4976-9D30-ED661F85D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1" y="1844675"/>
            <a:ext cx="8507413" cy="4243388"/>
          </a:xfrm>
        </p:spPr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Depreciation is the process of allocating the net acquisition cost of an asset to the particular periods that relate to the use of that asset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Depreciation does not represent the fall in the value of an asset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Guidance on determining depreciation comes from NZIAS 16: Property, Plant and Equipment</a:t>
            </a: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F7B7DA88-11E5-4BDA-8676-C777A9BC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/>
              <a:t>Depreciation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AD5450E-570A-4E00-A426-DCA8EFA1E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/>
          <a:lstStyle/>
          <a:p>
            <a:pPr eaLnBrk="1" hangingPunct="1">
              <a:defRPr/>
            </a:pPr>
            <a:r>
              <a:rPr lang="en-NZ" altLang="en-US"/>
              <a:t>Allocation concept</a:t>
            </a:r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C323F00A-4674-46EA-AE9B-922FDD1200D5}"/>
              </a:ext>
            </a:extLst>
          </p:cNvPr>
          <p:cNvSpPr/>
          <p:nvPr/>
        </p:nvSpPr>
        <p:spPr>
          <a:xfrm>
            <a:off x="4583113" y="2349500"/>
            <a:ext cx="2736850" cy="863600"/>
          </a:xfrm>
          <a:prstGeom prst="round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NZ" dirty="0"/>
              <a:t>Cost – Estimated Residual Value </a:t>
            </a:r>
          </a:p>
          <a:p>
            <a:pPr algn="ctr">
              <a:defRPr/>
            </a:pPr>
            <a:r>
              <a:rPr lang="en-NZ" dirty="0"/>
              <a:t>(Depreciable amount)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BCE72A-613A-48B6-B5B9-FB9A82578ADC}"/>
              </a:ext>
            </a:extLst>
          </p:cNvPr>
          <p:cNvCxnSpPr/>
          <p:nvPr/>
        </p:nvCxnSpPr>
        <p:spPr>
          <a:xfrm flipV="1">
            <a:off x="2351088" y="4292601"/>
            <a:ext cx="6985000" cy="730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820CD8-9271-498D-BCB0-569057870177}"/>
              </a:ext>
            </a:extLst>
          </p:cNvPr>
          <p:cNvCxnSpPr/>
          <p:nvPr/>
        </p:nvCxnSpPr>
        <p:spPr>
          <a:xfrm>
            <a:off x="3216275" y="4149725"/>
            <a:ext cx="0" cy="431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B7525-F047-431C-85E9-F29E858F1AE8}"/>
              </a:ext>
            </a:extLst>
          </p:cNvPr>
          <p:cNvCxnSpPr/>
          <p:nvPr/>
        </p:nvCxnSpPr>
        <p:spPr>
          <a:xfrm>
            <a:off x="4224338" y="4148138"/>
            <a:ext cx="0" cy="431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42FD90-25DF-4A7A-97D0-C167A57F4F2E}"/>
              </a:ext>
            </a:extLst>
          </p:cNvPr>
          <p:cNvCxnSpPr/>
          <p:nvPr/>
        </p:nvCxnSpPr>
        <p:spPr>
          <a:xfrm>
            <a:off x="5303838" y="4113213"/>
            <a:ext cx="0" cy="431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0745D8-0AA9-414E-A66F-AB9041E3A146}"/>
              </a:ext>
            </a:extLst>
          </p:cNvPr>
          <p:cNvCxnSpPr/>
          <p:nvPr/>
        </p:nvCxnSpPr>
        <p:spPr>
          <a:xfrm>
            <a:off x="6383338" y="4087813"/>
            <a:ext cx="0" cy="431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E34974-1E98-43AD-BA13-FB9CB94EBBB7}"/>
              </a:ext>
            </a:extLst>
          </p:cNvPr>
          <p:cNvCxnSpPr/>
          <p:nvPr/>
        </p:nvCxnSpPr>
        <p:spPr>
          <a:xfrm>
            <a:off x="7391400" y="4071938"/>
            <a:ext cx="0" cy="431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ABDF32-2127-4174-99DA-0BBD83255025}"/>
              </a:ext>
            </a:extLst>
          </p:cNvPr>
          <p:cNvCxnSpPr/>
          <p:nvPr/>
        </p:nvCxnSpPr>
        <p:spPr>
          <a:xfrm flipH="1">
            <a:off x="3575051" y="3213101"/>
            <a:ext cx="1008063" cy="936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766653-2AA3-44A7-B8BB-13350E41B7AE}"/>
              </a:ext>
            </a:extLst>
          </p:cNvPr>
          <p:cNvCxnSpPr/>
          <p:nvPr/>
        </p:nvCxnSpPr>
        <p:spPr>
          <a:xfrm flipH="1">
            <a:off x="4583113" y="3213100"/>
            <a:ext cx="360362" cy="1079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767F45-AAB8-4230-A57A-92F3388E73A9}"/>
              </a:ext>
            </a:extLst>
          </p:cNvPr>
          <p:cNvCxnSpPr/>
          <p:nvPr/>
        </p:nvCxnSpPr>
        <p:spPr>
          <a:xfrm>
            <a:off x="5448301" y="3213100"/>
            <a:ext cx="142875" cy="1079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0D8009-19B2-4CDA-8298-8A333EE3C67A}"/>
              </a:ext>
            </a:extLst>
          </p:cNvPr>
          <p:cNvCxnSpPr/>
          <p:nvPr/>
        </p:nvCxnSpPr>
        <p:spPr>
          <a:xfrm>
            <a:off x="6240463" y="3213101"/>
            <a:ext cx="576262" cy="936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9FE16D-F41D-44F6-8258-CB4DAA29796B}"/>
              </a:ext>
            </a:extLst>
          </p:cNvPr>
          <p:cNvCxnSpPr/>
          <p:nvPr/>
        </p:nvCxnSpPr>
        <p:spPr>
          <a:xfrm>
            <a:off x="7032625" y="3213101"/>
            <a:ext cx="1295400" cy="10080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87" name="TextBox 1">
            <a:extLst>
              <a:ext uri="{FF2B5EF4-FFF2-40B4-BE49-F238E27FC236}">
                <a16:creationId xmlns:a16="http://schemas.microsoft.com/office/drawing/2014/main" id="{213AF691-2BF6-4A66-B9BF-F5F2E26D0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2564" y="4892675"/>
            <a:ext cx="1825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NZ" altLang="en-US" sz="1800"/>
              <a:t>Life of the Asset</a:t>
            </a:r>
          </a:p>
        </p:txBody>
      </p:sp>
      <p:sp>
        <p:nvSpPr>
          <p:cNvPr id="28688" name="TextBox 18">
            <a:extLst>
              <a:ext uri="{FF2B5EF4-FFF2-40B4-BE49-F238E27FC236}">
                <a16:creationId xmlns:a16="http://schemas.microsoft.com/office/drawing/2014/main" id="{E50B6ADD-6A12-4C74-A167-7865DB7BA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450" y="4732339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NZ" altLang="en-US" sz="1800"/>
          </a:p>
        </p:txBody>
      </p:sp>
      <p:sp>
        <p:nvSpPr>
          <p:cNvPr id="28689" name="TextBox 20">
            <a:extLst>
              <a:ext uri="{FF2B5EF4-FFF2-40B4-BE49-F238E27FC236}">
                <a16:creationId xmlns:a16="http://schemas.microsoft.com/office/drawing/2014/main" id="{8519B9B2-8689-4E72-8AA6-6A8796A44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46720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NZ" altLang="en-US" sz="1800"/>
          </a:p>
        </p:txBody>
      </p:sp>
      <p:sp>
        <p:nvSpPr>
          <p:cNvPr id="28690" name="TextBox 22">
            <a:extLst>
              <a:ext uri="{FF2B5EF4-FFF2-40B4-BE49-F238E27FC236}">
                <a16:creationId xmlns:a16="http://schemas.microsoft.com/office/drawing/2014/main" id="{00378F07-CEC8-4077-821B-1AF52F46A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579939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NZ" altLang="en-US" sz="1800"/>
              <a:t>1</a:t>
            </a:r>
          </a:p>
        </p:txBody>
      </p:sp>
      <p:sp>
        <p:nvSpPr>
          <p:cNvPr id="28691" name="TextBox 25">
            <a:extLst>
              <a:ext uri="{FF2B5EF4-FFF2-40B4-BE49-F238E27FC236}">
                <a16:creationId xmlns:a16="http://schemas.microsoft.com/office/drawing/2014/main" id="{DBF18FEA-E0B9-411B-B6AA-50E042AF4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88" y="4522789"/>
            <a:ext cx="292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NZ" altLang="en-US" sz="1800"/>
              <a:t>2</a:t>
            </a:r>
          </a:p>
        </p:txBody>
      </p:sp>
      <p:sp>
        <p:nvSpPr>
          <p:cNvPr id="28692" name="TextBox 26">
            <a:extLst>
              <a:ext uri="{FF2B5EF4-FFF2-40B4-BE49-F238E27FC236}">
                <a16:creationId xmlns:a16="http://schemas.microsoft.com/office/drawing/2014/main" id="{50BF2444-AF81-46A9-939F-411AFC807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438" y="4487863"/>
            <a:ext cx="292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NZ" altLang="en-US" sz="1800"/>
              <a:t>3</a:t>
            </a:r>
          </a:p>
        </p:txBody>
      </p:sp>
      <p:sp>
        <p:nvSpPr>
          <p:cNvPr id="28693" name="TextBox 27">
            <a:extLst>
              <a:ext uri="{FF2B5EF4-FFF2-40B4-BE49-F238E27FC236}">
                <a16:creationId xmlns:a16="http://schemas.microsoft.com/office/drawing/2014/main" id="{91FED179-5F58-4169-92E6-37FCA8D59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6575" y="4476750"/>
            <a:ext cx="292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NZ" altLang="en-US" sz="1800"/>
              <a:t>4</a:t>
            </a:r>
          </a:p>
        </p:txBody>
      </p:sp>
      <p:sp>
        <p:nvSpPr>
          <p:cNvPr id="28694" name="TextBox 28">
            <a:extLst>
              <a:ext uri="{FF2B5EF4-FFF2-40B4-BE49-F238E27FC236}">
                <a16:creationId xmlns:a16="http://schemas.microsoft.com/office/drawing/2014/main" id="{A810BD06-6F82-4A79-B73A-9018106F9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5925" y="4471989"/>
            <a:ext cx="292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NZ" altLang="en-US" sz="1800"/>
              <a:t>5</a:t>
            </a:r>
          </a:p>
        </p:txBody>
      </p:sp>
      <p:sp>
        <p:nvSpPr>
          <p:cNvPr id="28695" name="TextBox 4">
            <a:extLst>
              <a:ext uri="{FF2B5EF4-FFF2-40B4-BE49-F238E27FC236}">
                <a16:creationId xmlns:a16="http://schemas.microsoft.com/office/drawing/2014/main" id="{BAF936A8-4FE3-4414-80A7-6D4A14B1B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1" y="4476750"/>
            <a:ext cx="765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NZ" altLang="en-US" sz="1800"/>
              <a:t>Years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AAF980-D904-415E-A635-D8A9F7D1398A}"/>
              </a:ext>
            </a:extLst>
          </p:cNvPr>
          <p:cNvCxnSpPr/>
          <p:nvPr/>
        </p:nvCxnSpPr>
        <p:spPr>
          <a:xfrm>
            <a:off x="8455025" y="4076700"/>
            <a:ext cx="0" cy="431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678D8F50-24CA-44AD-B757-590E81D21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Depreciation is the systematic allocation of the depreciable amount of an asset over its useful life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257CD47A-F641-48C1-B749-E2489D864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altLang="en-US"/>
              <a:t>NZIAS16 definition</a:t>
            </a:r>
            <a:br>
              <a:rPr altLang="en-US"/>
            </a:br>
            <a:endParaRPr altLang="en-US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84932E54-BE8A-4F75-B5ED-5C84BF92C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Determining the total acquisition costs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Predicting the disposal value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Predicting the useful life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Determining the method by which depreciation should be allocated over the useful life</a:t>
            </a: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96FEA261-D1BF-4771-A9F4-8A3AC0F6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AU" altLang="en-US"/>
              <a:t>Depreciation – issues for calculation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DFB62F98-A3A0-4B66-BC37-CFF79A812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potential physical life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potential technical life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expected commercial life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legal life</a:t>
            </a: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9D2B5350-8066-4FAC-9F81-BBA963AD5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/>
              <a:t>Predicting the useful life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7" name="Rectangle 3">
            <a:extLst>
              <a:ext uri="{FF2B5EF4-FFF2-40B4-BE49-F238E27FC236}">
                <a16:creationId xmlns:a16="http://schemas.microsoft.com/office/drawing/2014/main" id="{63489698-D37A-4750-8409-BC138B0C3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0018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Shows consumption of economic benefits</a:t>
            </a:r>
            <a:endParaRPr lang="en-AU" altLang="en-US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depreciation maintain capacity of business? No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Only spreads the original cost and maintains original capital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ignores changes in price, technology, size of business, or in customer demand</a:t>
            </a: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0AC14BB-5197-4C51-9E9F-221B540BC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/>
              <a:t>Why depreciate?</a:t>
            </a: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7" grpId="0" build="p" bldLvl="3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0BF9796-5174-4FED-839D-B7DE06A7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Methods of depreciation</a:t>
            </a:r>
          </a:p>
        </p:txBody>
      </p:sp>
      <p:sp>
        <p:nvSpPr>
          <p:cNvPr id="350211" name="Rectangle 3">
            <a:extLst>
              <a:ext uri="{FF2B5EF4-FFF2-40B4-BE49-F238E27FC236}">
                <a16:creationId xmlns:a16="http://schemas.microsoft.com/office/drawing/2014/main" id="{3FD94DC1-2425-435B-AA66-699F4F626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/>
              <a:t>The straight-line method</a:t>
            </a:r>
          </a:p>
          <a:p>
            <a:r>
              <a:rPr lang="en-AU" altLang="en-US"/>
              <a:t>Reducing-balance method (also called declining-balance or accelerated method)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1" grpId="0" build="p" bldLvl="3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FD6A89CC-EC05-4347-800B-E651460EB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1" y="2057401"/>
            <a:ext cx="8355013" cy="4297363"/>
          </a:xfrm>
        </p:spPr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Micro Ltd purchases a new car costing $50,000 with an estimated useful life of four years and a residual value of $10,000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Calculate the depreciation expense using the straight-line method:</a:t>
            </a: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783001EA-6FD0-4EEB-9B82-819A4429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AU" altLang="en-US" sz="3600"/>
              <a:t>The straight-line method</a:t>
            </a:r>
            <a:br>
              <a:rPr lang="en-AU" altLang="en-US" sz="3600"/>
            </a:br>
            <a:r>
              <a:rPr lang="en-AU" altLang="en-US" sz="3600"/>
              <a:t>of depreciation </a:t>
            </a:r>
            <a:br>
              <a:rPr lang="en-AU" altLang="en-US"/>
            </a:br>
            <a:r>
              <a:rPr lang="en-AU" altLang="en-US" sz="2700"/>
              <a:t>(Introduced Week 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25BC6AC-0CDB-426F-88EF-03454EBBD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2075" tIns="46038" rIns="92075" bIns="46038" rtlCol="0" anchor="ctr">
            <a:normAutofit/>
          </a:bodyPr>
          <a:lstStyle/>
          <a:p>
            <a:pPr>
              <a:defRPr/>
            </a:pPr>
            <a:r>
              <a:rPr lang="en-AU" altLang="en-US"/>
              <a:t>The straight-line method</a:t>
            </a:r>
            <a:br>
              <a:rPr lang="en-AU" altLang="en-US"/>
            </a:br>
            <a:r>
              <a:rPr lang="en-AU" altLang="en-US"/>
              <a:t>of depreciation</a:t>
            </a:r>
          </a:p>
        </p:txBody>
      </p:sp>
      <p:sp>
        <p:nvSpPr>
          <p:cNvPr id="352259" name="Rectangle 3">
            <a:extLst>
              <a:ext uri="{FF2B5EF4-FFF2-40B4-BE49-F238E27FC236}">
                <a16:creationId xmlns:a16="http://schemas.microsoft.com/office/drawing/2014/main" id="{FFB85142-4B36-4F13-BFC3-B3BEBAF6293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232026" y="1700213"/>
            <a:ext cx="8435975" cy="4081462"/>
          </a:xfrm>
        </p:spPr>
        <p:txBody>
          <a:bodyPr vert="horz" lIns="92075" tIns="46038" rIns="92075" bIns="46038" rtlCol="0">
            <a:normAutofit/>
          </a:bodyPr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AU" altLang="en-US" u="sng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(Cost – residual value)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Useful life</a:t>
            </a:r>
          </a:p>
          <a:p>
            <a:pPr algn="ctr" eaLnBrk="1" hangingPunct="1">
              <a:lnSpc>
                <a:spcPct val="50000"/>
              </a:lnSpc>
              <a:buFont typeface="Arial" panose="020B0604020202020204" pitchFamily="34" charset="0"/>
              <a:buNone/>
            </a:pPr>
            <a:endParaRPr lang="en-AU" altLang="en-US" u="sng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u="sng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50,000</a:t>
            </a:r>
            <a:r>
              <a:rPr lang="en-AU" altLang="en-US" u="sng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– 10,0</a:t>
            </a:r>
            <a:r>
              <a:rPr lang="en-US" altLang="en-US" u="sng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0</a:t>
            </a:r>
            <a:r>
              <a:rPr lang="en-AU" altLang="en-US" u="sng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0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  <a:endParaRPr lang="en-AU" altLang="en-US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AU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= $10,000 depreciation expense each year of its useful life</a:t>
            </a: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2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59" grpId="0" build="p" bldLvl="3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FE09C323-ACA4-4DCF-AC03-C31B957D1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 Narrow" panose="020B0606020202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Micro Ltd purchases a new car costing $50,000 with an estimated useful life of four years and a residual value of $10,000</a:t>
            </a:r>
          </a:p>
          <a:p>
            <a:pPr eaLnBrk="1" hangingPunct="1"/>
            <a:r>
              <a:rPr lang="en-AU" altLang="en-US">
                <a:latin typeface="Arial Narrow" panose="020B0606020202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Calculate the depreciation expense using the reducing balance method and a rate of 33%. (Note that the rate for reducing balance will always be given to you)</a:t>
            </a: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582380D6-CD95-4535-ADCC-09ADA3F2A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AU" altLang="en-US"/>
              <a:t>The reducing balance method</a:t>
            </a:r>
            <a:br>
              <a:rPr lang="en-AU" altLang="en-US"/>
            </a:br>
            <a:r>
              <a:rPr lang="en-AU" altLang="en-US"/>
              <a:t>of depreciation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7068D7B-CB47-4C25-8EFC-73622700AB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476626" y="1341438"/>
          <a:ext cx="5521324" cy="438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2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8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484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NZ" sz="2000" u="none" strike="noStrike" dirty="0">
                          <a:effectLst/>
                        </a:rPr>
                        <a:t>Year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endParaRPr lang="en-NZ"/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Z" sz="2000" b="0" i="0" u="none" strike="noStrike" dirty="0">
                          <a:effectLst/>
                          <a:latin typeface="Arial"/>
                        </a:rPr>
                        <a:t>$</a:t>
                      </a: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84">
                <a:tc>
                  <a:txBody>
                    <a:bodyPr/>
                    <a:lstStyle/>
                    <a:p>
                      <a:pPr algn="l" fontAlgn="b"/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NZ" sz="2000" u="none" strike="noStrike" dirty="0">
                          <a:effectLst/>
                        </a:rPr>
                        <a:t>Cost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Z" sz="2000" b="0" i="0" u="none" strike="noStrike" dirty="0">
                          <a:effectLst/>
                          <a:latin typeface="Arial"/>
                        </a:rPr>
                        <a:t>Rate</a:t>
                      </a: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50,000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84"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>
                          <a:effectLst/>
                        </a:rPr>
                        <a:t>1</a:t>
                      </a:r>
                      <a:endParaRPr lang="en-NZ" sz="2000" b="0" i="0" u="none" strike="noStrike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NZ" sz="2000" u="none" strike="noStrike" dirty="0">
                          <a:effectLst/>
                        </a:rPr>
                        <a:t>Depreciation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33%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      </a:t>
                      </a:r>
                      <a:r>
                        <a:rPr lang="en-NZ" sz="2000" u="sng" strike="noStrike" dirty="0">
                          <a:effectLst/>
                        </a:rPr>
                        <a:t>16,500</a:t>
                      </a:r>
                      <a:r>
                        <a:rPr lang="en-NZ" sz="2000" u="none" strike="noStrike" dirty="0">
                          <a:effectLst/>
                        </a:rPr>
                        <a:t> 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84">
                <a:tc>
                  <a:txBody>
                    <a:bodyPr/>
                    <a:lstStyle/>
                    <a:p>
                      <a:pPr algn="l" fontAlgn="b"/>
                      <a:endParaRPr lang="en-NZ" sz="2000" b="0" i="0" u="none" strike="noStrike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NZ" sz="2000" u="none" strike="noStrike" dirty="0">
                          <a:effectLst/>
                        </a:rPr>
                        <a:t>Net Book Value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33,500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84"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>
                          <a:effectLst/>
                        </a:rPr>
                        <a:t>2</a:t>
                      </a:r>
                      <a:endParaRPr lang="en-NZ" sz="2000" b="0" i="0" u="none" strike="noStrike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Z" sz="2000" u="none" strike="noStrike" dirty="0">
                          <a:effectLst/>
                        </a:rPr>
                        <a:t>Depreciation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33%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      </a:t>
                      </a:r>
                      <a:r>
                        <a:rPr lang="en-NZ" sz="2000" u="sng" strike="noStrike" dirty="0">
                          <a:effectLst/>
                        </a:rPr>
                        <a:t>11,055</a:t>
                      </a:r>
                      <a:r>
                        <a:rPr lang="en-NZ" sz="2000" u="none" strike="noStrike" dirty="0">
                          <a:effectLst/>
                        </a:rPr>
                        <a:t> 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84">
                <a:tc>
                  <a:txBody>
                    <a:bodyPr/>
                    <a:lstStyle/>
                    <a:p>
                      <a:pPr algn="l" fontAlgn="b"/>
                      <a:endParaRPr lang="en-NZ" sz="2000" b="0" i="0" u="none" strike="noStrike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NZ" sz="2000" u="none" strike="noStrike" dirty="0">
                          <a:effectLst/>
                        </a:rPr>
                        <a:t>Net Book Value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      22,445 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484"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>
                          <a:effectLst/>
                        </a:rPr>
                        <a:t>3</a:t>
                      </a:r>
                      <a:endParaRPr lang="en-NZ" sz="2000" b="0" i="0" u="none" strike="noStrike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Z" sz="2000" u="none" strike="noStrike">
                          <a:effectLst/>
                        </a:rPr>
                        <a:t>Depreciation</a:t>
                      </a:r>
                      <a:endParaRPr lang="en-NZ" sz="2000" b="0" i="0" u="none" strike="noStrike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33%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        </a:t>
                      </a:r>
                      <a:r>
                        <a:rPr lang="en-NZ" sz="2000" u="sng" strike="noStrike" dirty="0">
                          <a:effectLst/>
                        </a:rPr>
                        <a:t>7,407</a:t>
                      </a:r>
                      <a:r>
                        <a:rPr lang="en-NZ" sz="2000" u="none" strike="noStrike" dirty="0">
                          <a:effectLst/>
                        </a:rPr>
                        <a:t> 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484">
                <a:tc>
                  <a:txBody>
                    <a:bodyPr/>
                    <a:lstStyle/>
                    <a:p>
                      <a:pPr algn="l" fontAlgn="b"/>
                      <a:endParaRPr lang="en-NZ" sz="2000" b="0" i="0" u="none" strike="noStrike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NZ" sz="2000" u="none" strike="noStrike" dirty="0">
                          <a:effectLst/>
                        </a:rPr>
                        <a:t>Net Book Value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      15,038 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484"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>
                          <a:effectLst/>
                        </a:rPr>
                        <a:t>4</a:t>
                      </a:r>
                      <a:endParaRPr lang="en-NZ" sz="2000" b="0" i="0" u="none" strike="noStrike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Z" sz="2000" u="none" strike="noStrike">
                          <a:effectLst/>
                        </a:rPr>
                        <a:t>Depreciation</a:t>
                      </a:r>
                      <a:endParaRPr lang="en-NZ" sz="2000" b="0" i="0" u="none" strike="noStrike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33%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        </a:t>
                      </a:r>
                      <a:r>
                        <a:rPr lang="en-NZ" sz="2000" u="sng" strike="noStrike" dirty="0">
                          <a:effectLst/>
                        </a:rPr>
                        <a:t>4,963</a:t>
                      </a:r>
                      <a:r>
                        <a:rPr lang="en-NZ" sz="2000" u="none" strike="noStrike" dirty="0">
                          <a:effectLst/>
                        </a:rPr>
                        <a:t> 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484">
                <a:tc>
                  <a:txBody>
                    <a:bodyPr/>
                    <a:lstStyle/>
                    <a:p>
                      <a:pPr algn="l" fontAlgn="b"/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NZ" sz="2000" u="none" strike="noStrike" dirty="0">
                          <a:effectLst/>
                        </a:rPr>
                        <a:t>Net Book Value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2000" u="none" strike="noStrike" dirty="0">
                          <a:effectLst/>
                        </a:rPr>
                        <a:t>10,075 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83388">
                <a:tc>
                  <a:txBody>
                    <a:bodyPr/>
                    <a:lstStyle/>
                    <a:p>
                      <a:pPr algn="l" fontAlgn="b"/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gridSpan="3"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sz="2000" b="0" i="0" u="none" strike="noStrike" dirty="0">
                          <a:effectLst/>
                          <a:latin typeface="Arial"/>
                        </a:rPr>
                        <a:t>(Ending net book value 75 extra</a:t>
                      </a:r>
                      <a:r>
                        <a:rPr lang="en-NZ" sz="2000" b="0" i="0" u="none" strike="noStrike" baseline="0" dirty="0">
                          <a:effectLst/>
                          <a:latin typeface="Arial"/>
                        </a:rPr>
                        <a:t> due to rounding)</a:t>
                      </a:r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  <a:p>
                      <a:pPr algn="l" fontAlgn="b"/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534">
                <a:tc>
                  <a:txBody>
                    <a:bodyPr/>
                    <a:lstStyle/>
                    <a:p>
                      <a:pPr algn="l" fontAlgn="b"/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endParaRPr lang="en-NZ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7650" name="Title 3">
            <a:extLst>
              <a:ext uri="{FF2B5EF4-FFF2-40B4-BE49-F238E27FC236}">
                <a16:creationId xmlns:a16="http://schemas.microsoft.com/office/drawing/2014/main" id="{97364855-6225-4947-ABD6-3735C90E2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76250"/>
            <a:ext cx="8229600" cy="64928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NZ" altLang="en-US" sz="3600"/>
              <a:t>Reducing balance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27961507-C4F7-4B50-878A-A09C25269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1773238"/>
            <a:ext cx="8001000" cy="4297362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altLang="en-US" sz="2600" dirty="0"/>
              <a:t>Total depreciation over four years is approximately the same 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sz="2600" dirty="0"/>
              <a:t>Straight-line = $40 000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sz="2600" dirty="0"/>
              <a:t>Reducing-balance = $39,925 (due to rounding)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sz="2600" dirty="0"/>
              <a:t>However the spread during the life is different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AU" altLang="en-US" dirty="0"/>
              <a:t>Crucial question is “What is the pattern of benefits provide by the asset?” refer to graph on the next slide</a:t>
            </a:r>
          </a:p>
          <a:p>
            <a:pPr marL="0" indent="0">
              <a:buNone/>
              <a:defRPr/>
            </a:pPr>
            <a:endParaRPr lang="en-US" altLang="en-US" sz="2600" dirty="0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EEE3B8C5-76E0-408E-B7DE-F017FCB9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altLang="en-US"/>
              <a:t>Comparison of the two methods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8854-2B6A-4E9B-B6F9-A8F1EF6C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/>
          <a:lstStyle/>
          <a:p>
            <a:pPr>
              <a:defRPr/>
            </a:pPr>
            <a:r>
              <a:rPr lang="en-NZ" sz="3200"/>
              <a:t>Comparison of the two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B3BA3C-39AA-47EE-B43D-CC5E5D4B53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97756" y="1592395"/>
          <a:ext cx="8001000" cy="4297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3694B4DC-2939-4D7B-9050-B98F9E4E9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0018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Given the difference in depreciation methods, it is important to consider the depreciation policies of entities when doing a comparison of performance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aware of the difference in depreciation policies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aware of tax implications</a:t>
            </a: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9B9B2AD6-EE2B-4A9F-89C7-4786DECD0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7389"/>
            <a:ext cx="8229600" cy="884237"/>
          </a:xfrm>
        </p:spPr>
        <p:txBody>
          <a:bodyPr/>
          <a:lstStyle/>
          <a:p>
            <a:pPr eaLnBrk="1" hangingPunct="1">
              <a:defRPr/>
            </a:pPr>
            <a:r>
              <a:rPr altLang="en-US"/>
              <a:t>Accounting policies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619</Words>
  <Application>Microsoft Office PowerPoint</Application>
  <PresentationFormat>Widescreen</PresentationFormat>
  <Paragraphs>104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ＭＳ Ｐゴシック</vt:lpstr>
      <vt:lpstr>Arial</vt:lpstr>
      <vt:lpstr>Arial Narrow</vt:lpstr>
      <vt:lpstr>Calibri</vt:lpstr>
      <vt:lpstr>Calibri Light</vt:lpstr>
      <vt:lpstr>Office Theme</vt:lpstr>
      <vt:lpstr>Non-current assets and depreciation</vt:lpstr>
      <vt:lpstr>Key question</vt:lpstr>
      <vt:lpstr>The cost of a non-current asset</vt:lpstr>
      <vt:lpstr>Property and equipment </vt:lpstr>
      <vt:lpstr>Depreciation</vt:lpstr>
      <vt:lpstr>Allocation concept</vt:lpstr>
      <vt:lpstr>NZIAS16 definition </vt:lpstr>
      <vt:lpstr>Depreciation – issues for calculation</vt:lpstr>
      <vt:lpstr>Predicting the useful life</vt:lpstr>
      <vt:lpstr>Why depreciate?</vt:lpstr>
      <vt:lpstr>Methods of depreciation</vt:lpstr>
      <vt:lpstr>The straight-line method of depreciation  (Introduced Week 3)</vt:lpstr>
      <vt:lpstr>The straight-line method of depreciation</vt:lpstr>
      <vt:lpstr>The reducing balance method of depreciation</vt:lpstr>
      <vt:lpstr>Reducing balance </vt:lpstr>
      <vt:lpstr>Comparison of the two methods</vt:lpstr>
      <vt:lpstr>Comparison of the two methods</vt:lpstr>
      <vt:lpstr>Accounting policies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Non-current assets and depreciation</dc:title>
  <dc:creator>Heslop, James</dc:creator>
  <cp:lastModifiedBy>Christelle Roos</cp:lastModifiedBy>
  <cp:revision>6</cp:revision>
  <dcterms:created xsi:type="dcterms:W3CDTF">2020-01-28T23:39:00Z</dcterms:created>
  <dcterms:modified xsi:type="dcterms:W3CDTF">2025-01-29T20:43:32Z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2024-07-16T01:49:21Z</vt:lpwstr>
  </property>
  <property fmtid="{D5CDD505-2E9C-101B-9397-08002B2CF9AE}" pid="4" name="MSIP_Label_bd9e4d68-54d0-40a5-8c9a-85a36c87352c_Method">
    <vt:lpwstr>Standard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6caee75a-98d4-47a2-81cf-ee0addca4441</vt:lpwstr>
  </property>
  <property fmtid="{D5CDD505-2E9C-101B-9397-08002B2CF9AE}" pid="8" name="MSIP_Label_bd9e4d68-54d0-40a5-8c9a-85a36c87352c_ContentBits">
    <vt:lpwstr>0</vt:lpwstr>
  </property>
</Properties>
</file>