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81" r:id="rId2"/>
  </p:sldMasterIdLst>
  <p:notesMasterIdLst>
    <p:notesMasterId r:id="rId26"/>
  </p:notesMasterIdLst>
  <p:handoutMasterIdLst>
    <p:handoutMasterId r:id="rId27"/>
  </p:handoutMasterIdLst>
  <p:sldIdLst>
    <p:sldId id="257" r:id="rId3"/>
    <p:sldId id="261" r:id="rId4"/>
    <p:sldId id="264" r:id="rId5"/>
    <p:sldId id="289" r:id="rId6"/>
    <p:sldId id="290" r:id="rId7"/>
    <p:sldId id="383" r:id="rId8"/>
    <p:sldId id="292" r:id="rId9"/>
    <p:sldId id="293" r:id="rId10"/>
    <p:sldId id="294" r:id="rId11"/>
    <p:sldId id="295" r:id="rId12"/>
    <p:sldId id="384" r:id="rId13"/>
    <p:sldId id="278" r:id="rId14"/>
    <p:sldId id="279" r:id="rId15"/>
    <p:sldId id="281" r:id="rId16"/>
    <p:sldId id="388" r:id="rId17"/>
    <p:sldId id="389" r:id="rId18"/>
    <p:sldId id="286" r:id="rId19"/>
    <p:sldId id="390" r:id="rId20"/>
    <p:sldId id="391" r:id="rId21"/>
    <p:sldId id="392" r:id="rId22"/>
    <p:sldId id="393" r:id="rId23"/>
    <p:sldId id="287" r:id="rId24"/>
    <p:sldId id="288" r:id="rId25"/>
  </p:sldIdLst>
  <p:sldSz cx="9144000" cy="6858000" type="screen4x3"/>
  <p:notesSz cx="6805613" cy="99393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0B4B7-E9F6-BC0A-5F90-ED2E42C131A4}" v="1" dt="2026-06-21T22:39:20.924"/>
    <p1510:client id="{EB01BE98-EAD7-53E7-6832-8A06D520DA64}" v="42" dt="2026-06-21T22:37:04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605" autoAdjust="0"/>
    <p:restoredTop sz="96247" autoAdjust="0"/>
  </p:normalViewPr>
  <p:slideViewPr>
    <p:cSldViewPr snapToGrid="0">
      <p:cViewPr varScale="1">
        <p:scale>
          <a:sx n="124" d="100"/>
          <a:sy n="124" d="100"/>
        </p:scale>
        <p:origin x="20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220641-269D-998B-B261-354DA6532C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38AE38-0359-5E68-48ED-FF6BAF5035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31A9D1-14B0-4801-A116-4C4795E48D48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954FD-68AD-37F8-BE9F-CBF88D8AEA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BF0B9-8326-5461-E55E-F9F8B038A1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F605024-5887-4E35-A59E-E06AEAB9CF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32B293-0108-6B5A-F7D2-0EE1462FEA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C2BD4-44CB-8F65-C286-F5BF85C705E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8B5C687-C6DD-4562-8BC4-DDE1EAD504C6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11525F1-3F83-3E22-F7AC-118DD76F95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630A693-612A-9AE9-DF94-DC6002349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3537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E69C4-8B3D-EAEC-FA23-B73B0A2F1B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84EF2-90E8-F119-6D49-E99ED20D8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D3F5E00-8D24-4A72-BF2B-EF1191E491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D7F15CBC-4621-6926-4155-6DC0C74C0B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E5BDAFB1-BCDA-98A6-3A70-F6E9D3E909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NZ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63AFBD4F-F656-D19B-08E5-D2A348A5B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0D7CF55-F09D-4804-9C3F-0A3B9117691A}" type="slidenum">
              <a:rPr lang="en-NZ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NZ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D31E30A2-BAED-9EE5-E30E-85561DEF07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B256C71D-87CC-13F8-AA0E-E5742DADC0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NZ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CDDB4DEF-8A90-A330-F9C1-259B7805F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CA84BB7-65F2-46FE-961A-31289F7CBC18}" type="slidenum">
              <a:rPr lang="en-NZ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NZ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0DCB428B-77EB-6176-04AA-31C66446F5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F40D3FC4-4054-03A8-31E3-973E666342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NZ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F342F37F-FBDA-05C6-8307-1AACDE884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6E8F80A-8F5D-44C2-9E3B-E1261CD4E675}" type="slidenum">
              <a:rPr lang="en-NZ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NZ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985DC1E2-0C64-D7DC-78A5-17E9E5EC8C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219BC5A5-F02E-A2A6-3104-8257D2D1A2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NZ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58F88CEC-A2B0-FAD7-BA0B-6350174DB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8FD25F7-AEC5-4E5D-B8F9-65335C6FB7A3}" type="slidenum">
              <a:rPr lang="en-NZ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NZ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74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7374"/>
            <a:ext cx="8229600" cy="884238"/>
          </a:xfrm>
        </p:spPr>
        <p:txBody>
          <a:bodyPr/>
          <a:lstStyle>
            <a:lvl1pPr algn="ctr" defTabSz="457200" rtl="0" fontAlgn="auto">
              <a:spcBef>
                <a:spcPct val="0"/>
              </a:spcBef>
              <a:spcAft>
                <a:spcPts val="0"/>
              </a:spcAft>
              <a:defRPr lang="en-US" sz="4000" kern="12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3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ctr" defTabSz="457200" rtl="0" fontAlgn="auto">
              <a:spcBef>
                <a:spcPct val="0"/>
              </a:spcBef>
              <a:spcAft>
                <a:spcPts val="0"/>
              </a:spcAft>
              <a:defRPr lang="en-US" sz="4000" kern="12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5594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4000" kern="12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17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lang="en-US" sz="4000" kern="12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36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E579A-E2AA-3DFF-093A-618B5F06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3FE2F76-6B23-4717-A16E-B63282DBDE52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7F3D1-FB68-7887-01E7-9F1B4457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7B8FC-8229-4864-2887-96A8A47C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8DCB7F7-DA01-4887-BC2D-87C80F6606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6957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34599-2B72-5B94-B76C-E614C068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B5C93C8C-64F9-45D3-A212-2588C142B6D3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32CC5-319D-4739-2CF8-87C55C947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CB7AB-A451-0B6E-C57D-12F4C37F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E692D6D-92EA-496D-AF9F-E6A90B62F7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691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A6673-E69A-28CD-F82F-51C7D7DC9B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097E036-6BC4-4368-AB25-7639A401E604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A033C-E091-AA87-1D15-43D35442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0D082-0FA3-BAD0-80EC-1447DDCB5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9C423B4-7FCE-4EEE-A776-1E9D954D92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441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9064C-830A-916F-5A0F-5A8CCC2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48D289E-ED02-482A-AF31-9953F6DF36BE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8B1C8-9165-8C4C-9FA5-E52B5D2D4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5094B-728A-969B-0EDA-0C1E9B57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D4560F0-F89C-43BD-90FF-74CDCE485E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02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6A64E-CBD7-B39B-3867-5BA57EB1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BE39BD02-DAB8-4BC4-AD70-DAB2080C0068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10214-7AB4-0F77-036F-AC608E54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FF6D8-F596-4175-1C19-51E0D2B2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39B19E7-62FD-481F-91D9-D0D6515A66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4442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CED1-24C1-6888-0C08-2DC9C5D4BA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FF03286-FACB-4E59-90F8-ABF9A36064C4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75FDA-EC4A-8E16-2C49-9A74C2DE3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1B4F6-9020-69F4-3B72-1A7FDBEB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E9F3BF4-4248-492F-BC13-AA6D87F866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781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 defTabSz="457200" rtl="0" fontAlgn="auto">
              <a:spcBef>
                <a:spcPct val="0"/>
              </a:spcBef>
              <a:spcAft>
                <a:spcPts val="0"/>
              </a:spcAft>
              <a:defRPr lang="en-US" sz="4000" kern="12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1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56E1F-05FD-F91D-4A50-D0A2AA22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B34303-89EF-45B0-B5A9-50B6F25CC129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A241B-5D62-3C9A-7A74-06E544C9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68147-BC1F-9730-92DF-44EE9A1B4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08542-85A6-42EE-A943-28EAAB5D4D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1969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3CF78-EA92-EE8A-ED16-6AF0EB6C4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F7C59-B71E-4E11-8312-B0B81E4D4FAB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57A66-C89D-E42B-5E3F-77B24670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FD5A2-1978-F8AF-9D9D-945B6F95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A6E74-C3C1-4E4F-B7A5-8AA3BE6B4E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9633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401CE-F465-ABFB-E3BE-10113AE2A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6F41A-2A50-4E9E-888F-69AE6FE524D6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F330B-BE7D-7AD2-167F-17D5BA50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858AD-B952-FC19-1910-D11DE93E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7B589-EA7A-4FD4-97E5-32821F7FFF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161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133BABD-80C3-0DEF-E598-B954ED1D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04675-9B40-47A6-BD29-1F848DA058DE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BEC744B-065F-2641-97A6-98AAEF9F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933FF6-18A8-2FCA-A205-D1546F12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E82BA-F8F8-44C6-9515-685A139DF5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9976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585D948-2F8D-6004-1134-A979E58C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BD3F1-C5BA-44ED-832B-5D69236136D2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019ECB0-7883-795B-BC0B-D9F40D5CA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5C24779-FB33-AD52-1D0E-2FD29864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932E2-AABB-4909-8F47-933454CCE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710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5F8F9CC-EF7E-B3F2-74C2-8DC8E374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F1AC4-8DEA-4388-85A8-61505AA9F6EC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A938926-25CF-7C49-1C01-01143CEDE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A5896CB-F3A0-A89B-A6E5-C1484ADE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7651F-4C22-4793-A788-8C406B3E6F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1481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B38138-5B81-0122-CC37-C4F58AD8B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8E87C-18EC-4376-8B31-6A8965B1422F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363A514-C033-03BC-D676-0EAEB76F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5C63CA-0576-5937-8917-A838EF73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CE666-EDB4-42B5-B52E-4FA8F7442E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56321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24CE512-ED21-4C79-E80B-43DBB0F3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148C4F-BAC0-41E5-B3E8-E5F09CE07998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094206-B8A7-5B3D-D9F5-C158980B6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4629080-B849-BC6D-F588-AA8303FE6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D0BF3-0C4E-4297-A414-B76696F89E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6322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B696A6C-C596-DD29-E017-CD81FE76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3234F-89BD-46F2-8E0A-85A934B4CDEF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30C695-94CC-A7C5-CCAD-65779C22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2775FF8-BCFC-E86D-2DF1-39E28AB7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7B8FD-B530-42F7-87E3-BD4E3EC2AD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2069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C95B-A18D-F5B0-A0AB-8DB8EBA33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829A6-8E45-45C5-BAEB-8E0D64412910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8F447-CC67-0612-5850-7C55B4D9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670AA-ED5F-E390-C037-B9F02100B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B349F-EA7A-440F-9ACC-945A7308F5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21918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80469-7A56-7F17-6461-C04B02EE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BEF42-8F57-4A5D-B0FA-8286F4A21F7A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89EED-9060-5D4B-442B-44BB4E34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04425-A5CD-F19D-4CD6-60789DC8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15D59-B273-4EF9-87BC-BADD577419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63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CCA34F-F329-BFC5-F09C-464FD76AC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00100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4A10CC3-1F75-11A0-0593-D604F62881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2057400"/>
            <a:ext cx="8001000" cy="429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SecondClick to edit Master title style</a:t>
            </a:r>
            <a:endParaRPr lang="en-US" altLang="en-US"/>
          </a:p>
          <a:p>
            <a:pPr lvl="1"/>
            <a:r>
              <a:rPr lang="en-AU" altLang="en-US"/>
              <a:t>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28" r:id="rId1"/>
    <p:sldLayoutId id="2147484812" r:id="rId2"/>
    <p:sldLayoutId id="2147484813" r:id="rId3"/>
    <p:sldLayoutId id="2147484814" r:id="rId4"/>
    <p:sldLayoutId id="2147484815" r:id="rId5"/>
    <p:sldLayoutId id="2147484829" r:id="rId6"/>
    <p:sldLayoutId id="2147484830" r:id="rId7"/>
    <p:sldLayoutId id="2147484831" r:id="rId8"/>
    <p:sldLayoutId id="2147484832" r:id="rId9"/>
    <p:sldLayoutId id="2147484833" r:id="rId10"/>
    <p:sldLayoutId id="2147484834" r:id="rId11"/>
    <p:sldLayoutId id="2147484816" r:id="rId12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000" kern="1200" cap="all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MS PGothic" panose="020B0600070205080204" pitchFamily="34" charset="-128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MS PGothic" panose="020B0600070205080204" pitchFamily="34" charset="-128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MS PGothic" panose="020B0600070205080204" pitchFamily="34" charset="-128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MS PGothic" panose="020B0600070205080204" pitchFamily="34" charset="-128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ＭＳ Ｐゴシック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ＭＳ Ｐゴシック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ＭＳ Ｐゴシック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ＭＳ Ｐゴシック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64E6D6A3-A4E4-3885-DB54-8564F902C92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239E7BEF-62A1-F4F3-A15E-11C888B49C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8D522-45F9-8D47-DDFF-D4EFC9592D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07A8512-6BEE-4A81-A7A7-026C907C761A}" type="datetimeFigureOut">
              <a:rPr lang="en-US" altLang="en-US"/>
              <a:pPr>
                <a:defRPr/>
              </a:pPr>
              <a:t>7/20/2026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752A5-3961-3995-E92B-E51408FFF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98967-6AB8-22B1-7BEC-9413F51CB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D97A6CF-6274-403F-A88E-04A76E2421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7" r:id="rId1"/>
    <p:sldLayoutId id="2147484818" r:id="rId2"/>
    <p:sldLayoutId id="2147484819" r:id="rId3"/>
    <p:sldLayoutId id="2147484820" r:id="rId4"/>
    <p:sldLayoutId id="2147484821" r:id="rId5"/>
    <p:sldLayoutId id="2147484822" r:id="rId6"/>
    <p:sldLayoutId id="2147484823" r:id="rId7"/>
    <p:sldLayoutId id="2147484824" r:id="rId8"/>
    <p:sldLayoutId id="2147484825" r:id="rId9"/>
    <p:sldLayoutId id="2147484826" r:id="rId10"/>
    <p:sldLayoutId id="214748482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A980E3-CF63-357A-8F01-E840D2D655F8}"/>
              </a:ext>
            </a:extLst>
          </p:cNvPr>
          <p:cNvSpPr txBox="1"/>
          <p:nvPr/>
        </p:nvSpPr>
        <p:spPr>
          <a:xfrm>
            <a:off x="3203575" y="695325"/>
            <a:ext cx="410527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4000" cap="all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rPr>
              <a:t>CHAPTER 6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1446F70-F86F-5D8E-4519-8D63DB170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551113"/>
            <a:ext cx="7559675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AU" altLang="en-US"/>
              <a:t>Managing and reporting working capital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AU" altLang="en-US" sz="36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7CE1-0236-B458-7DCF-28F0A30E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96838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Learning objectives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0B7B8B3C-4C25-62CB-6836-D6DA1596C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6"/>
            <a:ext cx="8001000" cy="4608612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After this chapter, students will be able to:</a:t>
            </a:r>
          </a:p>
          <a:p>
            <a:r>
              <a:rPr lang="en-US" sz="2200"/>
              <a:t>Define </a:t>
            </a:r>
            <a:r>
              <a:rPr lang="en-US" sz="2200" b="1"/>
              <a:t>working capital</a:t>
            </a:r>
            <a:r>
              <a:rPr lang="en-US" sz="2200"/>
              <a:t> and explain why its management matters.</a:t>
            </a:r>
          </a:p>
          <a:p>
            <a:r>
              <a:rPr lang="en-US" sz="2200"/>
              <a:t>Apply </a:t>
            </a:r>
            <a:r>
              <a:rPr lang="en-US" sz="2200" b="1"/>
              <a:t>liquidity ratios</a:t>
            </a:r>
            <a:r>
              <a:rPr lang="en-US" sz="2200"/>
              <a:t> to evaluate a business’s short‑term financial health.</a:t>
            </a:r>
          </a:p>
          <a:p>
            <a:r>
              <a:rPr lang="en-US" sz="2200"/>
              <a:t>Explain the importance of managing </a:t>
            </a:r>
            <a:r>
              <a:rPr lang="en-US" sz="2200" b="1"/>
              <a:t>cash receipts and payments</a:t>
            </a:r>
            <a:r>
              <a:rPr lang="en-US" sz="2200"/>
              <a:t>.</a:t>
            </a:r>
          </a:p>
          <a:p>
            <a:r>
              <a:rPr lang="en-US" sz="2200"/>
              <a:t>Understand how to monitor and control </a:t>
            </a:r>
            <a:r>
              <a:rPr lang="en-US" sz="2200" b="1"/>
              <a:t>accounts receivable</a:t>
            </a:r>
            <a:r>
              <a:rPr lang="en-US" sz="2200"/>
              <a:t>.</a:t>
            </a:r>
          </a:p>
          <a:p>
            <a:r>
              <a:rPr lang="en-US" sz="2200"/>
              <a:t>Identify key control procedures for </a:t>
            </a:r>
            <a:r>
              <a:rPr lang="en-US" sz="2200" b="1"/>
              <a:t>inventory</a:t>
            </a:r>
            <a:r>
              <a:rPr lang="en-US" sz="2200"/>
              <a:t>.</a:t>
            </a:r>
          </a:p>
          <a:p>
            <a:r>
              <a:rPr lang="en-US" sz="2200"/>
              <a:t>Explain the need to manage </a:t>
            </a:r>
            <a:r>
              <a:rPr lang="en-US" sz="2200" b="1"/>
              <a:t>accounts payable</a:t>
            </a:r>
            <a:r>
              <a:rPr lang="en-US" sz="2200"/>
              <a:t>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15D9-AAF4-90FD-16A2-BC71DFCEF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7388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NZ" sz="2800" cap="none"/>
              <a:t>Why businesses fail?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FA12ABEC-CA93-F775-E25E-D7DDC7274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57401"/>
            <a:ext cx="8229600" cy="259573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According to Michael E Gerber, accounting issues are the basis for three of the top 10 reasons why small businesses, in particular, fail. They are: </a:t>
            </a:r>
          </a:p>
          <a:p>
            <a:pPr marL="0" indent="0"/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a lack of management systems, such as ﬁnancial controls</a:t>
            </a:r>
          </a:p>
          <a:p>
            <a:pPr marL="0" indent="0"/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a lack of ﬁnancial planning and review</a:t>
            </a:r>
          </a:p>
          <a:p>
            <a:pPr marL="0" indent="0"/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an inadequate level of ﬁnancial resources (lack of money)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60C2-133D-BEE5-A157-2FB320C1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08" y="245269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NZ" sz="2800"/>
              <a:t>6.1 Working Capital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09DC61DB-7D54-E4A2-C4DC-901051C7E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08" y="1424446"/>
            <a:ext cx="8001000" cy="1493589"/>
          </a:xfrm>
        </p:spPr>
        <p:txBody>
          <a:bodyPr numCol="1"/>
          <a:lstStyle/>
          <a:p>
            <a:r>
              <a:rPr lang="en-US" sz="1800" b="1" dirty="0"/>
              <a:t>What is Working Capital?</a:t>
            </a:r>
          </a:p>
          <a:p>
            <a:r>
              <a:rPr lang="en-US" sz="1800" dirty="0"/>
              <a:t>Working capital represents the short‑term resources a business uses in its day‑to‑day operations.</a:t>
            </a:r>
          </a:p>
          <a:p>
            <a:r>
              <a:rPr lang="en-US" sz="1800" b="1" dirty="0"/>
              <a:t>Working Capital = Current Assets – Current Liabilities</a:t>
            </a: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3D03D-1855-5177-277A-4D835A0B4C3E}"/>
              </a:ext>
            </a:extLst>
          </p:cNvPr>
          <p:cNvSpPr txBox="1"/>
          <p:nvPr/>
        </p:nvSpPr>
        <p:spPr>
          <a:xfrm>
            <a:off x="929320" y="3140968"/>
            <a:ext cx="7796352" cy="397031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b="1" dirty="0"/>
              <a:t>Key current assets: </a:t>
            </a:r>
          </a:p>
          <a:p>
            <a:r>
              <a:rPr lang="en-US" dirty="0"/>
              <a:t>Cash</a:t>
            </a:r>
          </a:p>
          <a:p>
            <a:r>
              <a:rPr lang="en-US" dirty="0"/>
              <a:t>Accounts receivable</a:t>
            </a:r>
          </a:p>
          <a:p>
            <a:r>
              <a:rPr lang="en-US" dirty="0"/>
              <a:t>Inventory</a:t>
            </a:r>
          </a:p>
          <a:p>
            <a:r>
              <a:rPr lang="en-US" dirty="0"/>
              <a:t>Prepayments</a:t>
            </a:r>
          </a:p>
          <a:p>
            <a:r>
              <a:rPr lang="en-US" dirty="0"/>
              <a:t>Accrued income</a:t>
            </a:r>
          </a:p>
          <a:p>
            <a:r>
              <a:rPr lang="en-US" dirty="0"/>
              <a:t>GST paid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Key current liabilities:</a:t>
            </a:r>
          </a:p>
          <a:p>
            <a:r>
              <a:rPr lang="en-US" dirty="0"/>
              <a:t>Accounts payable</a:t>
            </a:r>
          </a:p>
          <a:p>
            <a:r>
              <a:rPr lang="en-US" dirty="0"/>
              <a:t>Accrued expenses</a:t>
            </a:r>
          </a:p>
          <a:p>
            <a:r>
              <a:rPr lang="en-US" dirty="0"/>
              <a:t>Income received in advance</a:t>
            </a:r>
          </a:p>
          <a:p>
            <a:r>
              <a:rPr lang="en-US" dirty="0"/>
              <a:t>PAYE payable</a:t>
            </a:r>
          </a:p>
          <a:p>
            <a:r>
              <a:rPr lang="en-US" dirty="0"/>
              <a:t>GST received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D0D4-0C88-CC66-F8CC-E720DFD10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617538"/>
          </a:xfrm>
        </p:spPr>
        <p:txBody>
          <a:bodyPr/>
          <a:lstStyle/>
          <a:p>
            <a:pPr>
              <a:defRPr/>
            </a:pPr>
            <a:r>
              <a:rPr altLang="en-US" sz="2800" cap="none">
                <a:latin typeface="Arial Narrow" pitchFamily="34" charset="0"/>
                <a:cs typeface="Arial" charset="0"/>
              </a:rPr>
              <a:t>The working capital cycle</a:t>
            </a:r>
            <a:endParaRPr lang="en-NZ" sz="2800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5CFDFA0F-170C-8232-A5B7-F63119646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950194"/>
            <a:ext cx="8001000" cy="5143102"/>
          </a:xfrm>
        </p:spPr>
        <p:txBody>
          <a:bodyPr/>
          <a:lstStyle/>
          <a:p>
            <a:r>
              <a:rPr lang="en-US" sz="1800"/>
              <a:t>A business converts:</a:t>
            </a:r>
          </a:p>
          <a:p>
            <a:r>
              <a:rPr lang="en-US" sz="1800" b="1"/>
              <a:t>Cash → Inventory → Sales → Accounts Receivable → Cash</a:t>
            </a:r>
            <a:endParaRPr lang="en-US" sz="1800"/>
          </a:p>
          <a:p>
            <a:r>
              <a:rPr lang="en-US" sz="1800"/>
              <a:t>Suppliers provide inventory on credit (accounts payable), customers buy on credit (accounts receivable), and cash flows back into the business.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673422-9492-A377-2D9F-A105703917B2}"/>
              </a:ext>
            </a:extLst>
          </p:cNvPr>
          <p:cNvSpPr/>
          <p:nvPr/>
        </p:nvSpPr>
        <p:spPr>
          <a:xfrm>
            <a:off x="3471863" y="4508500"/>
            <a:ext cx="1728787" cy="15128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NZ"/>
              <a:t>Inventories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FF9C7B-3E12-3C2B-CA8D-A56BB63D6E70}"/>
              </a:ext>
            </a:extLst>
          </p:cNvPr>
          <p:cNvSpPr/>
          <p:nvPr/>
        </p:nvSpPr>
        <p:spPr>
          <a:xfrm>
            <a:off x="3500438" y="2205038"/>
            <a:ext cx="1728787" cy="15113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NZ"/>
              <a:t>Cash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A46EA4-5D38-3A98-C3FB-E68B8A54F8FF}"/>
              </a:ext>
            </a:extLst>
          </p:cNvPr>
          <p:cNvSpPr/>
          <p:nvPr/>
        </p:nvSpPr>
        <p:spPr>
          <a:xfrm>
            <a:off x="1042988" y="3429000"/>
            <a:ext cx="1728787" cy="15128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NZ"/>
              <a:t>Customers</a:t>
            </a:r>
          </a:p>
          <a:p>
            <a:pPr algn="ctr">
              <a:defRPr/>
            </a:pPr>
            <a:r>
              <a:rPr lang="en-AU"/>
              <a:t>- Accounts Receivable</a:t>
            </a:r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3AA672-B0F5-FAD7-B6EC-52662D5802F4}"/>
              </a:ext>
            </a:extLst>
          </p:cNvPr>
          <p:cNvSpPr/>
          <p:nvPr/>
        </p:nvSpPr>
        <p:spPr>
          <a:xfrm>
            <a:off x="6372225" y="3302000"/>
            <a:ext cx="1728788" cy="15113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NZ"/>
              <a:t>Suppliers</a:t>
            </a:r>
          </a:p>
          <a:p>
            <a:pPr algn="ctr">
              <a:defRPr/>
            </a:pPr>
            <a:r>
              <a:rPr lang="en-AU"/>
              <a:t>- Accounts Payable</a:t>
            </a:r>
            <a:endParaRPr lang="en-NZ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0AEF61-5F87-F5ED-C82B-C1BAFB7A3B17}"/>
              </a:ext>
            </a:extLst>
          </p:cNvPr>
          <p:cNvCxnSpPr>
            <a:stCxn id="9" idx="6"/>
            <a:endCxn id="11" idx="1"/>
          </p:cNvCxnSpPr>
          <p:nvPr/>
        </p:nvCxnSpPr>
        <p:spPr>
          <a:xfrm>
            <a:off x="5229225" y="2960688"/>
            <a:ext cx="1395413" cy="561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1E3873-7319-59A8-5226-37AB812EED93}"/>
              </a:ext>
            </a:extLst>
          </p:cNvPr>
          <p:cNvCxnSpPr/>
          <p:nvPr/>
        </p:nvCxnSpPr>
        <p:spPr>
          <a:xfrm flipH="1">
            <a:off x="5114925" y="4616450"/>
            <a:ext cx="1503363" cy="431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C00AC7-8841-5877-1475-540A18B82980}"/>
              </a:ext>
            </a:extLst>
          </p:cNvPr>
          <p:cNvCxnSpPr>
            <a:cxnSpLocks/>
            <a:stCxn id="6" idx="2"/>
            <a:endCxn id="10" idx="5"/>
          </p:cNvCxnSpPr>
          <p:nvPr/>
        </p:nvCxnSpPr>
        <p:spPr>
          <a:xfrm flipH="1" flipV="1">
            <a:off x="2519363" y="4719638"/>
            <a:ext cx="952500" cy="546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7C6C5A-2AF2-F21A-3E56-A8917C764852}"/>
              </a:ext>
            </a:extLst>
          </p:cNvPr>
          <p:cNvCxnSpPr/>
          <p:nvPr/>
        </p:nvCxnSpPr>
        <p:spPr>
          <a:xfrm flipV="1">
            <a:off x="2147888" y="3008313"/>
            <a:ext cx="1376362" cy="4683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8D213F4-073E-8D2C-6AE4-D67834FE1215}"/>
              </a:ext>
            </a:extLst>
          </p:cNvPr>
          <p:cNvSpPr/>
          <p:nvPr/>
        </p:nvSpPr>
        <p:spPr>
          <a:xfrm>
            <a:off x="3469575" y="4508500"/>
            <a:ext cx="1728787" cy="15128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NZ"/>
              <a:t>Inventories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8CC560-3FEE-1B29-CB0B-23D72F74BA2C}"/>
              </a:ext>
            </a:extLst>
          </p:cNvPr>
          <p:cNvSpPr/>
          <p:nvPr/>
        </p:nvSpPr>
        <p:spPr>
          <a:xfrm>
            <a:off x="3498150" y="2205038"/>
            <a:ext cx="1728787" cy="15113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NZ"/>
              <a:t>Cash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3046EB-1416-7D8A-5C71-6849FB9C325C}"/>
              </a:ext>
            </a:extLst>
          </p:cNvPr>
          <p:cNvSpPr/>
          <p:nvPr/>
        </p:nvSpPr>
        <p:spPr>
          <a:xfrm>
            <a:off x="1040700" y="3429000"/>
            <a:ext cx="1728787" cy="15128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NZ"/>
              <a:t>Customers</a:t>
            </a:r>
          </a:p>
          <a:p>
            <a:pPr algn="ctr">
              <a:defRPr/>
            </a:pPr>
            <a:r>
              <a:rPr lang="en-AU"/>
              <a:t>- Accounts Receivable</a:t>
            </a:r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D766D6-6982-1AE2-D9C5-43B05968BB78}"/>
              </a:ext>
            </a:extLst>
          </p:cNvPr>
          <p:cNvSpPr/>
          <p:nvPr/>
        </p:nvSpPr>
        <p:spPr>
          <a:xfrm>
            <a:off x="6369937" y="3302000"/>
            <a:ext cx="1728788" cy="15113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NZ"/>
              <a:t>Suppliers</a:t>
            </a:r>
          </a:p>
          <a:p>
            <a:pPr algn="ctr">
              <a:defRPr/>
            </a:pPr>
            <a:r>
              <a:rPr lang="en-AU"/>
              <a:t>- Accounts Payable</a:t>
            </a:r>
            <a:endParaRPr lang="en-NZ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B9BB70-FAC9-BA1C-A73C-35952A6C245A}"/>
              </a:ext>
            </a:extLst>
          </p:cNvPr>
          <p:cNvCxnSpPr>
            <a:stCxn id="5" idx="6"/>
            <a:endCxn id="8" idx="1"/>
          </p:cNvCxnSpPr>
          <p:nvPr/>
        </p:nvCxnSpPr>
        <p:spPr>
          <a:xfrm>
            <a:off x="5226937" y="2960688"/>
            <a:ext cx="1395413" cy="561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D87499-2D0F-B0A0-5836-DB3D15B1FC75}"/>
              </a:ext>
            </a:extLst>
          </p:cNvPr>
          <p:cNvCxnSpPr/>
          <p:nvPr/>
        </p:nvCxnSpPr>
        <p:spPr>
          <a:xfrm flipH="1">
            <a:off x="5112637" y="4616450"/>
            <a:ext cx="1503363" cy="431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5AC911-F876-A9BF-6E08-62E7451C250D}"/>
              </a:ext>
            </a:extLst>
          </p:cNvPr>
          <p:cNvCxnSpPr/>
          <p:nvPr/>
        </p:nvCxnSpPr>
        <p:spPr>
          <a:xfrm flipV="1">
            <a:off x="2145600" y="3008313"/>
            <a:ext cx="1376362" cy="4683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C306-3E1A-3B21-B28D-BE0E9EEE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503237"/>
            <a:ext cx="8229600" cy="884238"/>
          </a:xfrm>
        </p:spPr>
        <p:txBody>
          <a:bodyPr/>
          <a:lstStyle/>
          <a:p>
            <a:r>
              <a:rPr lang="en-US" sz="2800" cap="none"/>
              <a:t>Why working capital management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E1942-8F0A-B596-BEED-F3E3110AE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700809"/>
            <a:ext cx="8001000" cy="3240360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Businesses must balance:</a:t>
            </a:r>
          </a:p>
          <a:p>
            <a:r>
              <a:rPr lang="en-US" sz="2400" b="1"/>
              <a:t>Having enough working capital</a:t>
            </a:r>
            <a:r>
              <a:rPr lang="en-US" sz="2400"/>
              <a:t> to operate smoothly and handle unexpected needs.</a:t>
            </a:r>
          </a:p>
          <a:p>
            <a:r>
              <a:rPr lang="en-US" sz="2400" b="1"/>
              <a:t>Avoiding excess cash, inventory, or unused credit</a:t>
            </a:r>
            <a:r>
              <a:rPr lang="en-US" sz="2400"/>
              <a:t>, which reduces profitability.</a:t>
            </a:r>
          </a:p>
          <a:p>
            <a:r>
              <a:rPr lang="en-US" sz="2400"/>
              <a:t>Managers use internal controls to ensure assets are safeguarded and operations run efficiently.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40565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64F2-F367-092F-267B-006FE19C0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228725"/>
          </a:xfrm>
        </p:spPr>
        <p:txBody>
          <a:bodyPr/>
          <a:lstStyle/>
          <a:p>
            <a:pPr>
              <a:defRPr/>
            </a:pPr>
            <a:r>
              <a:rPr lang="en-NZ" sz="3200"/>
              <a:t>WORKING CAPITAL</a:t>
            </a:r>
            <a:br>
              <a:rPr lang="en-NZ"/>
            </a:br>
            <a:r>
              <a:rPr lang="en-NZ" sz="2400"/>
              <a:t>= Current Assets – Current Liabilities</a:t>
            </a:r>
            <a:br>
              <a:rPr lang="en-NZ" sz="2400"/>
            </a:br>
            <a:r>
              <a:rPr lang="en-NZ" sz="1800" i="1"/>
              <a:t>CONSIDER THE FOLLOWING EXTRACTS FROM Two BALANCE SHEETS</a:t>
            </a:r>
          </a:p>
        </p:txBody>
      </p:sp>
      <p:pic>
        <p:nvPicPr>
          <p:cNvPr id="21507" name="Picture 4">
            <a:extLst>
              <a:ext uri="{FF2B5EF4-FFF2-40B4-BE49-F238E27FC236}">
                <a16:creationId xmlns:a16="http://schemas.microsoft.com/office/drawing/2014/main" id="{86AF7A90-16AC-6FA7-2BBC-9285C51C6E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8988" y="1916113"/>
            <a:ext cx="5102225" cy="37449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E8E32-E051-9A73-010B-3F844F217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7388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AU" sz="2800"/>
              <a:t>Ratios</a:t>
            </a:r>
            <a:endParaRPr lang="en-NZ" sz="280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C9A05607-27BF-188F-FBA8-CEE3A70B9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1625"/>
            <a:ext cx="8001000" cy="3153519"/>
          </a:xfrm>
        </p:spPr>
        <p:txBody>
          <a:bodyPr/>
          <a:lstStyle/>
          <a:p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Ratio analysis is where an item on the business’s financial statements is divided by another related item</a:t>
            </a:r>
          </a:p>
          <a:p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Ratios are used to compare a business’s financial position with previous periods and with other businesses</a:t>
            </a:r>
          </a:p>
          <a:p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Ratios are used in Financial Statement Evaluation (</a:t>
            </a:r>
            <a:r>
              <a:rPr lang="en-AU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7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NZ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8646-AC23-52D8-4BB1-0482A44C6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7388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NZ" sz="2800" cap="none" dirty="0"/>
              <a:t>CURRENT RATIO</a:t>
            </a:r>
            <a:br>
              <a:rPr lang="en-NZ" dirty="0"/>
            </a:br>
            <a:endParaRPr lang="en-NZ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0A8C6F09-C886-4889-A174-A8BEACFD0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376" y="1280318"/>
            <a:ext cx="8001000" cy="4297363"/>
          </a:xfrm>
        </p:spPr>
        <p:txBody>
          <a:bodyPr/>
          <a:lstStyle/>
          <a:p>
            <a:r>
              <a:rPr lang="en-NZ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 Current Assets/ Current Liabilities</a:t>
            </a:r>
          </a:p>
          <a:p>
            <a:r>
              <a:rPr lang="en-NZ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Current Ratio A:150,000/50,000 = 3</a:t>
            </a:r>
          </a:p>
          <a:p>
            <a:r>
              <a:rPr lang="en-NZ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Current Ratio B: 60,000/50,000 = 1.2</a:t>
            </a:r>
          </a:p>
          <a:p>
            <a:pPr marL="0" indent="0">
              <a:buNone/>
            </a:pPr>
            <a:endParaRPr lang="en-NZ" alt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NZ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Shows the ability of the firm to meet obligations in the ordinary course of business</a:t>
            </a:r>
          </a:p>
          <a:p>
            <a:r>
              <a:rPr lang="en-NZ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For every $1 which needs to be paid, Company A has $3 of current assets. Company B has only $1.20</a:t>
            </a:r>
          </a:p>
          <a:p>
            <a:endParaRPr lang="en-NZ" alt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NZ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8D1C-0777-908B-D9A0-FF0349B5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884238"/>
          </a:xfrm>
        </p:spPr>
        <p:txBody>
          <a:bodyPr/>
          <a:lstStyle/>
          <a:p>
            <a:pPr>
              <a:defRPr/>
            </a:pPr>
            <a:r>
              <a:rPr lang="en-NZ" sz="2800" dirty="0"/>
              <a:t>QUICK RATIO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6C707638-2645-EC5C-47EB-F1F36F9CE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484313"/>
            <a:ext cx="8001000" cy="4297362"/>
          </a:xfrm>
        </p:spPr>
        <p:txBody>
          <a:bodyPr/>
          <a:lstStyle/>
          <a:p>
            <a:r>
              <a:rPr lang="en-NZ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=Quick assets/Current liabilities</a:t>
            </a:r>
          </a:p>
          <a:p>
            <a:r>
              <a:rPr lang="en-NZ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Where Quick = Cash, short term securities and notes and accounts receivable</a:t>
            </a:r>
          </a:p>
          <a:p>
            <a:r>
              <a:rPr lang="en-NZ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Quick Ratio Company A: </a:t>
            </a:r>
          </a:p>
          <a:p>
            <a:pPr lvl="1"/>
            <a:r>
              <a:rPr lang="en-NZ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(60,000+40,000)/50,000 = 2</a:t>
            </a:r>
          </a:p>
          <a:p>
            <a:r>
              <a:rPr lang="en-NZ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Quick Ratio Company B:</a:t>
            </a:r>
          </a:p>
          <a:p>
            <a:pPr lvl="1"/>
            <a:r>
              <a:rPr lang="en-NZ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(20,000+10,000)/50,000 = 0.60</a:t>
            </a:r>
          </a:p>
          <a:p>
            <a:r>
              <a:rPr lang="en-NZ" alt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Show the ability of the firm to meet obligations if put under pressure to do so.</a:t>
            </a:r>
          </a:p>
          <a:p>
            <a:r>
              <a:rPr lang="en-NZ" alt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For every $1 dollar owed, company A has $2 of quick assets. Company B has only 60 cents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3A55-9E68-FB4D-33AD-AEADAB2E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4802E-F0EA-5392-B172-F9AF6334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84238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6.2 Cash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B372CF13-4AD9-2B88-C500-FFB36267C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692150"/>
            <a:ext cx="8507413" cy="5400675"/>
          </a:xfrm>
        </p:spPr>
        <p:txBody>
          <a:bodyPr/>
          <a:lstStyle/>
          <a:p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Cash is anything that a bank will accept as a deposit.</a:t>
            </a:r>
          </a:p>
          <a:p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Simple cash controls: controls over </a:t>
            </a:r>
            <a:r>
              <a:rPr lang="en-AU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cash receipts </a:t>
            </a:r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AU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cash payments.</a:t>
            </a:r>
          </a:p>
          <a:p>
            <a:pPr marL="0" indent="0">
              <a:buNone/>
            </a:pPr>
            <a:r>
              <a:rPr lang="en-US" sz="2400" b="1"/>
              <a:t>Controls Over Cash (Ref. </a:t>
            </a:r>
            <a:r>
              <a:rPr lang="en-AU" altLang="en-US" sz="24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Exhibit 6.3 for details</a:t>
            </a:r>
            <a:r>
              <a:rPr lang="en-US" sz="2400" b="1"/>
              <a:t>)</a:t>
            </a:r>
          </a:p>
          <a:p>
            <a:r>
              <a:rPr lang="en-US" sz="2200"/>
              <a:t>Segregation of duties</a:t>
            </a:r>
          </a:p>
          <a:p>
            <a:r>
              <a:rPr lang="en-US" sz="2200"/>
              <a:t>Daily banking of receipts</a:t>
            </a:r>
          </a:p>
          <a:p>
            <a:r>
              <a:rPr lang="en-US" sz="2200"/>
              <a:t>Authorization of payments</a:t>
            </a:r>
          </a:p>
          <a:p>
            <a:r>
              <a:rPr lang="en-US" sz="2200"/>
              <a:t>Use of pre‑numbered documents</a:t>
            </a:r>
          </a:p>
          <a:p>
            <a:pPr marL="0" indent="0">
              <a:buNone/>
            </a:pPr>
            <a:r>
              <a:rPr lang="en-US" sz="2400" b="1"/>
              <a:t>Bank Reconciliation</a:t>
            </a:r>
            <a:r>
              <a:rPr lang="en-US" sz="1400" b="1">
                <a:solidFill>
                  <a:srgbClr val="FF0000"/>
                </a:solidFill>
              </a:rPr>
              <a:t> (</a:t>
            </a:r>
            <a:r>
              <a:rPr lang="en-AU" altLang="en-US" sz="14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 of a bank reconciliation is not part of this course</a:t>
            </a:r>
            <a:r>
              <a:rPr lang="en-US" sz="1400" b="1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200"/>
              <a:t>Compares the business’s cash records with the bank statement to identify timing differences and errors.</a:t>
            </a:r>
          </a:p>
          <a:p>
            <a:pPr marL="0" indent="0">
              <a:buNone/>
            </a:pPr>
            <a:r>
              <a:rPr lang="en-US" sz="2400" b="1"/>
              <a:t>Petty Cash</a:t>
            </a:r>
          </a:p>
          <a:p>
            <a:pPr marL="0" indent="0">
              <a:buNone/>
            </a:pPr>
            <a:r>
              <a:rPr lang="en-US" sz="2200"/>
              <a:t>A small fund for minor payments when using the bank account is impractical.</a:t>
            </a:r>
          </a:p>
          <a:p>
            <a:pPr marL="0" indent="0">
              <a:buNone/>
            </a:pPr>
            <a:endParaRPr lang="en-US" sz="2200"/>
          </a:p>
          <a:p>
            <a:endParaRPr lang="en-AU" altLang="en-US" sz="2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266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9BEC1-B735-747D-A957-2EFF8DC0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60325"/>
            <a:ext cx="8229600" cy="560388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6.3 Accounts receivable 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3D06D3D0-9F1D-93A9-D593-4FF6A935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620713"/>
            <a:ext cx="8153400" cy="54229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AU" altLang="en-US" sz="2200" b="1" dirty="0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 receivable </a:t>
            </a:r>
            <a:r>
              <a:rPr lang="en-AU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are the amounts owed </a:t>
            </a:r>
            <a:r>
              <a:rPr lang="en-AU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AU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 business by customers from previous credit sales.</a:t>
            </a:r>
            <a:endParaRPr lang="en-AU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AU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AU" alt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 decision to extend credit to an individual: </a:t>
            </a:r>
          </a:p>
          <a:p>
            <a:pPr marL="0" indent="0">
              <a:buNone/>
            </a:pPr>
            <a:r>
              <a:rPr lang="en-US" sz="1800" b="1" dirty="0"/>
              <a:t>Credit Approval - </a:t>
            </a:r>
            <a:r>
              <a:rPr lang="en-US" sz="1800" dirty="0"/>
              <a:t>Applications typically include:</a:t>
            </a:r>
          </a:p>
          <a:p>
            <a:r>
              <a:rPr lang="en-US" sz="1800" dirty="0"/>
              <a:t>Employment and income details</a:t>
            </a:r>
          </a:p>
          <a:p>
            <a:r>
              <a:rPr lang="en-US" sz="1800" dirty="0"/>
              <a:t>Bank information</a:t>
            </a:r>
          </a:p>
          <a:p>
            <a:r>
              <a:rPr lang="en-US" sz="1800" dirty="0"/>
              <a:t>Assets and debts</a:t>
            </a:r>
          </a:p>
          <a:p>
            <a:r>
              <a:rPr lang="en-US" sz="1800" dirty="0"/>
              <a:t>Credit history</a:t>
            </a:r>
          </a:p>
          <a:p>
            <a:r>
              <a:rPr lang="en-US" sz="1800" dirty="0"/>
              <a:t>For companies: director details and financial statements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2200" b="1" dirty="0"/>
              <a:t>Controls Over Accounts Receivable</a:t>
            </a:r>
          </a:p>
          <a:p>
            <a:r>
              <a:rPr lang="en-US" sz="1800" dirty="0"/>
              <a:t>Grant credit only to approved customers</a:t>
            </a:r>
          </a:p>
          <a:p>
            <a:r>
              <a:rPr lang="en-US" sz="1800" dirty="0"/>
              <a:t>Monitor customer balances</a:t>
            </a:r>
          </a:p>
          <a:p>
            <a:r>
              <a:rPr lang="en-US" sz="1800" dirty="0"/>
              <a:t>Use clear credit terms (e.g., </a:t>
            </a:r>
            <a:r>
              <a:rPr lang="en-US" sz="1800" b="1" dirty="0"/>
              <a:t>2/10, net 30</a:t>
            </a:r>
            <a:r>
              <a:rPr lang="en-US" sz="1800" dirty="0"/>
              <a:t>)</a:t>
            </a:r>
          </a:p>
          <a:p>
            <a:r>
              <a:rPr lang="en-US" sz="1800" dirty="0"/>
              <a:t>Monitor total receivables regularly</a:t>
            </a:r>
          </a:p>
          <a:p>
            <a:pPr marL="0" indent="0">
              <a:buNone/>
              <a:defRPr/>
            </a:pPr>
            <a:endParaRPr lang="en-AU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C8D8-CF50-B3E0-7A72-60FB39CF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15888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6.3 Accounts receivable – Reporting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Content Placeholder 2">
                <a:extLst>
                  <a:ext uri="{FF2B5EF4-FFF2-40B4-BE49-F238E27FC236}">
                    <a16:creationId xmlns:a16="http://schemas.microsoft.com/office/drawing/2014/main" id="{495AFE09-5841-52D6-FF3C-7AE9916B2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9" y="1239838"/>
                <a:ext cx="8640959" cy="4781450"/>
              </a:xfrm>
            </p:spPr>
            <p:txBody>
              <a:bodyPr/>
              <a:lstStyle/>
              <a:p>
                <a:r>
                  <a:rPr lang="en-US" sz="2200" dirty="0"/>
                  <a:t>Accounts receivable are reported at </a:t>
                </a:r>
                <a:r>
                  <a:rPr lang="en-US" sz="2200" b="1" dirty="0"/>
                  <a:t>net </a:t>
                </a:r>
                <a:r>
                  <a:rPr lang="en-US" sz="2200" b="1" dirty="0" err="1"/>
                  <a:t>realisable</a:t>
                </a:r>
                <a:r>
                  <a:rPr lang="en-US" sz="2200" b="1" dirty="0"/>
                  <a:t> value (NRV)</a:t>
                </a:r>
                <a:r>
                  <a:rPr lang="en-US" sz="2200" dirty="0"/>
                  <a:t>. </a:t>
                </a:r>
              </a:p>
              <a:p>
                <a:r>
                  <a:rPr lang="en-US" sz="2200" dirty="0"/>
                  <a:t>NRV represents the amount the firm expects to collect in cash.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0"/>
                        <m:t>Net</m:t>
                      </m:r>
                      <m:r>
                        <m:rPr>
                          <m:nor/>
                        </m:rPr>
                        <a:rPr lang="en-US" sz="2200" b="0" i="1"/>
                        <m:t> </m:t>
                      </m:r>
                      <m:r>
                        <m:rPr>
                          <m:nor/>
                        </m:rPr>
                        <a:rPr lang="en-US" sz="2200" b="0" i="1"/>
                        <m:t>Realisable</m:t>
                      </m:r>
                      <m:r>
                        <m:rPr>
                          <m:nor/>
                        </m:rPr>
                        <a:rPr lang="en-US" sz="2200" b="0" i="1"/>
                        <m:t> </m:t>
                      </m:r>
                      <m:r>
                        <m:rPr>
                          <m:nor/>
                        </m:rPr>
                        <a:rPr lang="en-US" sz="2200" b="0" i="1"/>
                        <m:t>Value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200" i="1"/>
                        <m:t>Accounts</m:t>
                      </m:r>
                      <m:r>
                        <m:rPr>
                          <m:nor/>
                        </m:rPr>
                        <a:rPr lang="en-US" sz="2200" i="1"/>
                        <m:t> </m:t>
                      </m:r>
                      <m:r>
                        <m:rPr>
                          <m:nor/>
                        </m:rPr>
                        <a:rPr lang="en-US" sz="2200" i="1"/>
                        <m:t>Receivable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200" i="1"/>
                        <m:t>Allowance</m:t>
                      </m:r>
                      <m:r>
                        <m:rPr>
                          <m:nor/>
                        </m:rPr>
                        <a:rPr lang="en-US" sz="2200" i="1"/>
                        <m:t> </m:t>
                      </m:r>
                      <m:r>
                        <m:rPr>
                          <m:nor/>
                        </m:rPr>
                        <a:rPr lang="en-US" sz="2200" i="1"/>
                        <m:t>for</m:t>
                      </m:r>
                      <m:r>
                        <m:rPr>
                          <m:nor/>
                        </m:rPr>
                        <a:rPr lang="en-US" sz="2200" i="1"/>
                        <m:t> </m:t>
                      </m:r>
                      <m:r>
                        <m:rPr>
                          <m:nor/>
                        </m:rPr>
                        <a:rPr lang="en-US" sz="2200" i="1"/>
                        <m:t>Doubtful</m:t>
                      </m:r>
                      <m:r>
                        <m:rPr>
                          <m:nor/>
                        </m:rPr>
                        <a:rPr lang="en-US" sz="2200" i="1"/>
                        <m:t> </m:t>
                      </m:r>
                      <m:r>
                        <m:rPr>
                          <m:nor/>
                        </m:rPr>
                        <a:rPr lang="en-US" sz="2200" i="1"/>
                        <m:t>Debts</m:t>
                      </m:r>
                    </m:oMath>
                  </m:oMathPara>
                </a14:m>
                <a:endParaRPr lang="en-US" sz="2200" b="0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2200" b="1" dirty="0"/>
                  <a:t>Example:</a:t>
                </a:r>
                <a:br>
                  <a:rPr lang="en-US" sz="2200" dirty="0"/>
                </a:br>
                <a:r>
                  <a:rPr lang="en-US" sz="2200" dirty="0"/>
                  <a:t>	Accounts Receivable = $563,000</a:t>
                </a:r>
                <a:br>
                  <a:rPr lang="en-US" sz="2200" dirty="0"/>
                </a:br>
                <a:r>
                  <a:rPr lang="en-US" sz="2200" dirty="0"/>
                  <a:t>	Less: Allowance for Doubtful Debts = $22,000</a:t>
                </a:r>
                <a:br>
                  <a:rPr lang="en-US" sz="2200" dirty="0"/>
                </a:br>
                <a:r>
                  <a:rPr lang="en-US" sz="2200" dirty="0"/>
                  <a:t>	</a:t>
                </a:r>
                <a:r>
                  <a:rPr lang="en-US" sz="2200" b="1" dirty="0"/>
                  <a:t>Net </a:t>
                </a:r>
                <a:r>
                  <a:rPr lang="en-US" sz="2200" b="1" dirty="0" err="1"/>
                  <a:t>Realisable</a:t>
                </a:r>
                <a:r>
                  <a:rPr lang="en-US" sz="2200" b="1" dirty="0"/>
                  <a:t> Value = $541,000 </a:t>
                </a:r>
                <a:r>
                  <a:rPr lang="en-AU" altLang="en-US" sz="1800" dirty="0"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(net realisable value of accounts 	receivable according to GAAP).</a:t>
                </a:r>
                <a:endParaRPr lang="en-US" sz="18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2200" b="1" dirty="0"/>
                  <a:t>Interpretation</a:t>
                </a:r>
                <a:r>
                  <a:rPr lang="en-US" sz="2400" b="1" dirty="0"/>
                  <a:t>: </a:t>
                </a:r>
                <a:r>
                  <a:rPr lang="en-US" sz="2000" i="1" dirty="0"/>
                  <a:t>This means the firm does not expect to collect the full $563,000. Instead, it estimates that $22,000 may be uncollectible, so only $541,000 is likely to be received.</a:t>
                </a:r>
                <a:endParaRPr lang="en-US" sz="2400" dirty="0"/>
              </a:p>
            </p:txBody>
          </p:sp>
        </mc:Choice>
        <mc:Fallback xmlns="">
          <p:sp>
            <p:nvSpPr>
              <p:cNvPr id="36867" name="Content Placeholder 2">
                <a:extLst>
                  <a:ext uri="{FF2B5EF4-FFF2-40B4-BE49-F238E27FC236}">
                    <a16:creationId xmlns:a16="http://schemas.microsoft.com/office/drawing/2014/main" id="{495AFE09-5841-52D6-FF3C-7AE9916B2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9" y="1239838"/>
                <a:ext cx="8640959" cy="4781450"/>
              </a:xfrm>
              <a:blipFill>
                <a:blip r:embed="rId2"/>
                <a:stretch>
                  <a:fillRect l="-917" t="-637" r="-494" b="-2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F0D9-CC2C-7F8F-30C7-1402F794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9713"/>
            <a:ext cx="8229600" cy="885825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6.4 Inventory 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8C7D4066-ADA3-3388-2635-946AACD7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8" y="1220788"/>
            <a:ext cx="8772400" cy="4729162"/>
          </a:xfrm>
        </p:spPr>
        <p:txBody>
          <a:bodyPr/>
          <a:lstStyle/>
          <a:p>
            <a:r>
              <a:rPr lang="en-AU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Inventory is the merchandise being held for resale.</a:t>
            </a:r>
          </a:p>
          <a:p>
            <a:r>
              <a:rPr lang="en-AU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Simple inventory controls</a:t>
            </a:r>
          </a:p>
          <a:p>
            <a:pPr marL="665163" lvl="1" indent="-265113">
              <a:spcBef>
                <a:spcPct val="0"/>
              </a:spcBef>
              <a:spcAft>
                <a:spcPts val="0"/>
              </a:spcAft>
            </a:pPr>
            <a:r>
              <a:rPr lang="en-AU" altLang="en-US" sz="2200" dirty="0">
                <a:latin typeface="Arial Narrow" panose="020B0606020202030204" pitchFamily="34" charset="0"/>
                <a:cs typeface="Arial" panose="020B0604020202020204" pitchFamily="34" charset="0"/>
              </a:rPr>
              <a:t>controlling the ordering and acceptance of inventory deliveries</a:t>
            </a:r>
          </a:p>
          <a:p>
            <a:pPr marL="665163" lvl="1" indent="-265113">
              <a:spcBef>
                <a:spcPct val="0"/>
              </a:spcBef>
              <a:spcAft>
                <a:spcPts val="0"/>
              </a:spcAft>
            </a:pPr>
            <a:r>
              <a:rPr lang="en-AU" altLang="en-US" sz="2200" dirty="0">
                <a:latin typeface="Arial Narrow" panose="020B0606020202030204" pitchFamily="34" charset="0"/>
                <a:cs typeface="Arial" panose="020B0604020202020204" pitchFamily="34" charset="0"/>
              </a:rPr>
              <a:t>establishing physical controls over inventory while the inventory is being held for sale</a:t>
            </a:r>
          </a:p>
          <a:p>
            <a:pPr marL="665163" lvl="1" indent="-265113">
              <a:spcBef>
                <a:spcPct val="0"/>
              </a:spcBef>
              <a:spcAft>
                <a:spcPts val="0"/>
              </a:spcAft>
            </a:pPr>
            <a:r>
              <a:rPr lang="en-AU" altLang="en-US" sz="2200" dirty="0">
                <a:latin typeface="Arial Narrow" panose="020B0606020202030204" pitchFamily="34" charset="0"/>
                <a:cs typeface="Arial" panose="020B0604020202020204" pitchFamily="34" charset="0"/>
              </a:rPr>
              <a:t>periodically taking a physical count of its inventory to ensure accurate inventory records.</a:t>
            </a:r>
          </a:p>
          <a:p>
            <a:pPr marL="400050" lvl="1" indent="0">
              <a:spcBef>
                <a:spcPct val="0"/>
              </a:spcBef>
              <a:spcAft>
                <a:spcPts val="0"/>
              </a:spcAft>
              <a:buNone/>
            </a:pPr>
            <a:endParaRPr lang="en-AU" altLang="en-US" sz="20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latin typeface="Arial Narrow" panose="020B0606020202030204" pitchFamily="34" charset="0"/>
              </a:rPr>
              <a:t>Cost of Inventory</a:t>
            </a:r>
          </a:p>
          <a:p>
            <a:pPr marL="0" indent="0">
              <a:buNone/>
            </a:pPr>
            <a:r>
              <a:rPr lang="en-US" sz="2200" dirty="0">
                <a:latin typeface="Arial Narrow" panose="020B0606020202030204" pitchFamily="34" charset="0"/>
              </a:rPr>
              <a:t>      Businesses must determine:</a:t>
            </a:r>
          </a:p>
          <a:p>
            <a:pPr marL="0" indent="0">
              <a:buNone/>
            </a:pPr>
            <a:r>
              <a:rPr lang="en-US" sz="2200" dirty="0">
                <a:latin typeface="Arial Narrow" panose="020B0606020202030204" pitchFamily="34" charset="0"/>
              </a:rPr>
              <a:t>	- Cost of goods available for sale</a:t>
            </a:r>
          </a:p>
          <a:p>
            <a:pPr marL="0" indent="0">
              <a:buNone/>
            </a:pPr>
            <a:r>
              <a:rPr lang="en-US" sz="2200" dirty="0">
                <a:latin typeface="Arial Narrow" panose="020B0606020202030204" pitchFamily="34" charset="0"/>
              </a:rPr>
              <a:t>	- Cost of goods sold</a:t>
            </a:r>
          </a:p>
          <a:p>
            <a:pPr marL="0" indent="0">
              <a:buNone/>
            </a:pPr>
            <a:r>
              <a:rPr lang="en-US" sz="2200" dirty="0">
                <a:latin typeface="Arial Narrow" panose="020B0606020202030204" pitchFamily="34" charset="0"/>
              </a:rPr>
              <a:t>	- Ending inventory</a:t>
            </a:r>
          </a:p>
          <a:p>
            <a:pPr marL="400050" lvl="1" indent="0">
              <a:spcBef>
                <a:spcPct val="0"/>
              </a:spcBef>
              <a:spcAft>
                <a:spcPts val="0"/>
              </a:spcAft>
              <a:buNone/>
            </a:pPr>
            <a:endParaRPr lang="en-AU" altLang="en-US" sz="22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endParaRPr lang="en-AU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151C-200A-D1C6-A01F-5B3EB742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648072"/>
          </a:xfrm>
        </p:spPr>
        <p:txBody>
          <a:bodyPr/>
          <a:lstStyle/>
          <a:p>
            <a:r>
              <a:rPr lang="en-US" sz="2800" cap="none"/>
              <a:t>Inventory: Cost flow methods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233D19-BFC7-F2D7-E9B0-AA5DBB452A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4380" y="1198610"/>
            <a:ext cx="8502116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FIFO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(first‑in, first‑out)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LIFO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(last‑in, first‑out)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Weighted average</a:t>
            </a:r>
          </a:p>
          <a:p>
            <a:pPr marL="0" indent="0" defTabSz="914400">
              <a:spcBef>
                <a:spcPct val="0"/>
              </a:spcBef>
              <a:buFontTx/>
              <a:buChar char="•"/>
            </a:pPr>
            <a:r>
              <a:rPr lang="en-US" altLang="en-US" sz="2000" b="1">
                <a:latin typeface="Arial" panose="020B0604020202020204" pitchFamily="34" charset="0"/>
              </a:rPr>
              <a:t>Specific identification</a:t>
            </a: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/>
              <a:t>FIFO: </a:t>
            </a:r>
            <a:r>
              <a:rPr lang="en-US" sz="1600"/>
              <a:t>You sell the </a:t>
            </a:r>
            <a:r>
              <a:rPr lang="en-US" sz="1600" b="1"/>
              <a:t>oldest</a:t>
            </a:r>
            <a:r>
              <a:rPr lang="en-US" sz="1600"/>
              <a:t> item first.</a:t>
            </a:r>
          </a:p>
          <a:p>
            <a:r>
              <a:rPr lang="en-US" sz="1600"/>
              <a:t>Cheapest cost goes to COGS → </a:t>
            </a:r>
            <a:r>
              <a:rPr lang="en-US" sz="1600" b="1"/>
              <a:t>higher profit</a:t>
            </a:r>
            <a:endParaRPr lang="en-US" sz="1600"/>
          </a:p>
          <a:p>
            <a:r>
              <a:rPr lang="en-US" sz="1600"/>
              <a:t>Newer, more expensive items remain in inventory.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 b="1"/>
              <a:t>LIFO: </a:t>
            </a:r>
            <a:r>
              <a:rPr lang="en-US" sz="1600"/>
              <a:t>You sell the </a:t>
            </a:r>
            <a:r>
              <a:rPr lang="en-US" sz="1600" b="1"/>
              <a:t>newest</a:t>
            </a:r>
            <a:r>
              <a:rPr lang="en-US" sz="1600"/>
              <a:t> item first.</a:t>
            </a:r>
          </a:p>
          <a:p>
            <a:r>
              <a:rPr lang="en-US" sz="1600"/>
              <a:t>Highest cost goes to COGS → </a:t>
            </a:r>
            <a:r>
              <a:rPr lang="en-US" sz="1600" b="1"/>
              <a:t>lower profit</a:t>
            </a:r>
            <a:endParaRPr lang="en-US" sz="1600"/>
          </a:p>
          <a:p>
            <a:r>
              <a:rPr lang="en-US" sz="1600"/>
              <a:t>Older, cheaper items remain in inventory.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 b="1"/>
              <a:t>Average Cost: </a:t>
            </a:r>
            <a:r>
              <a:rPr lang="en-US" sz="1600"/>
              <a:t>You take the </a:t>
            </a:r>
            <a:r>
              <a:rPr lang="en-US" sz="1600" b="1"/>
              <a:t>average cost per unit</a:t>
            </a:r>
            <a:r>
              <a:rPr lang="en-US" sz="1600"/>
              <a:t> and apply it to both COGS and ending inventory.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 b="1"/>
              <a:t>Specific Identification: </a:t>
            </a:r>
            <a:r>
              <a:rPr lang="en-US" sz="1600"/>
              <a:t>You know </a:t>
            </a:r>
            <a:r>
              <a:rPr lang="en-US" sz="1600" b="1"/>
              <a:t>exactly which item</a:t>
            </a:r>
            <a:r>
              <a:rPr lang="en-US" sz="1600"/>
              <a:t> was sold (e.g., serial numbers). COGS depends on the actual item sold.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026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11FA-3A9F-57C6-0901-D225B3D2C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56" y="260648"/>
            <a:ext cx="8229600" cy="509378"/>
          </a:xfrm>
        </p:spPr>
        <p:txBody>
          <a:bodyPr/>
          <a:lstStyle/>
          <a:p>
            <a:r>
              <a:rPr lang="en-US" sz="2800" cap="none"/>
              <a:t>Inventory Valuation Methods</a:t>
            </a:r>
            <a:endParaRPr lang="en-US" sz="28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BF5A8A-9640-79D7-2564-00F9936F2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059734"/>
              </p:ext>
            </p:extLst>
          </p:nvPr>
        </p:nvGraphicFramePr>
        <p:xfrm>
          <a:off x="755576" y="1340768"/>
          <a:ext cx="5546577" cy="1299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859">
                  <a:extLst>
                    <a:ext uri="{9D8B030D-6E8A-4147-A177-3AD203B41FA5}">
                      <a16:colId xmlns:a16="http://schemas.microsoft.com/office/drawing/2014/main" val="1313131058"/>
                    </a:ext>
                  </a:extLst>
                </a:gridCol>
                <a:gridCol w="1848859">
                  <a:extLst>
                    <a:ext uri="{9D8B030D-6E8A-4147-A177-3AD203B41FA5}">
                      <a16:colId xmlns:a16="http://schemas.microsoft.com/office/drawing/2014/main" val="1371617453"/>
                    </a:ext>
                  </a:extLst>
                </a:gridCol>
                <a:gridCol w="1848859">
                  <a:extLst>
                    <a:ext uri="{9D8B030D-6E8A-4147-A177-3AD203B41FA5}">
                      <a16:colId xmlns:a16="http://schemas.microsoft.com/office/drawing/2014/main" val="826156732"/>
                    </a:ext>
                  </a:extLst>
                </a:gridCol>
              </a:tblGrid>
              <a:tr h="2599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Cost per Unit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1457646"/>
                  </a:ext>
                </a:extLst>
              </a:tr>
              <a:tr h="2599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$9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5992557"/>
                  </a:ext>
                </a:extLst>
              </a:tr>
              <a:tr h="2599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$13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3302247"/>
                  </a:ext>
                </a:extLst>
              </a:tr>
              <a:tr h="2599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$14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2012371"/>
                  </a:ext>
                </a:extLst>
              </a:tr>
              <a:tr h="2599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units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$36 total cost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31041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A77C0A-B312-1D6A-20AC-2CB1854AEA54}"/>
              </a:ext>
            </a:extLst>
          </p:cNvPr>
          <p:cNvSpPr txBox="1"/>
          <p:nvPr/>
        </p:nvSpPr>
        <p:spPr>
          <a:xfrm>
            <a:off x="683568" y="905012"/>
            <a:ext cx="7704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/>
              <a:t>A business purchases </a:t>
            </a:r>
            <a:r>
              <a:rPr lang="en-US" sz="2400" b="1"/>
              <a:t>three units</a:t>
            </a:r>
            <a:r>
              <a:rPr lang="en-US" sz="2400"/>
              <a:t> of inventory during May: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BDE54-CAAD-C21E-F88E-D0933FFDCAFD}"/>
              </a:ext>
            </a:extLst>
          </p:cNvPr>
          <p:cNvSpPr txBox="1"/>
          <p:nvPr/>
        </p:nvSpPr>
        <p:spPr>
          <a:xfrm>
            <a:off x="683568" y="2671752"/>
            <a:ext cx="79700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/>
              <a:t>The business sells </a:t>
            </a:r>
            <a:r>
              <a:rPr lang="en-US" sz="1800" b="1"/>
              <a:t>one unit</a:t>
            </a:r>
            <a:r>
              <a:rPr lang="en-US" sz="1800"/>
              <a:t> on </a:t>
            </a:r>
            <a:r>
              <a:rPr lang="en-US" sz="1800" b="1"/>
              <a:t>May 30</a:t>
            </a:r>
            <a:r>
              <a:rPr lang="en-US" sz="1800"/>
              <a:t> for </a:t>
            </a:r>
            <a:r>
              <a:rPr lang="en-US" sz="1800" b="1"/>
              <a:t>$20</a:t>
            </a:r>
            <a:r>
              <a:rPr lang="en-US" sz="1800"/>
              <a:t>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u="sng"/>
              <a:t>Using different inventory valuation methods, calculate the followings</a:t>
            </a:r>
            <a:r>
              <a:rPr lang="en-US" sz="1800"/>
              <a:t>:</a:t>
            </a:r>
          </a:p>
          <a:p>
            <a:pPr>
              <a:spcBef>
                <a:spcPts val="600"/>
              </a:spcBef>
            </a:pPr>
            <a:r>
              <a:rPr lang="en-US" sz="1800" b="1"/>
              <a:t>a. Cost of Goods Sold (COGS); b. Gross Profit; c. Ending Inventory</a:t>
            </a:r>
            <a:endParaRPr lang="en-US" sz="1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E208BC-46FD-3B68-5CD7-0A586591F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575" y="3918001"/>
            <a:ext cx="2286319" cy="17052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0421F9-FAA9-25F5-D4A4-528DCFBB2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120" y="3921035"/>
            <a:ext cx="2286319" cy="17433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B66110-AABA-8235-135C-5C1C19430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712" y="3927145"/>
            <a:ext cx="2410161" cy="173379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A5F1A78-B463-4D6B-ABB7-49EFBB4F7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224" y="3917236"/>
            <a:ext cx="2286319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5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27DA-5B03-C8F9-2B6A-5B78DF25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12502"/>
            <a:ext cx="8229600" cy="560387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6.5 Accounts payable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CAB4C1D0-302B-02D4-A6AC-CD21A9734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4"/>
            <a:ext cx="8001000" cy="2436366"/>
          </a:xfrm>
        </p:spPr>
        <p:txBody>
          <a:bodyPr/>
          <a:lstStyle/>
          <a:p>
            <a:pPr>
              <a:defRPr/>
            </a:pPr>
            <a:r>
              <a:rPr lang="en-AU" altLang="en-US" sz="2200" b="1" dirty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Accounts payable </a:t>
            </a:r>
            <a:r>
              <a:rPr lang="en-AU" altLang="en-US" sz="2200" dirty="0">
                <a:latin typeface="Arial Narrow" panose="020B0606020202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the amounts that a business owes to its suppliers for previous credit purchases of inventory and supplies.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AU" altLang="en-US" sz="1400" dirty="0">
              <a:latin typeface="Arial Narrow" panose="020B0606020202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AU" altLang="en-US" sz="2200" b="1" dirty="0">
                <a:latin typeface="Arial Narrow" panose="020B0606020202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Simple controls over accounts payable: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200" dirty="0">
                <a:latin typeface="Arial Narrow" pitchFamily="34" charset="0"/>
                <a:cs typeface="Arial" pitchFamily="34" charset="0"/>
              </a:rPr>
              <a:t>establishing control over who can obligate the business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200" dirty="0">
                <a:latin typeface="Arial Narrow" pitchFamily="34" charset="0"/>
                <a:cs typeface="Arial" pitchFamily="34" charset="0"/>
              </a:rPr>
              <a:t>establishing controls over payments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200" dirty="0">
                <a:latin typeface="Arial Narrow" pitchFamily="34" charset="0"/>
                <a:cs typeface="Arial" pitchFamily="34" charset="0"/>
              </a:rPr>
              <a:t>monitoring the total amount of accounts payable.</a:t>
            </a:r>
            <a:endParaRPr lang="en-AU" altLang="en-US" sz="2200" dirty="0">
              <a:latin typeface="Arial Narrow" panose="020B0606020202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endParaRPr lang="en-AU" altLang="en-US" sz="2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59B4-8147-2066-FD48-675BF75A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884238"/>
          </a:xfrm>
        </p:spPr>
        <p:txBody>
          <a:bodyPr/>
          <a:lstStyle/>
          <a:p>
            <a:r>
              <a:rPr lang="en-US" sz="2800" cap="none"/>
              <a:t>Accounts payable in action!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91A95-7D4D-B982-7847-C1B884919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52736"/>
            <a:ext cx="8640960" cy="429736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Café Revive purchases coffee beans and café supplies from its supplier, DFC, </a:t>
            </a:r>
            <a:r>
              <a:rPr lang="en-US" sz="1600" b="1" dirty="0"/>
              <a:t>on credit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b="1" dirty="0"/>
              <a:t>Transaction Details:</a:t>
            </a:r>
          </a:p>
          <a:p>
            <a:r>
              <a:rPr lang="en-US" sz="1600" b="1" dirty="0"/>
              <a:t>May 5:</a:t>
            </a:r>
            <a:r>
              <a:rPr lang="en-US" sz="1600" dirty="0"/>
              <a:t> CR purchases </a:t>
            </a:r>
            <a:r>
              <a:rPr lang="en-US" sz="1600" b="1" dirty="0"/>
              <a:t>$4,000</a:t>
            </a:r>
            <a:r>
              <a:rPr lang="en-US" sz="1600" dirty="0"/>
              <a:t> of coffee beans on credit. → Accounts Payable increases by </a:t>
            </a:r>
            <a:r>
              <a:rPr lang="en-US" sz="1600" b="1" dirty="0"/>
              <a:t>$4,000</a:t>
            </a:r>
            <a:endParaRPr lang="en-US" sz="1600" dirty="0"/>
          </a:p>
          <a:p>
            <a:r>
              <a:rPr lang="en-US" sz="1600" b="1" dirty="0"/>
              <a:t>May 12:</a:t>
            </a:r>
            <a:r>
              <a:rPr lang="en-US" sz="1600" dirty="0"/>
              <a:t> CR purchases </a:t>
            </a:r>
            <a:r>
              <a:rPr lang="en-US" sz="1600" b="1" dirty="0"/>
              <a:t>$2,500</a:t>
            </a:r>
            <a:r>
              <a:rPr lang="en-US" sz="1600" dirty="0"/>
              <a:t> of cups and packaging on credit. → Accounts Payable increases to </a:t>
            </a:r>
            <a:r>
              <a:rPr lang="en-US" sz="1600" b="1" dirty="0"/>
              <a:t>$6,500</a:t>
            </a:r>
            <a:endParaRPr lang="en-US" sz="1600" dirty="0"/>
          </a:p>
          <a:p>
            <a:r>
              <a:rPr lang="en-US" sz="1600" b="1" dirty="0"/>
              <a:t>May 20:</a:t>
            </a:r>
            <a:r>
              <a:rPr lang="en-US" sz="1600" dirty="0"/>
              <a:t> CR pays </a:t>
            </a:r>
            <a:r>
              <a:rPr lang="en-US" sz="1600" b="1" dirty="0"/>
              <a:t>$3,000</a:t>
            </a:r>
            <a:r>
              <a:rPr lang="en-US" sz="1600" dirty="0"/>
              <a:t> to DFC. → Accounts Payable decreases to </a:t>
            </a:r>
            <a:r>
              <a:rPr lang="en-US" sz="1600" b="1" dirty="0"/>
              <a:t>$3,500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F9441-4289-8C95-95DF-6D86C7660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140968"/>
            <a:ext cx="5887272" cy="2057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CCF962-225D-AEE5-F963-6E9B812B51E5}"/>
              </a:ext>
            </a:extLst>
          </p:cNvPr>
          <p:cNvSpPr txBox="1"/>
          <p:nvPr/>
        </p:nvSpPr>
        <p:spPr>
          <a:xfrm>
            <a:off x="69848" y="5229200"/>
            <a:ext cx="89666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Café Revive still owes $3,500 to its suppliers at the end of May. This amount appears on the balance sheet as a current liability. </a:t>
            </a:r>
            <a:r>
              <a:rPr lang="en-US" i="1" dirty="0"/>
              <a:t>Paying suppliers on time helps maintain good relationships and ensures continued supply.</a:t>
            </a:r>
          </a:p>
        </p:txBody>
      </p:sp>
    </p:spTree>
    <p:extLst>
      <p:ext uri="{BB962C8B-B14F-4D97-AF65-F5344CB8AC3E}">
        <p14:creationId xmlns:p14="http://schemas.microsoft.com/office/powerpoint/2010/main" val="4158922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9335-E1F0-87AA-EAEE-6F47754A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32656"/>
            <a:ext cx="8229600" cy="884238"/>
          </a:xfrm>
        </p:spPr>
        <p:txBody>
          <a:bodyPr/>
          <a:lstStyle/>
          <a:p>
            <a:r>
              <a:rPr lang="en-US" sz="2800" cap="none"/>
              <a:t>What is the cash conversion cycle (CCC)?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1283-156A-8A46-72C2-B9B55176B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280318"/>
            <a:ext cx="8229600" cy="4297363"/>
          </a:xfrm>
        </p:spPr>
        <p:txBody>
          <a:bodyPr/>
          <a:lstStyle/>
          <a:p>
            <a:pPr marL="0" indent="0">
              <a:buNone/>
            </a:pPr>
            <a:r>
              <a:rPr lang="en-US" sz="2200"/>
              <a:t>CCC measures how long it takes for a business to convert cash spent on operations </a:t>
            </a:r>
            <a:r>
              <a:rPr lang="en-US" sz="2200" b="1"/>
              <a:t>back into cash received</a:t>
            </a:r>
            <a:r>
              <a:rPr lang="en-US" sz="2200"/>
              <a:t>.</a:t>
            </a:r>
          </a:p>
          <a:p>
            <a:pPr marL="0" indent="0">
              <a:buNone/>
            </a:pPr>
            <a:r>
              <a:rPr lang="en-US" sz="2200"/>
              <a:t>A typical business:</a:t>
            </a:r>
          </a:p>
          <a:p>
            <a:r>
              <a:rPr lang="en-US" sz="2200"/>
              <a:t>Uses cash to </a:t>
            </a:r>
            <a:r>
              <a:rPr lang="en-US" sz="2200" b="1"/>
              <a:t>purchase inventory</a:t>
            </a:r>
            <a:endParaRPr lang="en-US" sz="2200"/>
          </a:p>
          <a:p>
            <a:r>
              <a:rPr lang="en-US" sz="2200"/>
              <a:t>Sells inventory (often on </a:t>
            </a:r>
            <a:r>
              <a:rPr lang="en-US" sz="2200" b="1"/>
              <a:t>credit</a:t>
            </a:r>
            <a:r>
              <a:rPr lang="en-US" sz="2200"/>
              <a:t>)</a:t>
            </a:r>
          </a:p>
          <a:p>
            <a:r>
              <a:rPr lang="en-US" sz="2200"/>
              <a:t>Waits for customers to </a:t>
            </a:r>
            <a:r>
              <a:rPr lang="en-US" sz="2200" b="1"/>
              <a:t>pay</a:t>
            </a:r>
          </a:p>
          <a:p>
            <a:pPr marL="0" indent="0">
              <a:buNone/>
            </a:pPr>
            <a:endParaRPr lang="es-ES" sz="2400" b="1"/>
          </a:p>
          <a:p>
            <a:pPr marL="0" indent="0">
              <a:buNone/>
            </a:pPr>
            <a:r>
              <a:rPr lang="es-ES" sz="2400" b="1"/>
              <a:t>Formula:</a:t>
            </a:r>
            <a:r>
              <a:rPr lang="es-ES" sz="2400"/>
              <a:t> </a:t>
            </a:r>
            <a:r>
              <a:rPr lang="es-ES" sz="2400" b="1"/>
              <a:t>CCC = DIO + DSO – DPO</a:t>
            </a:r>
          </a:p>
          <a:p>
            <a:pPr marL="0" indent="0" algn="ctr">
              <a:buNone/>
            </a:pPr>
            <a:r>
              <a:rPr lang="es-ES" sz="1800" b="1"/>
              <a:t>CCC = </a:t>
            </a:r>
            <a:r>
              <a:rPr lang="en-US" sz="1800"/>
              <a:t>Days Inventory Outstanding (DIO) + Days Sales Outstanding (DSO) - Days Payables Outstanding (DPO)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054364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4ECA-0266-858C-1FF2-0816E5A1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361"/>
            <a:ext cx="8229600" cy="884238"/>
          </a:xfrm>
        </p:spPr>
        <p:txBody>
          <a:bodyPr/>
          <a:lstStyle/>
          <a:p>
            <a:r>
              <a:rPr lang="en-US" sz="2800" cap="none"/>
              <a:t>Components of the CCC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3716E7-1897-1F2A-2976-B9EAEC2F28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435280" cy="47716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/>
                  <a:t>Days Inventory Outstanding (DIO): </a:t>
                </a:r>
                <a:r>
                  <a:rPr lang="en-US" sz="1800">
                    <a:effectLst/>
                  </a:rPr>
                  <a:t>How long inventory stays before being sold.</a:t>
                </a:r>
                <a:endParaRPr lang="en-US" sz="18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0"/>
                        <m:t>DIO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800" i="1"/>
                            <m:t>Inventory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800" i="1"/>
                            <m:t>COGS</m:t>
                          </m:r>
                        </m:den>
                      </m:f>
                      <m:r>
                        <a:rPr lang="ar-AE" sz="1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365</m:t>
                      </m:r>
                    </m:oMath>
                  </m:oMathPara>
                </a14:m>
                <a:endParaRPr lang="en-US" sz="1800"/>
              </a:p>
              <a:p>
                <a:pPr marL="0" indent="0">
                  <a:buNone/>
                </a:pPr>
                <a:endParaRPr lang="en-US" sz="1000" b="1"/>
              </a:p>
              <a:p>
                <a:pPr marL="0" indent="0">
                  <a:buNone/>
                </a:pPr>
                <a:r>
                  <a:rPr lang="en-US" sz="1800" b="1"/>
                  <a:t>Days Sales Outstanding (DSO): </a:t>
                </a:r>
                <a:r>
                  <a:rPr lang="en-US" sz="1800">
                    <a:effectLst/>
                  </a:rPr>
                  <a:t>How long customers take to pay.</a:t>
                </a:r>
                <a:endParaRPr lang="en-US" sz="18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0"/>
                        <m:t>DSO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800" i="1"/>
                            <m:t>Accounts</m:t>
                          </m:r>
                          <m:r>
                            <m:rPr>
                              <m:nor/>
                            </m:rPr>
                            <a:rPr lang="en-US" sz="1800" i="1"/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1"/>
                            <m:t>Receivable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800" i="1"/>
                            <m:t>Credit</m:t>
                          </m:r>
                          <m:r>
                            <m:rPr>
                              <m:nor/>
                            </m:rPr>
                            <a:rPr lang="en-US" sz="1800" i="1"/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1"/>
                            <m:t>Sales</m:t>
                          </m:r>
                        </m:den>
                      </m:f>
                      <m:r>
                        <a:rPr lang="ar-AE" sz="1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365</m:t>
                      </m:r>
                    </m:oMath>
                  </m:oMathPara>
                </a14:m>
                <a:endParaRPr lang="ar-AE" sz="1800" b="0"/>
              </a:p>
              <a:p>
                <a:pPr marL="0" indent="0">
                  <a:buNone/>
                </a:pPr>
                <a:endParaRPr lang="en-US" sz="1000" b="1"/>
              </a:p>
              <a:p>
                <a:pPr marL="0" indent="0">
                  <a:buNone/>
                </a:pPr>
                <a:r>
                  <a:rPr lang="en-US" sz="1800" b="1"/>
                  <a:t>Days Payables Outstanding (DPO): </a:t>
                </a:r>
                <a:r>
                  <a:rPr lang="en-US" sz="1800">
                    <a:effectLst/>
                  </a:rPr>
                  <a:t>How long the firm takes to pay suppliers.</a:t>
                </a:r>
                <a:endParaRPr lang="en-US" sz="18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0"/>
                        <m:t>DPO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800" i="1"/>
                            <m:t>Accounts</m:t>
                          </m:r>
                          <m:r>
                            <m:rPr>
                              <m:nor/>
                            </m:rPr>
                            <a:rPr lang="en-US" sz="1800" i="1"/>
                            <m:t> </m:t>
                          </m:r>
                          <m:r>
                            <m:rPr>
                              <m:nor/>
                            </m:rPr>
                            <a:rPr lang="en-US" sz="1800" i="1"/>
                            <m:t>Payable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800" i="1"/>
                            <m:t>COGS</m:t>
                          </m:r>
                        </m:den>
                      </m:f>
                      <m:r>
                        <a:rPr lang="ar-AE" sz="1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365</m:t>
                      </m:r>
                    </m:oMath>
                  </m:oMathPara>
                </a14:m>
                <a:endParaRPr lang="ar-AE" sz="1800" b="0"/>
              </a:p>
              <a:p>
                <a:pPr marL="0" indent="0">
                  <a:buNone/>
                </a:pPr>
                <a:endParaRPr lang="en-US" sz="1050" b="1">
                  <a:effectLst/>
                </a:endParaRPr>
              </a:p>
              <a:p>
                <a:pPr marL="0" indent="0">
                  <a:buNone/>
                </a:pPr>
                <a:r>
                  <a:rPr lang="en-US" sz="1800" b="1">
                    <a:effectLst/>
                  </a:rPr>
                  <a:t>Interpretation:</a:t>
                </a:r>
              </a:p>
              <a:p>
                <a:pPr marL="0" indent="0">
                  <a:buNone/>
                </a:pPr>
                <a:r>
                  <a:rPr lang="en-US" sz="2000"/>
                  <a:t>Higher DIO → slow inventory movement</a:t>
                </a:r>
              </a:p>
              <a:p>
                <a:pPr marL="0" indent="0">
                  <a:buNone/>
                </a:pPr>
                <a:r>
                  <a:rPr lang="en-US" sz="2000"/>
                  <a:t>Higher DSO → slow customer payments</a:t>
                </a:r>
              </a:p>
              <a:p>
                <a:pPr marL="0" indent="0">
                  <a:buNone/>
                </a:pPr>
                <a:r>
                  <a:rPr lang="en-US" sz="2000"/>
                  <a:t>Higher DPO → slower payments to suppliers (helps cash flow)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3716E7-1897-1F2A-2976-B9EAEC2F2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435280" cy="4771663"/>
              </a:xfrm>
              <a:blipFill>
                <a:blip r:embed="rId2"/>
                <a:stretch>
                  <a:fillRect l="-723" t="-767" r="-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604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8FAF-A591-2D43-03D1-86A6B3AAD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60648"/>
            <a:ext cx="8229600" cy="648072"/>
          </a:xfrm>
        </p:spPr>
        <p:txBody>
          <a:bodyPr/>
          <a:lstStyle/>
          <a:p>
            <a:r>
              <a:rPr lang="en-US" sz="2800" cap="none"/>
              <a:t>Why CCC matters (with managerial implications)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75687-48D9-0E63-325F-5FB7FB9E0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980728"/>
            <a:ext cx="8229600" cy="5040560"/>
          </a:xfrm>
        </p:spPr>
        <p:txBody>
          <a:bodyPr/>
          <a:lstStyle/>
          <a:p>
            <a:pPr marL="0" indent="0">
              <a:buNone/>
            </a:pPr>
            <a:r>
              <a:rPr lang="en-US" sz="1800" b="1"/>
              <a:t>Why CCC is important</a:t>
            </a:r>
          </a:p>
          <a:p>
            <a:r>
              <a:rPr lang="en-US" sz="1800"/>
              <a:t>Focuses on </a:t>
            </a:r>
            <a:r>
              <a:rPr lang="en-US" sz="1800" b="1"/>
              <a:t>cash timing</a:t>
            </a:r>
            <a:r>
              <a:rPr lang="en-US" sz="1800"/>
              <a:t>, not accounting profit</a:t>
            </a:r>
          </a:p>
          <a:p>
            <a:r>
              <a:rPr lang="en-US" sz="1800"/>
              <a:t>Long CCC → cash tied up too long</a:t>
            </a:r>
          </a:p>
          <a:p>
            <a:r>
              <a:rPr lang="en-US" sz="1800"/>
              <a:t>Short CCC → efficient working capital management</a:t>
            </a:r>
          </a:p>
          <a:p>
            <a:pPr marL="0" indent="0">
              <a:buNone/>
            </a:pPr>
            <a:endParaRPr lang="en-US" sz="1000" b="1"/>
          </a:p>
          <a:p>
            <a:pPr marL="0" indent="0">
              <a:buNone/>
            </a:pPr>
            <a:r>
              <a:rPr lang="en-US" sz="1800" b="1"/>
              <a:t>Managers aim to:</a:t>
            </a:r>
          </a:p>
          <a:p>
            <a:r>
              <a:rPr lang="en-US" sz="1800" b="1"/>
              <a:t>Reduce DIO</a:t>
            </a:r>
            <a:r>
              <a:rPr lang="en-US" sz="1800"/>
              <a:t> → better inventory control</a:t>
            </a:r>
          </a:p>
          <a:p>
            <a:r>
              <a:rPr lang="en-US" sz="1800" b="1"/>
              <a:t>Reduce DSO</a:t>
            </a:r>
            <a:r>
              <a:rPr lang="en-US" sz="1800"/>
              <a:t> → faster customer payments</a:t>
            </a:r>
          </a:p>
          <a:p>
            <a:r>
              <a:rPr lang="en-US" sz="1800" b="1"/>
              <a:t>Increase DPO</a:t>
            </a:r>
            <a:r>
              <a:rPr lang="en-US" sz="1800"/>
              <a:t> → delay payments (within reason)</a:t>
            </a:r>
          </a:p>
          <a:p>
            <a:pPr marL="0" indent="0">
              <a:buNone/>
            </a:pPr>
            <a:endParaRPr lang="en-US" sz="1000" b="1"/>
          </a:p>
          <a:p>
            <a:pPr marL="0" indent="0">
              <a:buNone/>
            </a:pPr>
            <a:r>
              <a:rPr lang="en-US" sz="1800" b="1"/>
              <a:t>Trade‑offs</a:t>
            </a:r>
          </a:p>
          <a:p>
            <a:r>
              <a:rPr lang="en-US" sz="1800"/>
              <a:t>Too little inventory → stockouts</a:t>
            </a:r>
          </a:p>
          <a:p>
            <a:r>
              <a:rPr lang="en-US" sz="1800"/>
              <a:t>Strict credit terms → fewer sales</a:t>
            </a:r>
          </a:p>
          <a:p>
            <a:r>
              <a:rPr lang="en-US" sz="1800"/>
              <a:t>Paying suppliers too late → damaged relationships</a:t>
            </a:r>
          </a:p>
          <a:p>
            <a:pPr marL="0" indent="0">
              <a:buNone/>
            </a:pPr>
            <a:r>
              <a:rPr lang="en-US" sz="1800" b="1">
                <a:solidFill>
                  <a:srgbClr val="FF0000"/>
                </a:solidFill>
              </a:rPr>
              <a:t>Advanced Insight: </a:t>
            </a:r>
            <a:r>
              <a:rPr lang="en-US" sz="1800">
                <a:solidFill>
                  <a:srgbClr val="FF0000"/>
                </a:solidFill>
              </a:rPr>
              <a:t>Some firms (e.g., supermarkets, online platforms) achieve negative CCC. They receive cash before paying suppliers!@</a:t>
            </a:r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37011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66937-5047-5B90-E563-5F8444C86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4475"/>
            <a:ext cx="8439150" cy="884238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6.6 Working capital: business issues and values</a:t>
            </a:r>
            <a:r>
              <a:rPr lang="en-AU" sz="2400"/>
              <a:t> 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232FE704-2FAC-2901-9465-4F2489AC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279525"/>
            <a:ext cx="8001000" cy="4297363"/>
          </a:xfrm>
        </p:spPr>
        <p:txBody>
          <a:bodyPr/>
          <a:lstStyle/>
          <a:p>
            <a:pPr>
              <a:defRPr/>
            </a:pPr>
            <a:r>
              <a:rPr lang="en-AU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aggressive should a business be in managing its working capital?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AU" altLang="en-US" sz="24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defRPr/>
            </a:pPr>
            <a:r>
              <a:rPr lang="en-AU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ethics of aggressive working capital management.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AU" altLang="en-US" sz="24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defRPr/>
            </a:pPr>
            <a:r>
              <a:rPr lang="en-AU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Managing working capital is critical for both the present liquidity and the longer-term sustainability of the business.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3A4A-987C-19FA-4A78-7B74274F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792162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Key takeaways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25B8FA2D-0E37-CAD9-948D-F66C84908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123950"/>
            <a:ext cx="8362950" cy="4968875"/>
          </a:xfrm>
        </p:spPr>
        <p:txBody>
          <a:bodyPr/>
          <a:lstStyle/>
          <a:p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Understand </a:t>
            </a:r>
            <a:r>
              <a:rPr lang="en-AU" altLang="en-US" sz="2400" b="1" i="1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capital 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and why is it important.</a:t>
            </a:r>
          </a:p>
          <a:p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Be aware of how to </a:t>
            </a:r>
            <a:r>
              <a:rPr lang="en-AU" altLang="en-US" sz="2400" b="1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cash.</a:t>
            </a:r>
          </a:p>
          <a:p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Know about </a:t>
            </a:r>
            <a:r>
              <a:rPr lang="en-AU" altLang="en-US" sz="2400" b="1" i="1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reconciliation</a:t>
            </a:r>
            <a:r>
              <a:rPr lang="en-AU" altLang="en-US" sz="2400" b="1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of the business’s cash record with the bank statement.</a:t>
            </a:r>
          </a:p>
          <a:p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Be aware of monitoring </a:t>
            </a:r>
            <a:r>
              <a:rPr lang="en-AU" altLang="en-US" sz="2400" b="1" i="1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 receivable 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to ensure cash flow.</a:t>
            </a:r>
          </a:p>
          <a:p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Understand </a:t>
            </a:r>
            <a:r>
              <a:rPr lang="en-AU" altLang="en-US" sz="2400" b="1" i="1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 and the impact of payments for inventory.</a:t>
            </a:r>
          </a:p>
          <a:p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Understand </a:t>
            </a:r>
            <a:r>
              <a:rPr lang="en-AU" altLang="en-US" sz="2400" b="1" i="1">
                <a:solidFill>
                  <a:srgbClr val="3185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 payable 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and the importance of paying accounts on time.</a:t>
            </a:r>
          </a:p>
          <a:p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Microsoft Office PowerPoint</Application>
  <PresentationFormat>On-screen Show (4:3)</PresentationFormat>
  <Paragraphs>235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Narrow</vt:lpstr>
      <vt:lpstr>Calibri</vt:lpstr>
      <vt:lpstr>Calibri Light</vt:lpstr>
      <vt:lpstr>Cambria Math</vt:lpstr>
      <vt:lpstr>Office Theme</vt:lpstr>
      <vt:lpstr>Custom Design</vt:lpstr>
      <vt:lpstr>PowerPoint Presentation</vt:lpstr>
      <vt:lpstr>Learning objectives</vt:lpstr>
      <vt:lpstr>Why businesses fail?</vt:lpstr>
      <vt:lpstr>6.1 Working Capital</vt:lpstr>
      <vt:lpstr>The working capital cycle</vt:lpstr>
      <vt:lpstr>Why working capital management matters</vt:lpstr>
      <vt:lpstr>WORKING CAPITAL = Current Assets – Current Liabilities CONSIDER THE FOLLOWING EXTRACTS FROM Two BALANCE SHEETS</vt:lpstr>
      <vt:lpstr>Ratios</vt:lpstr>
      <vt:lpstr>CURRENT RATIO </vt:lpstr>
      <vt:lpstr>QUICK RATIO</vt:lpstr>
      <vt:lpstr>6.2 Cash</vt:lpstr>
      <vt:lpstr>6.3 Accounts receivable </vt:lpstr>
      <vt:lpstr>6.3 Accounts receivable – Reporting</vt:lpstr>
      <vt:lpstr>6.4 Inventory </vt:lpstr>
      <vt:lpstr>Inventory: Cost flow methods</vt:lpstr>
      <vt:lpstr>Inventory Valuation Methods</vt:lpstr>
      <vt:lpstr>6.5 Accounts payable</vt:lpstr>
      <vt:lpstr>Accounts payable in action!</vt:lpstr>
      <vt:lpstr>What is the cash conversion cycle (CCC)?</vt:lpstr>
      <vt:lpstr>Components of the CCC</vt:lpstr>
      <vt:lpstr>Why CCC matters (with managerial implications)</vt:lpstr>
      <vt:lpstr>6.6 Working capital: business issues and values 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Olga Lavecchia</dc:creator>
  <cp:lastModifiedBy>Christelle Roos</cp:lastModifiedBy>
  <cp:revision>2</cp:revision>
  <cp:lastPrinted>2021-03-11T20:41:26Z</cp:lastPrinted>
  <dcterms:created xsi:type="dcterms:W3CDTF">2016-03-22T03:34:01Z</dcterms:created>
  <dcterms:modified xsi:type="dcterms:W3CDTF">2026-07-19T23:32:55Z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2025-02-23T22:05:15Z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b454ca37-4206-434a-b536-8f254f387d5b</vt:lpwstr>
  </property>
  <property fmtid="{D5CDD505-2E9C-101B-9397-08002B2CF9AE}" pid="8" name="MSIP_Label_bd9e4d68-54d0-40a5-8c9a-85a36c87352c_ContentBits">
    <vt:lpwstr>0</vt:lpwstr>
  </property>
  <property fmtid="{D5CDD505-2E9C-101B-9397-08002B2CF9AE}" pid="9" name="MSIP_Label_bd9e4d68-54d0-40a5-8c9a-85a36c87352c_Tag">
    <vt:lpwstr>10, 3, 0, 1</vt:lpwstr>
  </property>
</Properties>
</file>