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1" r:id="rId1"/>
  </p:sldMasterIdLst>
  <p:notesMasterIdLst>
    <p:notesMasterId r:id="rId28"/>
  </p:notesMasterIdLst>
  <p:handoutMasterIdLst>
    <p:handoutMasterId r:id="rId29"/>
  </p:handoutMasterIdLst>
  <p:sldIdLst>
    <p:sldId id="256" r:id="rId2"/>
    <p:sldId id="405" r:id="rId3"/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7" r:id="rId13"/>
    <p:sldId id="418" r:id="rId14"/>
    <p:sldId id="419" r:id="rId15"/>
    <p:sldId id="420" r:id="rId16"/>
    <p:sldId id="427" r:id="rId17"/>
    <p:sldId id="350" r:id="rId18"/>
    <p:sldId id="351" r:id="rId19"/>
    <p:sldId id="388" r:id="rId20"/>
    <p:sldId id="389" r:id="rId21"/>
    <p:sldId id="422" r:id="rId22"/>
    <p:sldId id="423" r:id="rId23"/>
    <p:sldId id="403" r:id="rId24"/>
    <p:sldId id="425" r:id="rId25"/>
    <p:sldId id="404" r:id="rId26"/>
    <p:sldId id="364" r:id="rId27"/>
  </p:sldIdLst>
  <p:sldSz cx="9144000" cy="6858000" type="screen4x3"/>
  <p:notesSz cx="6805613" cy="99393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5F09"/>
    <a:srgbClr val="482A06"/>
    <a:srgbClr val="163F3A"/>
    <a:srgbClr val="3C9325"/>
    <a:srgbClr val="A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57" autoAdjust="0"/>
  </p:normalViewPr>
  <p:slideViewPr>
    <p:cSldViewPr snapToObjects="1">
      <p:cViewPr varScale="1">
        <p:scale>
          <a:sx n="105" d="100"/>
          <a:sy n="105" d="100"/>
        </p:scale>
        <p:origin x="17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B6D8E9-FCFC-F0F7-F36D-D468F4FD6F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4C84C-E619-D9D0-C144-1AED1E4032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0438B35-E73E-4565-9CAE-15AD5698335A}" type="datetimeFigureOut">
              <a:rPr lang="en-NZ"/>
              <a:pPr>
                <a:defRPr/>
              </a:pPr>
              <a:t>3/03/2025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D879B-F33D-5E88-C321-4D3B8327D9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054AB-3032-B894-D617-C16D4BA592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7ED0E97-6989-4559-BF82-19E21ED3E828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AA181C-1D1D-B11E-514A-438E19EA10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9C6CE-E686-F388-B37E-E392F24CA6C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4C3ABD7-CF7A-4DC9-BD77-B77F3D85137C}" type="datetimeFigureOut">
              <a:rPr lang="en-NZ"/>
              <a:pPr>
                <a:defRPr/>
              </a:pPr>
              <a:t>3/03/2025</a:t>
            </a:fld>
            <a:endParaRPr lang="en-NZ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693AA96-84D4-1696-C910-CA500B678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NZ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782599A-8AFA-973C-D70D-C5DE374C2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3537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NZ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5A7BC-18BD-09B5-3C7B-4E8449D197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31775-972B-AD11-78C0-46C14070E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26D4E60-E155-4F83-B93F-510EA6D19DD4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5A19713F-A550-5516-E8F0-7BDDADEEEB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4213" indent="-263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4100" indent="-2095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6375" indent="-2095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8650" indent="-2095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558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8130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2702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7274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F2449D-AC80-4AB3-BFAD-3B8A54E0ABAA}" type="slidenum">
              <a:rPr lang="en-AU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AU" altLang="en-US">
              <a:latin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EF232D0A-3DC3-1F28-232F-B9C2EF0EDF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AA953F1-9DEA-B475-C503-D70A47A1C0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DDDB11DB-35AA-9C55-BBB0-CFAFCB0271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4213" indent="-263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4100" indent="-2095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6375" indent="-2095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8650" indent="-2095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558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8130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2702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7274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A752A8-B1DA-4112-B1A4-AB466390E181}" type="slidenum">
              <a:rPr lang="en-AU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AU" altLang="en-US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FFC12EA-6EE2-5B66-6F14-905039CC1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75203D2-BB66-8FB9-6536-723472865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92DCFBF-EF8E-55FE-9C8B-5ABB091A13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4213" indent="-263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4100" indent="-2095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6375" indent="-2095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8650" indent="-2095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558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8130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2702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727450" indent="-20955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27FD82-B124-4163-AAD3-F6DD560078F7}" type="slidenum">
              <a:rPr lang="en-AU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AU" altLang="en-US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2A8B635-49E4-DFE1-B528-8EE87DBE39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734EA2AC-D419-2520-E454-DA740D27F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9FB58E2E-DC61-21F2-7EC7-8DB540E58FE3}"/>
              </a:ext>
            </a:extLst>
          </p:cNvPr>
          <p:cNvGrpSpPr>
            <a:grpSpLocks/>
          </p:cNvGrpSpPr>
          <p:nvPr/>
        </p:nvGrpSpPr>
        <p:grpSpPr bwMode="auto">
          <a:xfrm>
            <a:off x="-7938" y="-7938"/>
            <a:ext cx="9170988" cy="6873876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0C1B172-42E1-AD62-D125-4D045F54A5B2}"/>
                </a:ext>
              </a:extLst>
            </p:cNvPr>
            <p:cNvCxnSpPr/>
            <p:nvPr/>
          </p:nvCxnSpPr>
          <p:spPr>
            <a:xfrm flipV="1">
              <a:off x="5130456" y="4175239"/>
              <a:ext cx="4022869" cy="268328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7EA8FB7-7AE4-F978-F575-2E58770C446D}"/>
                </a:ext>
              </a:extLst>
            </p:cNvPr>
            <p:cNvCxnSpPr/>
            <p:nvPr/>
          </p:nvCxnSpPr>
          <p:spPr>
            <a:xfrm>
              <a:off x="7043462" y="-529"/>
              <a:ext cx="1217656" cy="685905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0E8A5859-DA2A-CE1D-E162-16C6AE942C28}"/>
                </a:ext>
              </a:extLst>
            </p:cNvPr>
            <p:cNvSpPr/>
            <p:nvPr/>
          </p:nvSpPr>
          <p:spPr>
            <a:xfrm>
              <a:off x="6892644" y="-529"/>
              <a:ext cx="2268619" cy="686699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8AB15835-EA1B-A793-3613-6E86029D7F25}"/>
                </a:ext>
              </a:extLst>
            </p:cNvPr>
            <p:cNvSpPr/>
            <p:nvPr/>
          </p:nvSpPr>
          <p:spPr>
            <a:xfrm>
              <a:off x="7205393" y="-8468"/>
              <a:ext cx="1947932" cy="6866996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9D6D2E26-782D-0BF7-4035-F06B2B560061}"/>
                </a:ext>
              </a:extLst>
            </p:cNvPr>
            <p:cNvSpPr/>
            <p:nvPr/>
          </p:nvSpPr>
          <p:spPr>
            <a:xfrm>
              <a:off x="6638635" y="3919613"/>
              <a:ext cx="2513103" cy="2938915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3B2FB96C-EBD7-5251-0926-B74B66D1E73B}"/>
                </a:ext>
              </a:extLst>
            </p:cNvPr>
            <p:cNvSpPr/>
            <p:nvPr/>
          </p:nvSpPr>
          <p:spPr>
            <a:xfrm>
              <a:off x="7010123" y="-8468"/>
              <a:ext cx="2143202" cy="6866996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0DE08B54-BFAD-D1E5-3D27-66021591DDDF}"/>
                </a:ext>
              </a:extLst>
            </p:cNvPr>
            <p:cNvSpPr/>
            <p:nvPr/>
          </p:nvSpPr>
          <p:spPr>
            <a:xfrm>
              <a:off x="8296044" y="-8468"/>
              <a:ext cx="857281" cy="6866996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36E4668C-8887-40C5-9562-1F3E3890E082}"/>
                </a:ext>
              </a:extLst>
            </p:cNvPr>
            <p:cNvSpPr/>
            <p:nvPr/>
          </p:nvSpPr>
          <p:spPr>
            <a:xfrm>
              <a:off x="8094425" y="-8468"/>
              <a:ext cx="1066838" cy="6866996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1688E39D-F0E5-EA1B-586A-573DBA0EE404}"/>
                </a:ext>
              </a:extLst>
            </p:cNvPr>
            <p:cNvSpPr/>
            <p:nvPr/>
          </p:nvSpPr>
          <p:spPr>
            <a:xfrm>
              <a:off x="8069024" y="4894488"/>
              <a:ext cx="1093826" cy="1964040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5D50489B-DABC-E97B-194F-817A77D58139}"/>
                </a:ext>
              </a:extLst>
            </p:cNvPr>
            <p:cNvSpPr/>
            <p:nvPr/>
          </p:nvSpPr>
          <p:spPr>
            <a:xfrm>
              <a:off x="-8466" y="-8468"/>
              <a:ext cx="863632" cy="5698416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3EAE403A-871E-789D-6731-DC072DA3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43F3D-3046-4EA7-9EF7-8371F5856F2F}" type="datetimeFigureOut">
              <a:rPr lang="en-US"/>
              <a:pPr>
                <a:defRPr/>
              </a:pPr>
              <a:t>3/3/2025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1897032-C9EC-8B8C-3BB2-49E3520F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9B8EE0B-1FE4-A967-864A-6C44B8DF1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3BBA5-4C3A-4007-B199-9C9EBC4774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37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0A93F-CA94-FE4B-8F86-A620E934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7CC45-DEBC-4722-A432-8B1FB1E10BA5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9B92E-536A-E297-A182-46DF5DC0E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3A5FA-2232-8638-45BB-D96A0311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88F8E-D50D-4875-90F7-0269246162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624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5F0B5-4CF0-BCDC-49D9-F78A55AD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B4BDE-813E-4855-84C5-CBE1350FD669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04ADE-3149-2933-BC01-AE63C320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39408-00E3-F2A2-1554-D81C32A2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DAAE1-FB4B-4369-9D3F-B240D76E54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992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F9C138-2015-0BD8-EF4B-760E80637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1D31C-116E-4E49-8507-A7AE3E6387C1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99921EE-433C-C919-76FC-A890D358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31C13E-CE33-43FC-D313-F02F886F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DF0A11-126D-4E74-B1E5-D63D4C5AB1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276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21B8BA0-45C9-B0FF-BF10-BE868236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9AE40-5A4E-4CEA-A6D5-A08B256691AD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FECE43F-2657-AFA4-9644-AD815E012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575B366-37F9-B2FC-F660-0D09EDD65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9F4FB-E7F9-48DD-8607-4EAB1D780A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166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4B291E8-17CB-60E5-3D83-8B449E37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6176F-C014-4834-9016-F461CB276E1E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FC8AA3-F1CD-B8C1-ECDB-A8CD3BEA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F146B78-E62F-85F0-B836-474E1636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214415-54D4-433F-BA14-22DC745230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03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0D604E-7684-27EE-DC89-434C4629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49FFD-2A14-472E-B183-DECB2F4F7784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466E035-8323-33F7-B6B6-B508B163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20937C-106C-ADF8-6C0D-95042BF4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ABDA6-61B2-4722-A946-4B1312D83C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556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0018A8B-5B70-8DA9-B82D-221C1A2D2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03927-ACE7-43F6-8F31-5CC0EC8BE3EB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48423B2-82CC-F7FD-94FD-659F6FE8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7E41BC-E127-86EA-870D-F8F9AF7A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8F9AB-ED30-48A7-9D03-46314E85F5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934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7D33FEE-F4D3-F8EC-AEAF-B837E119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69BE5-0EF2-4DD5-B49D-A5739585EB72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39B823B-52A9-34F1-E6E0-2FFDAFE2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85E4E25-1173-F19A-49F3-A22E5798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6286E-0E92-42A7-AE10-3039EF4E8A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1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311F-CC2B-E3C6-ACCB-29D45CD9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8D4F4-8C81-4FC9-9062-FAA7AA6D7346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34A15-8BA4-F9D8-6342-B0D53EC6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5C32F-EFFE-9159-5D87-C855485E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BD310-B45C-49BB-9834-FDD970F6FE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552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952886-C928-B2F8-2832-422127CB9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79057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rgbClr val="9FE0F5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E551E-E6D2-34C5-08A5-EF92E2DB9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463" y="2886075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rgbClr val="9FE0F5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583AD4-861C-EAD6-99EF-F80C7AEFD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815CA-65FC-4554-8C46-1246813E4217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508AA21-B96E-16EC-5089-504C6391262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E0590B-FD5E-FF97-FCA0-9F6510A4A3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F2AF5-6095-478E-8697-5A3DE03524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802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2468-C65E-C3F9-3956-A2AA21A5A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FC7D9-223B-48C3-9060-1C96F6252991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98F3A-6C92-A828-BC51-BFEB5FA2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5E368-9DA6-2C38-4990-5B412CA5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C7CFB-E738-4525-9DB9-42E9D99AC5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4547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6E8716-2C30-F073-D76C-28B5693EE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79057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rgbClr val="9FE0F5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4F4E5-5E57-0322-6FAA-9DE4C45D9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463" y="2886075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rgbClr val="9FE0F5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C545787-7E87-EE67-AAD7-46940007F5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CFCA2-60FB-4035-B20C-80CAEAA89E2D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38B41C2-178A-53CC-6ADA-E1112112E6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3392CC9-19B2-3B76-538D-FDFF768A91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0232C8-B0DD-41D1-97BF-F5784BC9B8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8317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9C8F2-B230-F437-D40A-F899BC0E6B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4C8A9-8736-42DA-A91E-B70705D8C68A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33FE4-5657-8917-5485-5E3FC9FA11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1955A-9A4F-C190-97E3-DF94964EF7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43573-6993-499C-A590-069D164A05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502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99D88-1339-898E-FFD1-516B16455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0550F-FE56-4578-8809-F934D2B00F0A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A8BF9-EE2B-09C2-E0D4-168FB638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58C3B-3CB2-7884-8384-065F6919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EEA15-D559-478B-B0C2-34F7A5DBA9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7908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2F707-463D-66D0-9B76-BA2EE2F1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0917C-F884-42C7-A6AC-CD693884CF79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CD822-364C-6DED-5AF4-140217BA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8DED6-8EDA-AFAE-D88E-C5C81633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8597C-5333-40F4-B2EE-8D18CFCCAD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927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B9AF7C15-1691-466F-CFA3-358F1B2C3A6B}"/>
              </a:ext>
            </a:extLst>
          </p:cNvPr>
          <p:cNvGrpSpPr>
            <a:grpSpLocks/>
          </p:cNvGrpSpPr>
          <p:nvPr/>
        </p:nvGrpSpPr>
        <p:grpSpPr bwMode="auto">
          <a:xfrm>
            <a:off x="-7938" y="-7938"/>
            <a:ext cx="9170988" cy="6873876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45B96C9-8674-2B29-3CE4-CE8316E41B92}"/>
                </a:ext>
              </a:extLst>
            </p:cNvPr>
            <p:cNvSpPr/>
            <p:nvPr/>
          </p:nvSpPr>
          <p:spPr>
            <a:xfrm>
              <a:off x="-8467" y="4013290"/>
              <a:ext cx="457217" cy="285317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08C8EE9-C1DB-460E-05B5-AA36E35AF149}"/>
                </a:ext>
              </a:extLst>
            </p:cNvPr>
            <p:cNvCxnSpPr/>
            <p:nvPr/>
          </p:nvCxnSpPr>
          <p:spPr>
            <a:xfrm flipV="1">
              <a:off x="5130455" y="4175239"/>
              <a:ext cx="4022869" cy="268328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85BA6B-5918-CF74-D923-122FB890FE77}"/>
                </a:ext>
              </a:extLst>
            </p:cNvPr>
            <p:cNvCxnSpPr/>
            <p:nvPr/>
          </p:nvCxnSpPr>
          <p:spPr>
            <a:xfrm>
              <a:off x="7043462" y="-529"/>
              <a:ext cx="1217656" cy="685905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65043C7-719A-31BD-0CBD-E8CAB3B3F987}"/>
                </a:ext>
              </a:extLst>
            </p:cNvPr>
            <p:cNvSpPr/>
            <p:nvPr/>
          </p:nvSpPr>
          <p:spPr>
            <a:xfrm>
              <a:off x="6892644" y="-529"/>
              <a:ext cx="2268619" cy="686699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39F0E29-E366-B87C-5579-FF366FDF293F}"/>
                </a:ext>
              </a:extLst>
            </p:cNvPr>
            <p:cNvSpPr/>
            <p:nvPr/>
          </p:nvSpPr>
          <p:spPr>
            <a:xfrm>
              <a:off x="7205393" y="-8468"/>
              <a:ext cx="1947932" cy="6866996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EB87CF3-A53D-3193-7F83-309F25964176}"/>
                </a:ext>
              </a:extLst>
            </p:cNvPr>
            <p:cNvSpPr/>
            <p:nvPr/>
          </p:nvSpPr>
          <p:spPr>
            <a:xfrm>
              <a:off x="6638634" y="3919613"/>
              <a:ext cx="2513103" cy="2938915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709FA3F-633F-7E72-663B-5FF5B5A5AB5B}"/>
                </a:ext>
              </a:extLst>
            </p:cNvPr>
            <p:cNvSpPr/>
            <p:nvPr/>
          </p:nvSpPr>
          <p:spPr>
            <a:xfrm>
              <a:off x="7010123" y="-8468"/>
              <a:ext cx="2143202" cy="6866996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35A4C6D-18D6-EB50-9076-8C2F42496189}"/>
                </a:ext>
              </a:extLst>
            </p:cNvPr>
            <p:cNvSpPr/>
            <p:nvPr/>
          </p:nvSpPr>
          <p:spPr>
            <a:xfrm>
              <a:off x="8296044" y="-8468"/>
              <a:ext cx="857281" cy="6866996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378088-FEC6-9166-0DC3-F3FE51B74619}"/>
                </a:ext>
              </a:extLst>
            </p:cNvPr>
            <p:cNvSpPr/>
            <p:nvPr/>
          </p:nvSpPr>
          <p:spPr>
            <a:xfrm>
              <a:off x="8094425" y="-8468"/>
              <a:ext cx="1066838" cy="6866996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2A2DE52-F44E-00C9-77FC-7E8DF94D1505}"/>
                </a:ext>
              </a:extLst>
            </p:cNvPr>
            <p:cNvSpPr/>
            <p:nvPr/>
          </p:nvSpPr>
          <p:spPr>
            <a:xfrm>
              <a:off x="8069024" y="4894488"/>
              <a:ext cx="1093826" cy="1964040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6DBFA354-0F5B-A597-14E7-06F641C11DF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609600"/>
            <a:ext cx="6348413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93753642-F0E8-8FA3-88EC-F7A2FC4115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2160588"/>
            <a:ext cx="6348413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3A772-924C-84B8-A0DE-80E5ADAF3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5438" y="6042025"/>
            <a:ext cx="684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3978BD7-F376-4A93-9B52-33BE4DA742E8}" type="datetimeFigureOut">
              <a:rPr lang="en-US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603EF-8DD8-9312-C865-9C56C30F9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7266-F04E-DA9D-79C3-7C4F69751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B83EED59-E3AB-4B8D-B8D6-0E136BDBA2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08" r:id="rId2"/>
    <p:sldLayoutId id="2147484209" r:id="rId3"/>
    <p:sldLayoutId id="2147484210" r:id="rId4"/>
    <p:sldLayoutId id="2147484211" r:id="rId5"/>
    <p:sldLayoutId id="2147484212" r:id="rId6"/>
    <p:sldLayoutId id="2147484213" r:id="rId7"/>
    <p:sldLayoutId id="2147484214" r:id="rId8"/>
    <p:sldLayoutId id="2147484215" r:id="rId9"/>
    <p:sldLayoutId id="2147484216" r:id="rId10"/>
    <p:sldLayoutId id="2147484222" r:id="rId11"/>
    <p:sldLayoutId id="2147484217" r:id="rId12"/>
    <p:sldLayoutId id="2147484223" r:id="rId13"/>
    <p:sldLayoutId id="2147484218" r:id="rId14"/>
    <p:sldLayoutId id="2147484219" r:id="rId15"/>
    <p:sldLayoutId id="2147484220" r:id="rId16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C8B619C1-6677-CA11-99E6-8A3F1AE5E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549275"/>
            <a:ext cx="8642350" cy="5040313"/>
          </a:xfrm>
        </p:spPr>
        <p:txBody>
          <a:bodyPr/>
          <a:lstStyle/>
          <a:p>
            <a:pPr algn="l" eaLnBrk="1" hangingPunct="1"/>
            <a:r>
              <a:rPr lang="en-US" altLang="en-US" sz="4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Financial Statement Evaluation</a:t>
            </a:r>
            <a:br>
              <a:rPr lang="en-US" altLang="en-US" sz="4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</a:br>
            <a:br>
              <a:rPr lang="en-US" altLang="en-US" sz="4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</a:br>
            <a:br>
              <a:rPr lang="en-US" altLang="en-US" sz="2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</a:br>
            <a:br>
              <a:rPr lang="en-US" altLang="en-US" sz="2800" dirty="0">
                <a:latin typeface="Arial Narrow" panose="020B0606020202030204" pitchFamily="34" charset="0"/>
                <a:cs typeface="Arial" panose="020B0604020202020204" pitchFamily="34" charset="0"/>
              </a:rPr>
            </a:br>
            <a:br>
              <a:rPr lang="en-US" altLang="en-US" sz="4800" dirty="0">
                <a:latin typeface="Arial Narrow" panose="020B0606020202030204" pitchFamily="34" charset="0"/>
                <a:cs typeface="Arial" panose="020B0604020202020204" pitchFamily="34" charset="0"/>
              </a:rPr>
            </a:br>
            <a:endParaRPr lang="en-US" altLang="en-US" sz="2000" dirty="0">
              <a:solidFill>
                <a:srgbClr val="C75F09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41AF3D9-567C-76F5-4722-E008DC5CF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6483350" cy="874713"/>
          </a:xfrm>
        </p:spPr>
        <p:txBody>
          <a:bodyPr lIns="90488" tIns="44450" rIns="90488" bIns="44450"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Financial Statement evaluation</a:t>
            </a:r>
            <a:br>
              <a:rPr lang="en-US" dirty="0"/>
            </a:br>
            <a:endParaRPr 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337E6C8-65F8-E7AF-AC2C-F508F265D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5" y="1598613"/>
            <a:ext cx="7908925" cy="4687887"/>
          </a:xfrm>
        </p:spPr>
        <p:txBody>
          <a:bodyPr lIns="90488" tIns="44450" rIns="90488" bIns="44450"/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Analysis involves highlighting relationships between items in the financial statements in order to enhance understanding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Interpretation involves explaining relationships to provide users with information to take action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May use trends for prediction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(Source: Wells &amp; Dixon)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FA3D405-8170-24FB-9597-6BCFA3C5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information needs of the various users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4AEC43B-A5E3-AE22-4DA1-9772FAF82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Besides Managers who is interested in FSE?</a:t>
            </a:r>
          </a:p>
          <a:p>
            <a:pPr lvl="1" eaLnBrk="1" hangingPunct="1"/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Investor groups</a:t>
            </a:r>
          </a:p>
          <a:p>
            <a:pPr lvl="1" eaLnBrk="1" hangingPunct="1"/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Lenders</a:t>
            </a:r>
          </a:p>
          <a:p>
            <a:pPr lvl="1" eaLnBrk="1" hangingPunct="1"/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Competitors</a:t>
            </a:r>
          </a:p>
          <a:p>
            <a:pPr lvl="1" eaLnBrk="1" hangingPunct="1"/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Employees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F8A0BD5-F1DD-2815-2E3F-82041903A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NZ" altLang="en-US"/>
              <a:t>Tools - Horizontal Analysis 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ABECEC-E107-621A-1A05-9136CFA36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484313"/>
            <a:ext cx="8001000" cy="4297362"/>
          </a:xfrm>
        </p:spPr>
        <p:txBody>
          <a:bodyPr/>
          <a:lstStyle/>
          <a:p>
            <a:pPr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Change in $$s line by line</a:t>
            </a:r>
          </a:p>
          <a:p>
            <a:pPr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Change in % terms (Use prior year as base)</a:t>
            </a:r>
          </a:p>
          <a:p>
            <a:pPr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Example – Sales % increase (Ratio 13)</a:t>
            </a:r>
          </a:p>
          <a:p>
            <a:pPr lvl="1"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Sales in 2019 = $880,000,  2018 =$670,000</a:t>
            </a:r>
          </a:p>
          <a:p>
            <a:pPr lvl="1"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Change* 210,000/670,000 * 100 = 31.3% </a:t>
            </a:r>
          </a:p>
          <a:p>
            <a:pPr lvl="1" eaLnBrk="1" hangingPunct="1"/>
            <a:endParaRPr lang="en-NZ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(Change = 880,000-670,000 = 210,000)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3910C8E-C208-3E73-DE7E-5F1846EAE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NZ" altLang="en-US"/>
              <a:t>Tools - Vertical Analysis (Common Size)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DE40C67-2658-BE69-C2CB-300C1B156D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one significant figure as the base and express other items in the Statement as a percentage of that base figure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Income Statement – usually Total Sales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 Sheet – usually Total Assets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example you have already encountered is the Gross Profit Percentage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Gross profit = $440,000 and Sales = $880,000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440/880*100 =50%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40435C5-3F13-A20D-9E14-B9E4554C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Ratios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AE8B6D0-7425-8F4F-371D-85BA58BED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713" y="1371600"/>
            <a:ext cx="7786687" cy="4899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solidFill>
                  <a:srgbClr val="A500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Ratios provide a quick and simple means of examining the financial health of a business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Times" panose="02020603050405020304" pitchFamily="18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 ratio simply expresses the relationship between one figure appearing in the financial statements with another e.g. net profit in relation to owners funds invested in the business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Times" panose="02020603050405020304" pitchFamily="18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Ratios are simple enough to calculate, and a good picture can be built up with just a few. However ratios can be difficult to interpret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Times" panose="02020603050405020304" pitchFamily="18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Ratios can be expressed in various forms e.g. percentages, fractions or proportions, depending on the use of the information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Times" panose="02020603050405020304" pitchFamily="18" charset="0"/>
              <a:buChar char="•"/>
            </a:pP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591EB2C-6CB8-6E0B-3F54-FAE33909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/>
              <a:t>Ratio Forms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A948C7A-A8F1-F537-3C85-307173EC6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7663"/>
            <a:ext cx="8001000" cy="4297362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Ratios: relationship e.g. 2 for 1 sponsorship. Written 2:1 or just 2</a:t>
            </a:r>
          </a:p>
          <a:p>
            <a:pPr eaLnBrk="1" hangingPunct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Percentage rate e.g. 9.5 percent interest. Written: 9.5%</a:t>
            </a:r>
          </a:p>
          <a:p>
            <a:pPr eaLnBrk="1" hangingPunct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Rate e.g. new building is five times higher. Written 5x</a:t>
            </a:r>
          </a:p>
          <a:p>
            <a:pPr eaLnBrk="1" hangingPunct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Charts –refer next slide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EDE7A3F-EEB3-B002-0EDC-62629188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NZ" altLang="en-US"/>
              <a:t>Charts</a:t>
            </a:r>
          </a:p>
        </p:txBody>
      </p:sp>
      <p:graphicFrame>
        <p:nvGraphicFramePr>
          <p:cNvPr id="18436" name="Object 2">
            <a:extLst>
              <a:ext uri="{FF2B5EF4-FFF2-40B4-BE49-F238E27FC236}">
                <a16:creationId xmlns:a16="http://schemas.microsoft.com/office/drawing/2014/main" id="{189C785F-398E-4201-565B-DD39D351010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547813" y="1557338"/>
          <a:ext cx="4257675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257751" imgH="2104949" progId="Excel.Sheet.8">
                  <p:embed/>
                </p:oleObj>
              </mc:Choice>
              <mc:Fallback>
                <p:oleObj name="Worksheet" r:id="rId2" imgW="4257751" imgH="2104949" progId="Excel.Shee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557338"/>
                        <a:ext cx="4257675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Line 7">
            <a:extLst>
              <a:ext uri="{FF2B5EF4-FFF2-40B4-BE49-F238E27FC236}">
                <a16:creationId xmlns:a16="http://schemas.microsoft.com/office/drawing/2014/main" id="{F62DD9F6-B5E4-5744-6F08-F746FBBB3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4365625"/>
            <a:ext cx="0" cy="14398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15365" name="Line 8">
            <a:extLst>
              <a:ext uri="{FF2B5EF4-FFF2-40B4-BE49-F238E27FC236}">
                <a16:creationId xmlns:a16="http://schemas.microsoft.com/office/drawing/2014/main" id="{1D9D1153-E181-CA61-02AA-F42FDD9C2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5805488"/>
            <a:ext cx="23764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18441" name="Text Box 9">
            <a:extLst>
              <a:ext uri="{FF2B5EF4-FFF2-40B4-BE49-F238E27FC236}">
                <a16:creationId xmlns:a16="http://schemas.microsoft.com/office/drawing/2014/main" id="{A20B3A9A-8615-228E-DB6B-29801C88B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602163"/>
            <a:ext cx="184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5400">
                <a:solidFill>
                  <a:srgbClr val="000000"/>
                </a:solidFill>
                <a:latin typeface="Arial Narrow" pitchFamily="34" charset="0"/>
              </a:defRPr>
            </a:lvl1pPr>
            <a:lvl2pPr marL="742950" indent="-285750" eaLnBrk="0" hangingPunct="0">
              <a:defRPr sz="5400">
                <a:solidFill>
                  <a:srgbClr val="000000"/>
                </a:solidFill>
                <a:latin typeface="Arial Narrow" pitchFamily="34" charset="0"/>
              </a:defRPr>
            </a:lvl2pPr>
            <a:lvl3pPr marL="1143000" indent="-228600" eaLnBrk="0" hangingPunct="0">
              <a:defRPr sz="5400">
                <a:solidFill>
                  <a:srgbClr val="000000"/>
                </a:solidFill>
                <a:latin typeface="Arial Narrow" pitchFamily="34" charset="0"/>
              </a:defRPr>
            </a:lvl3pPr>
            <a:lvl4pPr marL="1600200" indent="-228600" eaLnBrk="0" hangingPunct="0">
              <a:defRPr sz="5400">
                <a:solidFill>
                  <a:srgbClr val="000000"/>
                </a:solidFill>
                <a:latin typeface="Arial Narrow" pitchFamily="34" charset="0"/>
              </a:defRPr>
            </a:lvl4pPr>
            <a:lvl5pPr marL="2057400" indent="-228600" eaLnBrk="0" hangingPunct="0">
              <a:defRPr sz="5400">
                <a:solidFill>
                  <a:srgbClr val="000000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rgbClr val="000000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rgbClr val="000000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rgbClr val="000000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rgbClr val="000000"/>
                </a:solidFill>
                <a:latin typeface="Arial Narrow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NZ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cs typeface="Arial" charset="0"/>
            </a:endParaRP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7168FC01-E85A-2EB5-F360-7F9A50EA2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938" y="4313238"/>
            <a:ext cx="827087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NZ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Arial" charset="0"/>
              </a:rPr>
              <a:t>Sales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NZ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Arial" charset="0"/>
              </a:rPr>
              <a:t> $s</a:t>
            </a:r>
          </a:p>
        </p:txBody>
      </p:sp>
      <p:sp>
        <p:nvSpPr>
          <p:cNvPr id="18443" name="Text Box 11">
            <a:extLst>
              <a:ext uri="{FF2B5EF4-FFF2-40B4-BE49-F238E27FC236}">
                <a16:creationId xmlns:a16="http://schemas.microsoft.com/office/drawing/2014/main" id="{E2E2BA18-BF4B-CBB4-03DB-0D1E8554D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6165850"/>
            <a:ext cx="895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NZ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Arial" charset="0"/>
              </a:rPr>
              <a:t>Years</a:t>
            </a:r>
          </a:p>
        </p:txBody>
      </p:sp>
      <p:sp>
        <p:nvSpPr>
          <p:cNvPr id="15369" name="Line 12">
            <a:extLst>
              <a:ext uri="{FF2B5EF4-FFF2-40B4-BE49-F238E27FC236}">
                <a16:creationId xmlns:a16="http://schemas.microsoft.com/office/drawing/2014/main" id="{47170FF9-D0AD-B5DE-9188-E91EDC5F98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724400"/>
            <a:ext cx="1223963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15370" name="Line 13">
            <a:extLst>
              <a:ext uri="{FF2B5EF4-FFF2-40B4-BE49-F238E27FC236}">
                <a16:creationId xmlns:a16="http://schemas.microsoft.com/office/drawing/2014/main" id="{A9EBFD05-CBDA-54C4-3B49-7ECB65C53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4724400"/>
            <a:ext cx="43180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18446" name="Text Box 14">
            <a:extLst>
              <a:ext uri="{FF2B5EF4-FFF2-40B4-BE49-F238E27FC236}">
                <a16:creationId xmlns:a16="http://schemas.microsoft.com/office/drawing/2014/main" id="{3095AA72-1902-1395-6398-73D18C7AD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5805488"/>
            <a:ext cx="23241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NZ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Arial" charset="0"/>
              </a:rPr>
              <a:t>1 2 3 4 5 6 7 8 </a:t>
            </a:r>
          </a:p>
        </p:txBody>
      </p:sp>
      <p:sp>
        <p:nvSpPr>
          <p:cNvPr id="18447" name="Text Box 15">
            <a:extLst>
              <a:ext uri="{FF2B5EF4-FFF2-40B4-BE49-F238E27FC236}">
                <a16:creationId xmlns:a16="http://schemas.microsoft.com/office/drawing/2014/main" id="{A824700D-AA36-C6B4-0D57-11449CFDE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4602163"/>
            <a:ext cx="1200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NZ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Arial" charset="0"/>
              </a:rPr>
              <a:t>TREND</a:t>
            </a:r>
          </a:p>
        </p:txBody>
      </p:sp>
      <p:sp>
        <p:nvSpPr>
          <p:cNvPr id="18448" name="Text Box 16">
            <a:extLst>
              <a:ext uri="{FF2B5EF4-FFF2-40B4-BE49-F238E27FC236}">
                <a16:creationId xmlns:a16="http://schemas.microsoft.com/office/drawing/2014/main" id="{8105295D-417A-995E-A8E5-158F20D6E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1936750"/>
            <a:ext cx="17510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NZ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Arial" charset="0"/>
              </a:rPr>
              <a:t>PIE CHART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29B4F21-339E-007C-12C9-8C25F5DF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Uses of ratio analysis</a:t>
            </a:r>
            <a:endParaRPr lang="en-AU" alt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2872208-227A-04A6-4AAD-C9C310EEF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57338"/>
            <a:ext cx="6348413" cy="3881437"/>
          </a:xfrm>
        </p:spPr>
        <p:txBody>
          <a:bodyPr/>
          <a:lstStyle/>
          <a:p>
            <a:pPr eaLnBrk="1" hangingPunct="1"/>
            <a:r>
              <a:rPr lang="en-AU" altLang="en-US" sz="2800">
                <a:latin typeface="Arial" panose="020B0604020202020204" pitchFamily="34" charset="0"/>
                <a:cs typeface="Arial" panose="020B0604020202020204" pitchFamily="34" charset="0"/>
              </a:rPr>
              <a:t>overcomes the difficulties in comparing entities of different sizes</a:t>
            </a:r>
          </a:p>
          <a:p>
            <a:pPr eaLnBrk="1" hangingPunct="1"/>
            <a:r>
              <a:rPr lang="en-AU" altLang="en-US" sz="2800">
                <a:latin typeface="Arial" panose="020B0604020202020204" pitchFamily="34" charset="0"/>
                <a:cs typeface="Arial" panose="020B0604020202020204" pitchFamily="34" charset="0"/>
              </a:rPr>
              <a:t>aggregates similar items into meaningful groups</a:t>
            </a:r>
          </a:p>
          <a:p>
            <a:pPr eaLnBrk="1" hangingPunct="1"/>
            <a:r>
              <a:rPr lang="en-AU" altLang="en-US" sz="2800">
                <a:latin typeface="Arial" panose="020B0604020202020204" pitchFamily="34" charset="0"/>
                <a:cs typeface="Arial" panose="020B0604020202020204" pitchFamily="34" charset="0"/>
              </a:rPr>
              <a:t>highlights significant relationships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EE6D78B-DE1B-C312-449C-B62B7B1D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Uses of ratio analysis</a:t>
            </a:r>
            <a:endParaRPr lang="en-AU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FFB7D11-BD25-C405-2929-308062253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700213"/>
            <a:ext cx="6840537" cy="3881437"/>
          </a:xfrm>
        </p:spPr>
        <p:txBody>
          <a:bodyPr/>
          <a:lstStyle/>
          <a:p>
            <a:pPr eaLnBrk="1" hangingPunct="1"/>
            <a:r>
              <a:rPr lang="en-AU" altLang="en-US" sz="2800">
                <a:latin typeface="Arial" panose="020B0604020202020204" pitchFamily="34" charset="0"/>
                <a:cs typeface="Arial" panose="020B0604020202020204" pitchFamily="34" charset="0"/>
              </a:rPr>
              <a:t>analyses information from different statements</a:t>
            </a:r>
          </a:p>
          <a:p>
            <a:pPr eaLnBrk="1" hangingPunct="1"/>
            <a:r>
              <a:rPr lang="en-AU" altLang="en-US" sz="2800">
                <a:latin typeface="Arial" panose="020B0604020202020204" pitchFamily="34" charset="0"/>
                <a:cs typeface="Arial" panose="020B0604020202020204" pitchFamily="34" charset="0"/>
              </a:rPr>
              <a:t>highlights anomalies</a:t>
            </a:r>
          </a:p>
          <a:p>
            <a:pPr eaLnBrk="1" hangingPunct="1"/>
            <a:r>
              <a:rPr lang="en-AU" altLang="en-US" sz="2800">
                <a:latin typeface="Arial" panose="020B0604020202020204" pitchFamily="34" charset="0"/>
                <a:cs typeface="Arial" panose="020B0604020202020204" pitchFamily="34" charset="0"/>
              </a:rPr>
              <a:t>serves as an independent variable in models for external evaluations</a:t>
            </a:r>
          </a:p>
          <a:p>
            <a:pPr eaLnBrk="1" hangingPunct="1"/>
            <a:r>
              <a:rPr lang="en-AU" altLang="en-US" sz="2800">
                <a:latin typeface="Arial" panose="020B0604020202020204" pitchFamily="34" charset="0"/>
                <a:cs typeface="Arial" panose="020B0604020202020204" pitchFamily="34" charset="0"/>
              </a:rPr>
              <a:t>serves as indicator or measurement tool in contracts</a:t>
            </a:r>
          </a:p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F6820CA0-41D1-A1BE-B382-B8418AEB7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NZ" altLang="en-US"/>
              <a:t>Averages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778D746A-5D69-06B4-2EAE-B3CD95099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475" y="1571625"/>
            <a:ext cx="8001000" cy="4297363"/>
          </a:xfrm>
        </p:spPr>
        <p:txBody>
          <a:bodyPr/>
          <a:lstStyle/>
          <a:p>
            <a:pPr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Earning profit, generating cash flow etc are processes which occur over a period, not at a point in time.</a:t>
            </a:r>
          </a:p>
          <a:p>
            <a:pPr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To account for this, averages are used extensively in Financial Statement evalutation. E.g. In Return on OE and Total Assets, Accounts Receivable and Inventory turnover </a:t>
            </a:r>
          </a:p>
          <a:p>
            <a:pPr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In each case the average = (Opening + Closing)/2</a:t>
            </a:r>
          </a:p>
          <a:p>
            <a:pPr eaLnBrk="1" hangingPunct="1"/>
            <a:r>
              <a:rPr lang="en-NZ" altLang="en-US" sz="2400">
                <a:latin typeface="Arial" panose="020B0604020202020204" pitchFamily="34" charset="0"/>
                <a:cs typeface="Arial" panose="020B0604020202020204" pitchFamily="34" charset="0"/>
              </a:rPr>
              <a:t>When looking for the numbers remember that the previous period’s closing is the current  period’s opening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3C9808F-CDAD-831A-87D1-0B39E8CB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/>
              <a:t>The need for comparison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4FBA795-A33B-C27F-F070-6465A84EF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412875"/>
            <a:ext cx="7704138" cy="4256088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Comparability is an enhancing qualitative characteristic (the New Zealand Framework)</a:t>
            </a:r>
          </a:p>
          <a:p>
            <a:pPr eaLnBrk="1" hangingPunct="1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calculated ratio on its own does not say much about a business - it is only when it is compared with some form of ‘benchmark’ that the information can be interpreted and evaluated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4C34491-E772-FDC1-62A9-5EFF42AA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Need for Comparison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92113C0-2419-1C70-BF6D-BA8B92B79F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371600"/>
            <a:ext cx="7704138" cy="4876800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A50021"/>
                </a:solidFill>
              </a:rPr>
              <a:t>	</a:t>
            </a:r>
            <a:r>
              <a:rPr lang="en-US" sz="2800" dirty="0">
                <a:solidFill>
                  <a:srgbClr val="000000"/>
                </a:solidFill>
              </a:rPr>
              <a:t>Bases (benchmarks) that may be used as a basis of comparison for ratio analysis include: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/>
              </a:buClr>
              <a:buFont typeface="Times" pitchFamily="112" charset="0"/>
              <a:buChar char="•"/>
              <a:defRPr/>
            </a:pPr>
            <a:r>
              <a:rPr lang="en-US" sz="2800" b="1" i="1" dirty="0">
                <a:solidFill>
                  <a:srgbClr val="000000"/>
                </a:solidFill>
              </a:rPr>
              <a:t>‘</a:t>
            </a:r>
            <a:r>
              <a:rPr lang="en-US" sz="2800" b="1" i="1" dirty="0">
                <a:solidFill>
                  <a:schemeClr val="tx1"/>
                </a:solidFill>
              </a:rPr>
              <a:t>Intertemporal’</a:t>
            </a:r>
            <a:r>
              <a:rPr lang="en-US" sz="2800" dirty="0">
                <a:solidFill>
                  <a:schemeClr val="tx1"/>
                </a:solidFill>
              </a:rPr>
              <a:t> - Based on past performance. Compare this period with previous periods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/>
              </a:buClr>
              <a:buFont typeface="Times" pitchFamily="112" charset="0"/>
              <a:buChar char="•"/>
              <a:defRPr/>
            </a:pPr>
            <a:r>
              <a:rPr lang="en-US" sz="2800" b="1" i="1" dirty="0">
                <a:solidFill>
                  <a:schemeClr val="tx1"/>
                </a:solidFill>
              </a:rPr>
              <a:t>Budget</a:t>
            </a:r>
            <a:r>
              <a:rPr lang="en-US" sz="2800" dirty="0">
                <a:solidFill>
                  <a:schemeClr val="tx1"/>
                </a:solidFill>
              </a:rPr>
              <a:t> - Based on planned performance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/>
              </a:buClr>
              <a:buFont typeface="Times" pitchFamily="112" charset="0"/>
              <a:buChar char="•"/>
              <a:defRPr/>
            </a:pPr>
            <a:r>
              <a:rPr lang="en-US" sz="2800" b="1" i="1" dirty="0">
                <a:solidFill>
                  <a:schemeClr val="tx1"/>
                </a:solidFill>
              </a:rPr>
              <a:t>Intra-industry</a:t>
            </a:r>
            <a:r>
              <a:rPr lang="en-US" sz="2800" dirty="0">
                <a:solidFill>
                  <a:schemeClr val="tx1"/>
                </a:solidFill>
              </a:rPr>
              <a:t> - Based on comparison of performance with other firms in the same industry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/>
              </a:buClr>
              <a:buFont typeface="Times" pitchFamily="112" charset="0"/>
              <a:buChar char="•"/>
              <a:defRPr/>
            </a:pPr>
            <a:r>
              <a:rPr lang="en-US" sz="2800" dirty="0">
                <a:solidFill>
                  <a:schemeClr val="tx1"/>
                </a:solidFill>
              </a:rPr>
              <a:t>Compare this entity and other entities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/>
              </a:buClr>
              <a:buFont typeface="Times" pitchFamily="112" charset="0"/>
              <a:buChar char="•"/>
              <a:defRPr/>
            </a:pPr>
            <a:r>
              <a:rPr lang="en-US" sz="2800" dirty="0">
                <a:solidFill>
                  <a:schemeClr val="tx1"/>
                </a:solidFill>
              </a:rPr>
              <a:t>Compare this entity with industry averages</a:t>
            </a:r>
          </a:p>
          <a:p>
            <a:pPr marL="593725" lvl="2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/>
              </a:buClr>
              <a:buFont typeface="Arial" charset="0"/>
              <a:buNone/>
              <a:defRPr/>
            </a:pPr>
            <a:r>
              <a:rPr lang="en-US" sz="2800" dirty="0">
                <a:solidFill>
                  <a:schemeClr val="tx1"/>
                </a:solidFill>
              </a:rPr>
              <a:t>(Source: </a:t>
            </a:r>
            <a:r>
              <a:rPr lang="en-US" sz="2800" dirty="0" err="1">
                <a:solidFill>
                  <a:schemeClr val="tx1"/>
                </a:solidFill>
              </a:rPr>
              <a:t>Atrill</a:t>
            </a:r>
            <a:r>
              <a:rPr lang="en-US" sz="2800" dirty="0">
                <a:solidFill>
                  <a:schemeClr val="tx1"/>
                </a:solidFill>
              </a:rPr>
              <a:t> et al)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/>
              </a:buClr>
              <a:buFont typeface="Times" pitchFamily="112" charset="0"/>
              <a:buChar char="•"/>
              <a:defRPr/>
            </a:pPr>
            <a:endParaRPr lang="en-US" sz="2000" dirty="0">
              <a:solidFill>
                <a:srgbClr val="000000"/>
              </a:solidFill>
            </a:endParaRPr>
          </a:p>
          <a:p>
            <a:pPr eaLnBrk="1" fontAlgn="auto" hangingPunct="1">
              <a:lnSpc>
                <a:spcPct val="50000"/>
              </a:lnSpc>
              <a:spcAft>
                <a:spcPts val="0"/>
              </a:spcAft>
              <a:buClr>
                <a:schemeClr val="tx1"/>
              </a:buClr>
              <a:buFontTx/>
              <a:buNone/>
              <a:defRPr/>
            </a:pPr>
            <a:endParaRPr lang="en-US" sz="2000" dirty="0">
              <a:solidFill>
                <a:srgbClr val="000000"/>
              </a:solidFill>
            </a:endParaRPr>
          </a:p>
          <a:p>
            <a:pPr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tx1"/>
              </a:buClr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</a:rPr>
              <a:t>	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/>
              </a:buClr>
              <a:buFont typeface="Times" pitchFamily="112" charset="0"/>
              <a:buNone/>
              <a:defRPr/>
            </a:pPr>
            <a:r>
              <a:rPr lang="en-US" sz="2000" dirty="0">
                <a:solidFill>
                  <a:srgbClr val="000000"/>
                </a:solidFill>
              </a:rPr>
              <a:t>	</a:t>
            </a:r>
            <a:endParaRPr lang="en-US" dirty="0">
              <a:solidFill>
                <a:srgbClr val="A5002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D9332C2-5CD8-3A55-0B7E-BFF78F9C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Comparison of Ratios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8C7E56F-5D3E-236F-A9EE-884EAB2E6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412875"/>
            <a:ext cx="7056437" cy="4968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Between time periods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NZIAS 1  requires disclosure of previous period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Trend analysis is a comparison over several years, often disclosed in an annual report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Between firms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With industry averages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reveals strengths and weaknesses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identifies 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raises questions for further investigation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C40BFEF-4943-106C-B4A4-1AB1006F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Ratio Classification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63C2133-0160-0358-412C-627957DB2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484313"/>
            <a:ext cx="7704137" cy="46815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A500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A500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 to list “Evaluation ratios for use with Cunningham”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Times" panose="02020603050405020304" pitchFamily="18" charset="0"/>
              <a:buChar char="•"/>
            </a:pPr>
            <a:r>
              <a:rPr lang="en-US" altLang="en-US" sz="24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Profitability 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Measure of success in wealth creation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Times" panose="02020603050405020304" pitchFamily="18" charset="0"/>
              <a:buChar char="•"/>
            </a:pPr>
            <a:r>
              <a:rPr lang="en-US" altLang="en-US" sz="24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Operating Capability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ability to sustain a given level of operations. Also reveal the effectiveness of utilisation of resources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Times" panose="02020603050405020304" pitchFamily="18" charset="0"/>
              <a:buChar char="•"/>
            </a:pPr>
            <a:r>
              <a:rPr lang="en-US" altLang="en-US" sz="24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Liquidity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The ability to meet short-term obligations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Times" panose="02020603050405020304" pitchFamily="18" charset="0"/>
              <a:buChar char="•"/>
            </a:pPr>
            <a:r>
              <a:rPr lang="en-US" altLang="en-US" sz="24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Gearing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Measure of degree of risk associated with the amount of leverage used to finance the business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27550E-A675-E214-5320-105E4E6DFDAB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851410" y="505412"/>
          <a:ext cx="6804025" cy="622993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58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7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0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effectLst/>
                        </a:rPr>
                        <a:t> </a:t>
                      </a:r>
                      <a:endParaRPr lang="en-NZ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effectLst/>
                        </a:rPr>
                        <a:t>TYPE OF RATIO</a:t>
                      </a:r>
                      <a:endParaRPr lang="en-NZ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effectLst/>
                        </a:rPr>
                        <a:t> </a:t>
                      </a:r>
                      <a:endParaRPr lang="en-NZ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PROFITABILITY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NZ" sz="9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1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Profit Margin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Net Income  x 100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Net Sales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2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Gross Profit Percentage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Gross Profit  x 100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Net Sales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3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Return on Total Assets 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(Net Income + Interest Expense) x 100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Average Total Assets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4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Return on Owner’s Equity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Net Income x 100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Average Owner’s Equity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5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NZ" sz="90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EFFICIENCY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5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Inventory Turnover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Cost of Goods Sold  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Average  Inventory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6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Number of Days in Selling Period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______365_________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Inventory Turnover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7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Accounts Receivable Turnover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Net Credit Sales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Average Accounts Receivable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8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Number of Days in Collection Period</a:t>
                      </a:r>
                      <a:endParaRPr lang="en-NZ" sz="9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365</a:t>
                      </a:r>
                      <a:endParaRPr lang="en-NZ" sz="900" u="sng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Accounts Receivable Turnover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65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NZ" sz="90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LIQUIDITY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9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Current Ratio </a:t>
                      </a:r>
                      <a:endParaRPr lang="en-NZ" sz="9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Current Assets 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Current Liabilities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4969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10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Quick Ratio</a:t>
                      </a:r>
                      <a:endParaRPr lang="en-NZ" sz="9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Quick Assets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Current Liabilities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Where Quick Assets = Cash + Accounts Receivable + Short Term Marketable Securities + Short Term  Notes Receivable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65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 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FINANCIAL GEARING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11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Debt Ratio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Total Liabilities x 100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Total Assets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12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Interest Coverage</a:t>
                      </a:r>
                      <a:endParaRPr lang="en-NZ" sz="9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Net Income + Interest Expense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Interest Expense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65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 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OTHER</a:t>
                      </a:r>
                      <a:endParaRPr lang="en-NZ" sz="9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5099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>
                          <a:effectLst/>
                        </a:rPr>
                        <a:t>13</a:t>
                      </a:r>
                      <a:endParaRPr lang="en-NZ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Sales % Increase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u="sng" dirty="0">
                          <a:solidFill>
                            <a:schemeClr val="tx1"/>
                          </a:solidFill>
                          <a:effectLst/>
                        </a:rPr>
                        <a:t>(Sales Year 2 – Sales Year 1) x 100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Sales Year 1</a:t>
                      </a:r>
                      <a:endParaRPr lang="en-NZ" sz="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011" marR="33011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cxnSp>
        <p:nvCxnSpPr>
          <p:cNvPr id="25603" name="Straight Connector 4">
            <a:extLst>
              <a:ext uri="{FF2B5EF4-FFF2-40B4-BE49-F238E27FC236}">
                <a16:creationId xmlns:a16="http://schemas.microsoft.com/office/drawing/2014/main" id="{6E6F72E5-307D-15D0-9762-C48F4D0F93F4}"/>
              </a:ext>
            </a:extLst>
          </p:cNvPr>
          <p:cNvCxnSpPr>
            <a:cxnSpLocks/>
          </p:cNvCxnSpPr>
          <p:nvPr/>
        </p:nvCxnSpPr>
        <p:spPr bwMode="auto">
          <a:xfrm>
            <a:off x="6988175" y="6878638"/>
            <a:ext cx="1304925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4" name="Straight Connector 5">
            <a:extLst>
              <a:ext uri="{FF2B5EF4-FFF2-40B4-BE49-F238E27FC236}">
                <a16:creationId xmlns:a16="http://schemas.microsoft.com/office/drawing/2014/main" id="{8ECCCFC2-15F6-0616-7C1B-0B2E9202B3FB}"/>
              </a:ext>
            </a:extLst>
          </p:cNvPr>
          <p:cNvCxnSpPr>
            <a:cxnSpLocks/>
          </p:cNvCxnSpPr>
          <p:nvPr/>
        </p:nvCxnSpPr>
        <p:spPr bwMode="auto">
          <a:xfrm>
            <a:off x="6502400" y="7767638"/>
            <a:ext cx="2219325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05" name="Rectangle 3">
            <a:extLst>
              <a:ext uri="{FF2B5EF4-FFF2-40B4-BE49-F238E27FC236}">
                <a16:creationId xmlns:a16="http://schemas.microsoft.com/office/drawing/2014/main" id="{423B5C89-3E78-DF7C-C23E-7F247462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413" y="115888"/>
            <a:ext cx="489267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tabLst>
                <a:tab pos="5759450" algn="r"/>
              </a:tabLst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tabLst>
                <a:tab pos="5759450" algn="r"/>
              </a:tabLst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tabLst>
                <a:tab pos="5759450" algn="r"/>
              </a:tabLst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tabLst>
                <a:tab pos="5759450" algn="r"/>
              </a:tabLst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tabLst>
                <a:tab pos="5759450" algn="r"/>
              </a:tabLst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tabLst>
                <a:tab pos="5759450" algn="r"/>
              </a:tabLst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tabLst>
                <a:tab pos="5759450" algn="r"/>
              </a:tabLst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tabLst>
                <a:tab pos="5759450" algn="r"/>
              </a:tabLst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tabLst>
                <a:tab pos="5759450" algn="r"/>
              </a:tabLst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200" u="sng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Analysis Ratios for use with Cunningham (Ccpy on stream and p.3 of Acme)</a:t>
            </a:r>
            <a:endParaRPr lang="en-NZ" altLang="en-US" sz="600">
              <a:solidFill>
                <a:schemeClr val="tx1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Z" altLang="en-US">
              <a:solidFill>
                <a:schemeClr val="tx1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14AF39FD-A321-393A-FA49-E867C6F47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0" y="333375"/>
            <a:ext cx="8642350" cy="863600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Arial Narrow" panose="020B0606020202030204" pitchFamily="34" charset="0"/>
                <a:cs typeface="Arial" panose="020B0604020202020204" pitchFamily="34" charset="0"/>
              </a:rPr>
              <a:t>8.3 Evaluating liquidity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7F8D974-808D-1879-33FA-7FBA699B7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25" y="1196975"/>
            <a:ext cx="8207375" cy="52625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1938" indent="-261938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Liquidity is a measure of how quickly a business can </a:t>
            </a:r>
            <a:r>
              <a:rPr lang="en-AU" altLang="en-US" sz="2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convert its assets into cash</a:t>
            </a: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to pay its bills.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External users assess how well a business manages its liquidity by studying its </a:t>
            </a:r>
            <a:r>
              <a:rPr lang="en-AU" altLang="en-US" sz="2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working capital (CA-CL)</a:t>
            </a: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In week 5 the </a:t>
            </a:r>
            <a:r>
              <a:rPr lang="en-AU" altLang="en-US" sz="2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current ratio </a:t>
            </a: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and the </a:t>
            </a:r>
            <a:r>
              <a:rPr lang="en-AU" altLang="en-US" sz="2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quick (acid-test) ratio </a:t>
            </a: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were introduced. They are two common indicators of a business’ liquidity.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AU" altLang="en-US" sz="20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Current ratio –shows the ability of the business to pay debts in the ordinary course of business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AU" altLang="en-US" sz="20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Quick ratio – shows the ability of the business to pay debts when put under pressure to do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CBBF0CD5-D4ED-6AF1-F507-EA18CB35E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647700"/>
            <a:ext cx="8642350" cy="865188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 Narrow" panose="020B0606020202030204" pitchFamily="34" charset="0"/>
                <a:cs typeface="Arial" panose="020B0604020202020204" pitchFamily="34" charset="0"/>
              </a:rPr>
              <a:t>Evaluating financial flexibility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8BDF75E-87C9-7D1C-E42B-194A82653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84325"/>
            <a:ext cx="8207375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Financial flexibility is the </a:t>
            </a:r>
            <a:r>
              <a:rPr lang="en-AU" altLang="en-US" sz="2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ability of a business to adapt to change</a:t>
            </a: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. 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Managers, owners and creditors are also interested in a business’ ability to take advantage of major, long-term business opportunities. E.g. ability to borrow more to finance a business opportunity. 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To assess long-term financial flexibility, financial statement users calculate a </a:t>
            </a:r>
            <a:r>
              <a:rPr lang="en-AU" altLang="en-US" sz="2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business’ debt ratio. </a:t>
            </a: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If the debt ratio is too high banks won’t lend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B67A5F6E-5B0A-A76C-CD9B-6021A4FEC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60350"/>
            <a:ext cx="8569325" cy="863600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Arial Narrow" panose="020B0606020202030204" pitchFamily="34" charset="0"/>
                <a:cs typeface="Arial" panose="020B0604020202020204" pitchFamily="34" charset="0"/>
              </a:rPr>
              <a:t>Evaluating profitability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96C9856-8A83-54ED-5A96-BE90B1689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1052513"/>
            <a:ext cx="8207375" cy="543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Decision makers use </a:t>
            </a:r>
            <a:r>
              <a:rPr lang="en-AU" altLang="en-US" sz="28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profitability ratios </a:t>
            </a: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to evaluate how well a business has met its profit objectives in relation to the resources invested.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Profitability ratios include </a:t>
            </a:r>
          </a:p>
          <a:p>
            <a:pPr lvl="1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–"/>
            </a:pPr>
            <a:r>
              <a:rPr lang="en-AU" alt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The </a:t>
            </a:r>
            <a:r>
              <a:rPr lang="en-AU" altLang="en-US" sz="20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profit margin </a:t>
            </a:r>
            <a:r>
              <a:rPr lang="en-AU" altLang="en-US" sz="2000" dirty="0">
                <a:solidFill>
                  <a:srgbClr val="00B0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From each dollar of sales, what is left over for the owner. Shows the impact of overhead expenses  (Week 6)</a:t>
            </a:r>
          </a:p>
          <a:p>
            <a:pPr lvl="1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–"/>
            </a:pPr>
            <a:r>
              <a:rPr lang="en-AU" alt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The </a:t>
            </a:r>
            <a:r>
              <a:rPr lang="en-AU" altLang="en-US" sz="20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gross profit percentage</a:t>
            </a:r>
            <a:r>
              <a:rPr lang="en-AU" alt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. </a:t>
            </a:r>
            <a:r>
              <a:rPr lang="en-AU" altLang="en-US" sz="2000" dirty="0">
                <a:solidFill>
                  <a:srgbClr val="00B0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How well the business traded and what is left over to cover overheads and profit (Week 6)</a:t>
            </a:r>
          </a:p>
          <a:p>
            <a:pPr lvl="1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–"/>
            </a:pPr>
            <a:r>
              <a:rPr lang="en-AU" alt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the </a:t>
            </a:r>
            <a:r>
              <a:rPr lang="en-AU" altLang="en-US" sz="20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return on total assets </a:t>
            </a:r>
            <a:r>
              <a:rPr lang="en-AU" alt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ratio. </a:t>
            </a:r>
            <a:r>
              <a:rPr lang="en-AU" altLang="en-US" sz="2000" dirty="0">
                <a:solidFill>
                  <a:srgbClr val="00B0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How well resources are used. Return on OE is profit. Return on L is interest. Therefore return on A = Profit + interest.</a:t>
            </a:r>
          </a:p>
          <a:p>
            <a:pPr lvl="1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–"/>
            </a:pPr>
            <a:r>
              <a:rPr lang="en-AU" alt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the </a:t>
            </a:r>
            <a:r>
              <a:rPr lang="en-AU" altLang="en-US" sz="2000" dirty="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return on owner’s equity </a:t>
            </a:r>
            <a:r>
              <a:rPr lang="en-AU" alt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ratio. </a:t>
            </a:r>
            <a:r>
              <a:rPr lang="en-AU" altLang="en-US" sz="2000" dirty="0">
                <a:solidFill>
                  <a:srgbClr val="00B0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How much the owner’s  investment  in the business earns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9BA1F948-DB20-9623-24AD-417868380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647700"/>
            <a:ext cx="8642350" cy="863600"/>
          </a:xfrm>
        </p:spPr>
        <p:txBody>
          <a:bodyPr/>
          <a:lstStyle/>
          <a:p>
            <a:pPr algn="ctr" eaLnBrk="1" hangingPunct="1"/>
            <a:r>
              <a:rPr lang="en-US" altLang="en-US" sz="4400">
                <a:latin typeface="Arial Narrow" panose="020B0606020202030204" pitchFamily="34" charset="0"/>
                <a:cs typeface="Arial" panose="020B0604020202020204" pitchFamily="34" charset="0"/>
              </a:rPr>
              <a:t>Evaluating operating capability</a:t>
            </a:r>
            <a:br>
              <a:rPr lang="en-US" altLang="en-US" sz="4400">
                <a:latin typeface="Arial Narrow" panose="020B0606020202030204" pitchFamily="34" charset="0"/>
                <a:cs typeface="Arial" panose="020B0604020202020204" pitchFamily="34" charset="0"/>
              </a:rPr>
            </a:br>
            <a:r>
              <a:rPr lang="en-US" altLang="en-US" sz="4400">
                <a:latin typeface="Arial Narrow" panose="020B0606020202030204" pitchFamily="34" charset="0"/>
                <a:cs typeface="Arial" panose="020B0604020202020204" pitchFamily="34" charset="0"/>
              </a:rPr>
              <a:t> -efficiency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9B188A-84CD-B30A-EDC0-52DC07CC8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84325"/>
            <a:ext cx="8207375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Operating capability refers to a business’ </a:t>
            </a:r>
            <a:r>
              <a:rPr lang="en-AU" altLang="en-US" sz="240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ability to sustain a given level of operations</a:t>
            </a:r>
            <a:r>
              <a:rPr lang="en-AU" altLang="en-US"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Information about a business’ operating capability helps in evaluating how well it is maintaining its operating level, and in predicting future changes in its operating activity.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Two common activity ratios are </a:t>
            </a:r>
            <a:r>
              <a:rPr lang="en-AU" altLang="en-US" sz="240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inventory turnover </a:t>
            </a:r>
            <a:r>
              <a:rPr lang="en-AU" altLang="en-US"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and </a:t>
            </a:r>
            <a:r>
              <a:rPr lang="en-AU" altLang="en-US" sz="240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accounts receivable turnover</a:t>
            </a:r>
            <a:r>
              <a:rPr lang="en-AU" altLang="en-US"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It is critical to turn Inventory and Receivables into cash as quickly as possible to enable payment of creditors and/or to purchase non current assets.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AU" altLang="en-US" sz="2800">
              <a:solidFill>
                <a:schemeClr val="tx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DA2B6C9A-337B-F593-23EF-85B4F7A6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6915150" cy="1163638"/>
          </a:xfrm>
        </p:spPr>
        <p:txBody>
          <a:bodyPr/>
          <a:lstStyle/>
          <a:p>
            <a:r>
              <a:rPr lang="en-NZ" altLang="en-US"/>
              <a:t>Coffee Supreme</a:t>
            </a:r>
            <a:br>
              <a:rPr lang="en-NZ" altLang="en-US"/>
            </a:br>
            <a:r>
              <a:rPr lang="en-NZ" altLang="en-US" sz="2200"/>
              <a:t>INCOME STATEMENT FOR THE YEAR ENDING 31 MARCH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BDC768C-81E7-3B9D-59A8-6351111694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7088" y="2205038"/>
          <a:ext cx="6624637" cy="3754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66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4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2019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2018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2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solidFill>
                            <a:srgbClr val="FF0000"/>
                          </a:solidFill>
                          <a:effectLst/>
                        </a:rPr>
                        <a:t>Sales (on credit)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solidFill>
                            <a:srgbClr val="FF0000"/>
                          </a:solidFill>
                          <a:effectLst/>
                        </a:rPr>
                        <a:t>116,800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solidFill>
                            <a:srgbClr val="FF0000"/>
                          </a:solidFill>
                          <a:effectLst/>
                        </a:rPr>
                        <a:t>100,000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Opening Inventory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effectLst/>
                        </a:rPr>
                        <a:t>20,000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2,000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Add Purchases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effectLst/>
                        </a:rPr>
                        <a:t>131,000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98,300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2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Cost of Goods Available for Resale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>
                          <a:effectLst/>
                        </a:rPr>
                        <a:t>151,000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effectLst/>
                        </a:rPr>
                        <a:t>100,300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effectLst/>
                        </a:rPr>
                        <a:t>Less Closing Inventory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effectLst/>
                        </a:rPr>
                        <a:t>56,000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effectLst/>
                        </a:rPr>
                        <a:t>20,000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 of Sales</a:t>
                      </a: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80,300</a:t>
                      </a: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NZ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NZ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NZ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solidFill>
                            <a:srgbClr val="FF0000"/>
                          </a:solidFill>
                          <a:effectLst/>
                        </a:rPr>
                        <a:t>Gross Profit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solidFill>
                            <a:srgbClr val="FF0000"/>
                          </a:solidFill>
                          <a:effectLst/>
                        </a:rPr>
                        <a:t>21,800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1900" dirty="0">
                          <a:solidFill>
                            <a:srgbClr val="FF0000"/>
                          </a:solidFill>
                          <a:effectLst/>
                        </a:rPr>
                        <a:t>19,700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769" name="Rectangle 2">
            <a:extLst>
              <a:ext uri="{FF2B5EF4-FFF2-40B4-BE49-F238E27FC236}">
                <a16:creationId xmlns:a16="http://schemas.microsoft.com/office/drawing/2014/main" id="{C86D4B09-5308-2E35-6AC1-4883DE36D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3663" y="-649288"/>
            <a:ext cx="91440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Z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5844-F42D-22CE-BAEF-887F1C0D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NZ" dirty="0"/>
              <a:t>INVENTORY TURNOVER </a:t>
            </a:r>
            <a:br>
              <a:rPr lang="en-NZ" dirty="0"/>
            </a:br>
            <a:r>
              <a:rPr lang="en-NZ" sz="2700" dirty="0"/>
              <a:t>= Cost of Goods Sold/ Average Inventory</a:t>
            </a:r>
            <a:br>
              <a:rPr lang="en-NZ" dirty="0"/>
            </a:br>
            <a:endParaRPr lang="en-NZ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31819E-DA9E-4629-0720-EE793B297D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3850" y="1930400"/>
          <a:ext cx="8820151" cy="3367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7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2019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2018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2017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8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Cost of Goods Sold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95,000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80,300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7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Inventory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56,000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20,000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2,000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</a:rPr>
                        <a:t> Average Inventory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</a:rPr>
                        <a:t>(56,000+20,000)/2 = 38,000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</a:rPr>
                        <a:t>(20,000+2,000)/2= </a:t>
                      </a:r>
                    </a:p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11,000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Inventory Turnover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95,000/38000=</a:t>
                      </a:r>
                    </a:p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2.5x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80,300/11,000 =7.3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 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8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Days in Selling Period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365/2.5= 146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365/7.3= 50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 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784" name="Rectangle 1">
            <a:extLst>
              <a:ext uri="{FF2B5EF4-FFF2-40B4-BE49-F238E27FC236}">
                <a16:creationId xmlns:a16="http://schemas.microsoft.com/office/drawing/2014/main" id="{247299B8-7703-22C0-5F67-71507BDA3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3663" y="-869950"/>
            <a:ext cx="91440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Z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A3C69C6D-866A-F3FA-EE72-22849568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6194425" cy="658813"/>
          </a:xfrm>
        </p:spPr>
        <p:txBody>
          <a:bodyPr/>
          <a:lstStyle/>
          <a:p>
            <a:pPr eaLnBrk="1" hangingPunct="1"/>
            <a:r>
              <a:rPr lang="en-NZ" altLang="en-US" sz="2400"/>
              <a:t>What does Inventory Turnover tell us?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5F6117EE-F65C-0906-BC2B-20C0B843E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75" y="1557338"/>
            <a:ext cx="6348413" cy="3881437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quickly coffee is coming in and leaving the business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time taken from receiving goods to selling them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Coffee Supreme this has lengthened from 50 days to 146 days which is not a positive trend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Risks and Costs</a:t>
            </a: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 deterioration and theft</a:t>
            </a: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Costs of storage</a:t>
            </a: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Opportunity cost of money tied up in inventory</a:t>
            </a: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en-NZ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en-NZ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en-NZ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en-NZ" alt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F44E-0FEF-CA63-1B32-8822669FE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NZ" dirty="0"/>
              <a:t>Coffee Supreme </a:t>
            </a:r>
            <a:br>
              <a:rPr lang="en-NZ" dirty="0"/>
            </a:br>
            <a:r>
              <a:rPr lang="en-NZ" sz="2700" dirty="0"/>
              <a:t>RECEIVABLES TURNOVER = Net Credit Sales/ Average Receivables</a:t>
            </a:r>
            <a:br>
              <a:rPr lang="en-NZ" sz="2700" dirty="0"/>
            </a:br>
            <a:endParaRPr lang="en-NZ" sz="27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5B8F0B-A7F9-E2FA-86F3-B223A93B40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2133600"/>
          <a:ext cx="9072562" cy="38227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2019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2018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2017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Sales (all on credit)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116,800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100,000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Accounts Receivable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44,000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20,000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20,000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 Average Receivable 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(44,000 + 20,000)/2 = </a:t>
                      </a: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</a:rPr>
                        <a:t>32,000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(20,000 + 20,000) / 2 = </a:t>
                      </a: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</a:rPr>
                        <a:t>20,000</a:t>
                      </a:r>
                      <a:r>
                        <a:rPr lang="en-NZ" sz="2000" dirty="0">
                          <a:effectLst/>
                        </a:rPr>
                        <a:t> 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Receivables Turnover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116,800/32,000= </a:t>
                      </a: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</a:rPr>
                        <a:t>3.65x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10,000/20,000 = </a:t>
                      </a: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55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>
                          <a:effectLst/>
                        </a:rPr>
                        <a:t>Days in Collection Period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365/3.65  = </a:t>
                      </a: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</a:rPr>
                        <a:t>100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365/5 = </a:t>
                      </a:r>
                      <a:r>
                        <a:rPr lang="en-NZ" sz="2000" dirty="0">
                          <a:solidFill>
                            <a:srgbClr val="FF0000"/>
                          </a:solidFill>
                          <a:effectLst/>
                        </a:rPr>
                        <a:t>73</a:t>
                      </a:r>
                      <a:endParaRPr lang="en-NZ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NZ" sz="2000" dirty="0">
                          <a:effectLst/>
                        </a:rPr>
                        <a:t> 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22EB41A8-4505-121B-BA92-66FC5886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NZ" altLang="en-US" sz="2800"/>
              <a:t>What does Accounts Receivables turnover tell us?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942491B4-1CD4-993A-6E47-120AA9E3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00213"/>
            <a:ext cx="8001000" cy="4297362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long credit customers are taking to pay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effective the credit policy of the business is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Risks and costs</a:t>
            </a: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may be late in paying its Accounts Payable and therefore get a bad name with suppliers</a:t>
            </a: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customers may never pay – bad debts</a:t>
            </a: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Opportunity cost of cash not received on time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Coffee Supreme customers are taking 27 days longer to pay in 2019. This is not good. Need to know the credit terms but even 73 is a lot longer than usual 35 days (20</a:t>
            </a:r>
            <a:r>
              <a:rPr lang="en-NZ" alt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NZ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month following)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848E0391-9E57-4C01-845F-5062A5FD4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13" y="612775"/>
            <a:ext cx="8640762" cy="1006475"/>
          </a:xfrm>
        </p:spPr>
        <p:txBody>
          <a:bodyPr/>
          <a:lstStyle/>
          <a:p>
            <a:pPr algn="ctr" eaLnBrk="1" hangingPunct="1"/>
            <a:r>
              <a:rPr lang="en-US" altLang="en-US" sz="4000">
                <a:latin typeface="Arial Narrow" panose="020B0606020202030204" pitchFamily="34" charset="0"/>
                <a:cs typeface="Arial" panose="020B0604020202020204" pitchFamily="34" charset="0"/>
              </a:rPr>
              <a:t>8.5 Limitations of the income  </a:t>
            </a:r>
            <a:br>
              <a:rPr lang="en-US" altLang="en-US" sz="4000">
                <a:latin typeface="Arial Narrow" panose="020B0606020202030204" pitchFamily="34" charset="0"/>
                <a:cs typeface="Arial" panose="020B0604020202020204" pitchFamily="34" charset="0"/>
              </a:rPr>
            </a:br>
            <a:r>
              <a:rPr lang="en-US" altLang="en-US" sz="4000">
                <a:latin typeface="Arial Narrow" panose="020B0606020202030204" pitchFamily="34" charset="0"/>
                <a:cs typeface="Arial" panose="020B0604020202020204" pitchFamily="34" charset="0"/>
              </a:rPr>
              <a:t>statement and the balance sheet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D46B647-E31A-2432-2102-5171A914E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71663"/>
            <a:ext cx="8207375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The income statement and the balance sheet</a:t>
            </a:r>
            <a:r>
              <a:rPr lang="en-AU" altLang="en-US"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do not provide much information about a business’ cash management because they are based on </a:t>
            </a:r>
            <a:r>
              <a:rPr lang="en-AU" altLang="en-US" sz="2800">
                <a:solidFill>
                  <a:srgbClr val="C75F09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accrual accounting</a:t>
            </a:r>
            <a:r>
              <a:rPr lang="en-AU" altLang="en-US"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altLang="en-US"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The statement of cash flows is needed as an additional financial statement.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3530</TotalTime>
  <Words>1748</Words>
  <Application>Microsoft Office PowerPoint</Application>
  <PresentationFormat>On-screen Show (4:3)</PresentationFormat>
  <Paragraphs>288</Paragraphs>
  <Slides>26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Narrow</vt:lpstr>
      <vt:lpstr>Calibri</vt:lpstr>
      <vt:lpstr>Times</vt:lpstr>
      <vt:lpstr>Times New Roman</vt:lpstr>
      <vt:lpstr>Trebuchet MS</vt:lpstr>
      <vt:lpstr>Wingdings 3</vt:lpstr>
      <vt:lpstr>Facet</vt:lpstr>
      <vt:lpstr>Worksheet</vt:lpstr>
      <vt:lpstr>Financial Statement Evaluation     </vt:lpstr>
      <vt:lpstr>Financial Statement evaluation </vt:lpstr>
      <vt:lpstr>The information needs of the various users</vt:lpstr>
      <vt:lpstr>Tools - Horizontal Analysis </vt:lpstr>
      <vt:lpstr>Tools - Vertical Analysis (Common Size)</vt:lpstr>
      <vt:lpstr>Financial Ratios</vt:lpstr>
      <vt:lpstr>Ratio Forms</vt:lpstr>
      <vt:lpstr>Charts</vt:lpstr>
      <vt:lpstr>Uses of ratio analysis</vt:lpstr>
      <vt:lpstr>Uses of ratio analysis</vt:lpstr>
      <vt:lpstr>Averages</vt:lpstr>
      <vt:lpstr>The need for comparison</vt:lpstr>
      <vt:lpstr>The Need for Comparison</vt:lpstr>
      <vt:lpstr> Comparison of Ratios</vt:lpstr>
      <vt:lpstr>Financial Ratio Classification</vt:lpstr>
      <vt:lpstr>PowerPoint Presentation</vt:lpstr>
      <vt:lpstr>8.3 Evaluating liquidity</vt:lpstr>
      <vt:lpstr>Evaluating financial flexibility</vt:lpstr>
      <vt:lpstr>Evaluating profitability</vt:lpstr>
      <vt:lpstr>Evaluating operating capability  -efficiency</vt:lpstr>
      <vt:lpstr>Coffee Supreme INCOME STATEMENT FOR THE YEAR ENDING 31 MARCH</vt:lpstr>
      <vt:lpstr>INVENTORY TURNOVER  = Cost of Goods Sold/ Average Inventory </vt:lpstr>
      <vt:lpstr>What does Inventory Turnover tell us?</vt:lpstr>
      <vt:lpstr>Coffee Supreme  RECEIVABLES TURNOVER = Net Credit Sales/ Average Receivables </vt:lpstr>
      <vt:lpstr>What does Accounts Receivables turnover tell us?</vt:lpstr>
      <vt:lpstr>8.5 Limitations of the income   statement and the balance sheet</vt:lpstr>
    </vt:vector>
  </TitlesOfParts>
  <Company>Cengage Learning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Donna Beaty</dc:creator>
  <cp:lastModifiedBy>Christelle Roos</cp:lastModifiedBy>
  <cp:revision>259</cp:revision>
  <cp:lastPrinted>2017-01-05T02:12:52Z</cp:lastPrinted>
  <dcterms:created xsi:type="dcterms:W3CDTF">2011-06-30T23:50:00Z</dcterms:created>
  <dcterms:modified xsi:type="dcterms:W3CDTF">2025-03-03T01:09:58Z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2023-04-24T00:53:35Z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45ec73f1-3069-4f36-b615-08bcf1374f62</vt:lpwstr>
  </property>
  <property fmtid="{D5CDD505-2E9C-101B-9397-08002B2CF9AE}" pid="8" name="MSIP_Label_bd9e4d68-54d0-40a5-8c9a-85a36c87352c_ContentBits">
    <vt:lpwstr>0</vt:lpwstr>
  </property>
</Properties>
</file>