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881" r:id="rId2"/>
  </p:sldMasterIdLst>
  <p:notesMasterIdLst>
    <p:notesMasterId r:id="rId24"/>
  </p:notesMasterIdLst>
  <p:handoutMasterIdLst>
    <p:handoutMasterId r:id="rId25"/>
  </p:handoutMasterIdLst>
  <p:sldIdLst>
    <p:sldId id="257" r:id="rId3"/>
    <p:sldId id="261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87" r:id="rId13"/>
    <p:sldId id="288" r:id="rId14"/>
    <p:sldId id="271" r:id="rId15"/>
    <p:sldId id="272" r:id="rId16"/>
    <p:sldId id="273" r:id="rId17"/>
    <p:sldId id="289" r:id="rId18"/>
    <p:sldId id="290" r:id="rId19"/>
    <p:sldId id="291" r:id="rId20"/>
    <p:sldId id="302" r:id="rId21"/>
    <p:sldId id="303" r:id="rId22"/>
    <p:sldId id="304" r:id="rId2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40" d="100"/>
        <a:sy n="140" d="100"/>
      </p:scale>
      <p:origin x="0" y="-549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83B446-95B2-40E9-9F7E-041952E29C6A}" type="doc">
      <dgm:prSet loTypeId="urn:microsoft.com/office/officeart/2005/8/layout/equation1" loCatId="process" qsTypeId="urn:microsoft.com/office/officeart/2005/8/quickstyle/simple1" qsCatId="simple" csTypeId="urn:microsoft.com/office/officeart/2005/8/colors/accent6_1" csCatId="accent6" phldr="1"/>
      <dgm:spPr/>
    </dgm:pt>
    <dgm:pt modelId="{EE64435A-3A56-4D55-931A-897A7E06A126}">
      <dgm:prSet phldrT="[Text]" custT="1"/>
      <dgm:spPr/>
      <dgm:t>
        <a:bodyPr/>
        <a:lstStyle/>
        <a:p>
          <a:r>
            <a:rPr lang="en-AU" sz="2000" dirty="0">
              <a:latin typeface="Arial Narrow" pitchFamily="34" charset="0"/>
            </a:rPr>
            <a:t>Book value</a:t>
          </a:r>
        </a:p>
      </dgm:t>
    </dgm:pt>
    <dgm:pt modelId="{C232CDC4-AD2E-41F0-8B7E-6EF1A723EE34}" type="parTrans" cxnId="{B305B07A-6716-44F5-8375-12D6DEE69450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B882A3E2-BA25-4428-B8A5-3F4E5FFB27FF}" type="sibTrans" cxnId="{B305B07A-6716-44F5-8375-12D6DEE69450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B90CF9E6-E90B-4092-86B5-3B7D96854279}">
      <dgm:prSet phldrT="[Text]" custT="1"/>
      <dgm:spPr/>
      <dgm:t>
        <a:bodyPr/>
        <a:lstStyle/>
        <a:p>
          <a:r>
            <a:rPr lang="en-AU" sz="2000" dirty="0">
              <a:latin typeface="Arial Narrow" pitchFamily="34" charset="0"/>
            </a:rPr>
            <a:t>Original cost</a:t>
          </a:r>
        </a:p>
      </dgm:t>
    </dgm:pt>
    <dgm:pt modelId="{3CE1F98C-C3BF-4C42-8DC2-3705299F8A71}" type="parTrans" cxnId="{1CFB7E43-56A6-4C2E-9F5F-F55C920A10F1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B39C66DD-C583-4C6A-805A-BAD3B6D192C7}" type="sibTrans" cxnId="{1CFB7E43-56A6-4C2E-9F5F-F55C920A10F1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FA524BAB-EB89-4849-81C1-611D2BA92B9D}">
      <dgm:prSet phldrT="[Text]"/>
      <dgm:spPr/>
      <dgm:t>
        <a:bodyPr/>
        <a:lstStyle/>
        <a:p>
          <a:r>
            <a:rPr lang="en-AU" dirty="0">
              <a:latin typeface="Arial Narrow" pitchFamily="34" charset="0"/>
            </a:rPr>
            <a:t>Accumulated depreciation</a:t>
          </a:r>
        </a:p>
      </dgm:t>
    </dgm:pt>
    <dgm:pt modelId="{229D5DF4-C54E-4111-982D-922E183D7BEC}" type="parTrans" cxnId="{68EE80D9-2E9D-440F-A7F6-039AF5016A98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60213943-2AC4-4647-ADB2-7231BD6FD902}" type="sibTrans" cxnId="{68EE80D9-2E9D-440F-A7F6-039AF5016A98}">
      <dgm:prSet/>
      <dgm:spPr/>
      <dgm:t>
        <a:bodyPr/>
        <a:lstStyle/>
        <a:p>
          <a:endParaRPr lang="en-AU">
            <a:latin typeface="Arial Narrow" pitchFamily="34" charset="0"/>
          </a:endParaRPr>
        </a:p>
      </dgm:t>
    </dgm:pt>
    <dgm:pt modelId="{A17F2EFD-99F7-4BD9-AF57-2526F38E00B3}" type="pres">
      <dgm:prSet presAssocID="{8583B446-95B2-40E9-9F7E-041952E29C6A}" presName="linearFlow" presStyleCnt="0">
        <dgm:presLayoutVars>
          <dgm:dir/>
          <dgm:resizeHandles val="exact"/>
        </dgm:presLayoutVars>
      </dgm:prSet>
      <dgm:spPr/>
    </dgm:pt>
    <dgm:pt modelId="{08B8DE15-B3E4-4C2A-B8AF-99424E8222BA}" type="pres">
      <dgm:prSet presAssocID="{EE64435A-3A56-4D55-931A-897A7E06A126}" presName="node" presStyleLbl="node1" presStyleIdx="0" presStyleCnt="3">
        <dgm:presLayoutVars>
          <dgm:bulletEnabled val="1"/>
        </dgm:presLayoutVars>
      </dgm:prSet>
      <dgm:spPr/>
    </dgm:pt>
    <dgm:pt modelId="{06F3A3ED-4514-4361-8703-C2576D668C2F}" type="pres">
      <dgm:prSet presAssocID="{B882A3E2-BA25-4428-B8A5-3F4E5FFB27FF}" presName="spacerL" presStyleCnt="0"/>
      <dgm:spPr/>
    </dgm:pt>
    <dgm:pt modelId="{6D7BE85D-5B09-4187-BEBF-C4FFCFBE92CD}" type="pres">
      <dgm:prSet presAssocID="{B882A3E2-BA25-4428-B8A5-3F4E5FFB27FF}" presName="sibTrans" presStyleLbl="sibTrans2D1" presStyleIdx="0" presStyleCnt="2"/>
      <dgm:spPr>
        <a:prstGeom prst="mathEqual">
          <a:avLst/>
        </a:prstGeom>
      </dgm:spPr>
    </dgm:pt>
    <dgm:pt modelId="{E134F15E-6A6B-489C-9E3C-7BF10A62F5B2}" type="pres">
      <dgm:prSet presAssocID="{B882A3E2-BA25-4428-B8A5-3F4E5FFB27FF}" presName="spacerR" presStyleCnt="0"/>
      <dgm:spPr/>
    </dgm:pt>
    <dgm:pt modelId="{B9235125-9DBE-433E-A999-AF3C57DE39A8}" type="pres">
      <dgm:prSet presAssocID="{B90CF9E6-E90B-4092-86B5-3B7D96854279}" presName="node" presStyleLbl="node1" presStyleIdx="1" presStyleCnt="3">
        <dgm:presLayoutVars>
          <dgm:bulletEnabled val="1"/>
        </dgm:presLayoutVars>
      </dgm:prSet>
      <dgm:spPr/>
    </dgm:pt>
    <dgm:pt modelId="{07B7E4E2-731F-4441-90E7-DBEDA8F0757A}" type="pres">
      <dgm:prSet presAssocID="{B39C66DD-C583-4C6A-805A-BAD3B6D192C7}" presName="spacerL" presStyleCnt="0"/>
      <dgm:spPr/>
    </dgm:pt>
    <dgm:pt modelId="{01D4ED92-6E37-438D-A2EC-8D73C3683715}" type="pres">
      <dgm:prSet presAssocID="{B39C66DD-C583-4C6A-805A-BAD3B6D192C7}" presName="sibTrans" presStyleLbl="sibTrans2D1" presStyleIdx="1" presStyleCnt="2"/>
      <dgm:spPr>
        <a:prstGeom prst="mathMinus">
          <a:avLst/>
        </a:prstGeom>
      </dgm:spPr>
    </dgm:pt>
    <dgm:pt modelId="{E415B7A2-0F33-4FE0-8525-9FBA7AA8EF0F}" type="pres">
      <dgm:prSet presAssocID="{B39C66DD-C583-4C6A-805A-BAD3B6D192C7}" presName="spacerR" presStyleCnt="0"/>
      <dgm:spPr/>
    </dgm:pt>
    <dgm:pt modelId="{65E93E42-4923-4D47-894C-AA3AF23C4D54}" type="pres">
      <dgm:prSet presAssocID="{FA524BAB-EB89-4849-81C1-611D2BA92B9D}" presName="node" presStyleLbl="node1" presStyleIdx="2" presStyleCnt="3">
        <dgm:presLayoutVars>
          <dgm:bulletEnabled val="1"/>
        </dgm:presLayoutVars>
      </dgm:prSet>
      <dgm:spPr/>
    </dgm:pt>
  </dgm:ptLst>
  <dgm:cxnLst>
    <dgm:cxn modelId="{00F56904-C6CD-2549-831E-5FFB7C3CACB0}" type="presOf" srcId="{EE64435A-3A56-4D55-931A-897A7E06A126}" destId="{08B8DE15-B3E4-4C2A-B8AF-99424E8222BA}" srcOrd="0" destOrd="0" presId="urn:microsoft.com/office/officeart/2005/8/layout/equation1"/>
    <dgm:cxn modelId="{9CD0F125-EA80-414F-B9C0-0F6A63532EF9}" type="presOf" srcId="{FA524BAB-EB89-4849-81C1-611D2BA92B9D}" destId="{65E93E42-4923-4D47-894C-AA3AF23C4D54}" srcOrd="0" destOrd="0" presId="urn:microsoft.com/office/officeart/2005/8/layout/equation1"/>
    <dgm:cxn modelId="{DA54A72C-BAD5-9F49-914B-F1F962516202}" type="presOf" srcId="{B39C66DD-C583-4C6A-805A-BAD3B6D192C7}" destId="{01D4ED92-6E37-438D-A2EC-8D73C3683715}" srcOrd="0" destOrd="0" presId="urn:microsoft.com/office/officeart/2005/8/layout/equation1"/>
    <dgm:cxn modelId="{1CFB7E43-56A6-4C2E-9F5F-F55C920A10F1}" srcId="{8583B446-95B2-40E9-9F7E-041952E29C6A}" destId="{B90CF9E6-E90B-4092-86B5-3B7D96854279}" srcOrd="1" destOrd="0" parTransId="{3CE1F98C-C3BF-4C42-8DC2-3705299F8A71}" sibTransId="{B39C66DD-C583-4C6A-805A-BAD3B6D192C7}"/>
    <dgm:cxn modelId="{08BDEE78-CEAA-8840-BD8C-D26FFE63C023}" type="presOf" srcId="{B90CF9E6-E90B-4092-86B5-3B7D96854279}" destId="{B9235125-9DBE-433E-A999-AF3C57DE39A8}" srcOrd="0" destOrd="0" presId="urn:microsoft.com/office/officeart/2005/8/layout/equation1"/>
    <dgm:cxn modelId="{B305B07A-6716-44F5-8375-12D6DEE69450}" srcId="{8583B446-95B2-40E9-9F7E-041952E29C6A}" destId="{EE64435A-3A56-4D55-931A-897A7E06A126}" srcOrd="0" destOrd="0" parTransId="{C232CDC4-AD2E-41F0-8B7E-6EF1A723EE34}" sibTransId="{B882A3E2-BA25-4428-B8A5-3F4E5FFB27FF}"/>
    <dgm:cxn modelId="{07BA3A7C-A16B-AF46-953E-8E2A0DCB4513}" type="presOf" srcId="{8583B446-95B2-40E9-9F7E-041952E29C6A}" destId="{A17F2EFD-99F7-4BD9-AF57-2526F38E00B3}" srcOrd="0" destOrd="0" presId="urn:microsoft.com/office/officeart/2005/8/layout/equation1"/>
    <dgm:cxn modelId="{2D5459CF-3026-2245-8B0B-FE6DCF0AEF46}" type="presOf" srcId="{B882A3E2-BA25-4428-B8A5-3F4E5FFB27FF}" destId="{6D7BE85D-5B09-4187-BEBF-C4FFCFBE92CD}" srcOrd="0" destOrd="0" presId="urn:microsoft.com/office/officeart/2005/8/layout/equation1"/>
    <dgm:cxn modelId="{68EE80D9-2E9D-440F-A7F6-039AF5016A98}" srcId="{8583B446-95B2-40E9-9F7E-041952E29C6A}" destId="{FA524BAB-EB89-4849-81C1-611D2BA92B9D}" srcOrd="2" destOrd="0" parTransId="{229D5DF4-C54E-4111-982D-922E183D7BEC}" sibTransId="{60213943-2AC4-4647-ADB2-7231BD6FD902}"/>
    <dgm:cxn modelId="{4D9225B5-2D06-DF47-B237-075363E2D8E9}" type="presParOf" srcId="{A17F2EFD-99F7-4BD9-AF57-2526F38E00B3}" destId="{08B8DE15-B3E4-4C2A-B8AF-99424E8222BA}" srcOrd="0" destOrd="0" presId="urn:microsoft.com/office/officeart/2005/8/layout/equation1"/>
    <dgm:cxn modelId="{EF13F4A5-C696-0A45-A975-705669923D3B}" type="presParOf" srcId="{A17F2EFD-99F7-4BD9-AF57-2526F38E00B3}" destId="{06F3A3ED-4514-4361-8703-C2576D668C2F}" srcOrd="1" destOrd="0" presId="urn:microsoft.com/office/officeart/2005/8/layout/equation1"/>
    <dgm:cxn modelId="{CB95F553-6019-534C-BFEE-D041D2B9E3D8}" type="presParOf" srcId="{A17F2EFD-99F7-4BD9-AF57-2526F38E00B3}" destId="{6D7BE85D-5B09-4187-BEBF-C4FFCFBE92CD}" srcOrd="2" destOrd="0" presId="urn:microsoft.com/office/officeart/2005/8/layout/equation1"/>
    <dgm:cxn modelId="{B31E0DF5-7948-C34F-8277-F12880487146}" type="presParOf" srcId="{A17F2EFD-99F7-4BD9-AF57-2526F38E00B3}" destId="{E134F15E-6A6B-489C-9E3C-7BF10A62F5B2}" srcOrd="3" destOrd="0" presId="urn:microsoft.com/office/officeart/2005/8/layout/equation1"/>
    <dgm:cxn modelId="{716B5ABE-4D9C-854D-8B03-63D5615B2992}" type="presParOf" srcId="{A17F2EFD-99F7-4BD9-AF57-2526F38E00B3}" destId="{B9235125-9DBE-433E-A999-AF3C57DE39A8}" srcOrd="4" destOrd="0" presId="urn:microsoft.com/office/officeart/2005/8/layout/equation1"/>
    <dgm:cxn modelId="{77874C39-F71B-0D47-A3CA-C4473A79F751}" type="presParOf" srcId="{A17F2EFD-99F7-4BD9-AF57-2526F38E00B3}" destId="{07B7E4E2-731F-4441-90E7-DBEDA8F0757A}" srcOrd="5" destOrd="0" presId="urn:microsoft.com/office/officeart/2005/8/layout/equation1"/>
    <dgm:cxn modelId="{05C6F723-4A80-E343-8304-CA5BFB747718}" type="presParOf" srcId="{A17F2EFD-99F7-4BD9-AF57-2526F38E00B3}" destId="{01D4ED92-6E37-438D-A2EC-8D73C3683715}" srcOrd="6" destOrd="0" presId="urn:microsoft.com/office/officeart/2005/8/layout/equation1"/>
    <dgm:cxn modelId="{DA3DCE1C-DFE9-E240-9CF4-0C65980FAB78}" type="presParOf" srcId="{A17F2EFD-99F7-4BD9-AF57-2526F38E00B3}" destId="{E415B7A2-0F33-4FE0-8525-9FBA7AA8EF0F}" srcOrd="7" destOrd="0" presId="urn:microsoft.com/office/officeart/2005/8/layout/equation1"/>
    <dgm:cxn modelId="{14ED2183-DD60-7C4D-8BC1-761ABB10C64C}" type="presParOf" srcId="{A17F2EFD-99F7-4BD9-AF57-2526F38E00B3}" destId="{65E93E42-4923-4D47-894C-AA3AF23C4D54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B8DE15-B3E4-4C2A-B8AF-99424E8222BA}">
      <dsp:nvSpPr>
        <dsp:cNvPr id="0" name=""/>
        <dsp:cNvSpPr/>
      </dsp:nvSpPr>
      <dsp:spPr>
        <a:xfrm>
          <a:off x="1235" y="837602"/>
          <a:ext cx="1637162" cy="16371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>
              <a:latin typeface="Arial Narrow" pitchFamily="34" charset="0"/>
            </a:rPr>
            <a:t>Book value</a:t>
          </a:r>
        </a:p>
      </dsp:txBody>
      <dsp:txXfrm>
        <a:off x="240992" y="1077359"/>
        <a:ext cx="1157648" cy="1157648"/>
      </dsp:txXfrm>
    </dsp:sp>
    <dsp:sp modelId="{6D7BE85D-5B09-4187-BEBF-C4FFCFBE92CD}">
      <dsp:nvSpPr>
        <dsp:cNvPr id="0" name=""/>
        <dsp:cNvSpPr/>
      </dsp:nvSpPr>
      <dsp:spPr>
        <a:xfrm>
          <a:off x="1771335" y="1181406"/>
          <a:ext cx="949554" cy="949554"/>
        </a:xfrm>
        <a:prstGeom prst="mathEqual">
          <a:avLst/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1500" kern="1200">
            <a:latin typeface="Arial Narrow" pitchFamily="34" charset="0"/>
          </a:endParaRPr>
        </a:p>
      </dsp:txBody>
      <dsp:txXfrm>
        <a:off x="1897198" y="1377014"/>
        <a:ext cx="697828" cy="558338"/>
      </dsp:txXfrm>
    </dsp:sp>
    <dsp:sp modelId="{B9235125-9DBE-433E-A999-AF3C57DE39A8}">
      <dsp:nvSpPr>
        <dsp:cNvPr id="0" name=""/>
        <dsp:cNvSpPr/>
      </dsp:nvSpPr>
      <dsp:spPr>
        <a:xfrm>
          <a:off x="2853826" y="837602"/>
          <a:ext cx="1637162" cy="16371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2000" kern="1200" dirty="0">
              <a:latin typeface="Arial Narrow" pitchFamily="34" charset="0"/>
            </a:rPr>
            <a:t>Original cost</a:t>
          </a:r>
        </a:p>
      </dsp:txBody>
      <dsp:txXfrm>
        <a:off x="3093583" y="1077359"/>
        <a:ext cx="1157648" cy="1157648"/>
      </dsp:txXfrm>
    </dsp:sp>
    <dsp:sp modelId="{01D4ED92-6E37-438D-A2EC-8D73C3683715}">
      <dsp:nvSpPr>
        <dsp:cNvPr id="0" name=""/>
        <dsp:cNvSpPr/>
      </dsp:nvSpPr>
      <dsp:spPr>
        <a:xfrm>
          <a:off x="4623926" y="1181406"/>
          <a:ext cx="949554" cy="949554"/>
        </a:xfrm>
        <a:prstGeom prst="mathMinus">
          <a:avLst/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1500" kern="1200">
            <a:latin typeface="Arial Narrow" pitchFamily="34" charset="0"/>
          </a:endParaRPr>
        </a:p>
      </dsp:txBody>
      <dsp:txXfrm>
        <a:off x="4749789" y="1544515"/>
        <a:ext cx="697828" cy="223336"/>
      </dsp:txXfrm>
    </dsp:sp>
    <dsp:sp modelId="{65E93E42-4923-4D47-894C-AA3AF23C4D54}">
      <dsp:nvSpPr>
        <dsp:cNvPr id="0" name=""/>
        <dsp:cNvSpPr/>
      </dsp:nvSpPr>
      <dsp:spPr>
        <a:xfrm>
          <a:off x="5706418" y="837602"/>
          <a:ext cx="1637162" cy="163716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>
              <a:latin typeface="Arial Narrow" pitchFamily="34" charset="0"/>
            </a:rPr>
            <a:t>Accumulated depreciation</a:t>
          </a:r>
        </a:p>
      </dsp:txBody>
      <dsp:txXfrm>
        <a:off x="5946175" y="1077359"/>
        <a:ext cx="1157648" cy="1157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78B9ACB-C505-3825-7AA9-3186BF93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8449B3-5EF5-6DD0-4621-B53A33C3AC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4CD2026-8295-4ABC-8DC1-E3C67E7BDF76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2B9F2E-E0D6-E216-5698-E26B8088BC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3C223-A48D-D29B-77BA-A8CE43D27C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F22134F-C4C6-4C29-84C2-684441A4757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21F6AB-0F17-2E2B-3B2A-BB9232631B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0E2D9E-BF5F-27A1-E539-C6C9A5B88C0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D9D8475-CA3F-4A0E-B103-D9E6AEF5D453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0FBF182-217D-A20C-65B3-1A7BBC9AFE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5821CAB-E2FA-4D6B-8FFA-692814B991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noProof="0"/>
              <a:t>Click to 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3DB73A-E5BB-EA81-0BBE-D089B4C25C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B0433-3EFE-E3D6-9A34-250236F48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10D1099-D108-4709-B715-043DB66C590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19A0037-4298-86C6-13C8-AAE983AD62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F7A5252-D7F1-1E1D-97EF-95DC5A045B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8654080-EA5C-3CAB-826F-C7602BF7A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E4B5B5A-FB84-B93E-F11C-33ABCCF54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A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835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7374"/>
            <a:ext cx="8229600" cy="884238"/>
          </a:xfrm>
        </p:spPr>
        <p:txBody>
          <a:bodyPr/>
          <a:lstStyle>
            <a:lvl1pPr algn="ctr" defTabSz="457200" rtl="0" fontAlgn="auto">
              <a:spcBef>
                <a:spcPct val="0"/>
              </a:spcBef>
              <a:spcAft>
                <a:spcPts val="0"/>
              </a:spcAft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985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ctr" defTabSz="457200" rtl="0" fontAlgn="auto">
              <a:spcBef>
                <a:spcPct val="0"/>
              </a:spcBef>
              <a:spcAft>
                <a:spcPts val="0"/>
              </a:spcAft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7596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80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defTabSz="457200" rtl="0" fontAlgn="base">
              <a:spcBef>
                <a:spcPct val="0"/>
              </a:spcBef>
              <a:spcAft>
                <a:spcPct val="0"/>
              </a:spcAft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3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5388C2-917B-A24A-EFF7-A8418F48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9380005C-E726-42A3-9336-DB50D1AF20F9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7EEE7-513A-5C3B-8453-CC70E17F7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1C41B-831C-D971-71AA-8282078B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6F80825B-42B2-43E3-8494-D2CB51BD3F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504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59C945-7531-C28E-C2A1-75F9C711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4338B18-B3C0-403D-AD16-9207893BB7B3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B33DA8-BAEE-DFDC-ED3E-07C0623E8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1D0F6-EDD9-B00B-7EAE-E949FF2E3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2F34AA37-3257-4A6F-B764-2B03627A1E0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1987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98497-C71C-7381-D44D-70B8CAA7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00BD3E62-B6DF-474F-BFAE-77F2D59A0D93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78210-5AE5-E0B9-A67C-3E77E5FD2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3182A-C17B-9963-2A79-95A4E084D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5C9E1DE8-4409-414A-AD6B-BB6E9F24DA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1554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016B70-AC6D-FDD7-66D4-808C48FBF6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D8F0737E-963F-48FF-85A1-0647C635CAB3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7CD4E-1C1C-0158-9F51-DB65093E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1101-B2E6-01D0-15C5-C4BBAADCB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8EE38CB6-D5D4-46A5-AC78-BD628AD760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9256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DCF08-9449-E7C2-B777-2219ABC6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3A4BBA6E-FB1C-4177-B6E4-306EA8B4F3F8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6BA5F-0BAA-352C-2276-C3FF66961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0766B-7294-79D5-5FDE-0DDBDE932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C6F69916-28BB-44A7-B948-5EE3BB49A6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0228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F1D59-094A-1293-212D-10BF5EE7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E6CEF266-74CC-4D6C-925C-C6FA2EA14422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F549BB-DB5D-E63B-4E5F-2F3374D5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B97BAD-D903-876A-A4C8-E945A4E09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fld id="{F447031D-54F9-427C-9C1C-BBEFBD655F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6052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 defTabSz="457200" rtl="0" fontAlgn="auto">
              <a:spcBef>
                <a:spcPct val="0"/>
              </a:spcBef>
              <a:spcAft>
                <a:spcPts val="0"/>
              </a:spcAft>
              <a:defRPr lang="en-US" sz="4000" kern="12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49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87B3C-D7FF-A9F4-66BB-97CA29F31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5384D-351B-48E5-B314-79BDBB639349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0971A-AC81-B73A-B223-DD8D813E1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EEBAA-2F4A-E80D-BDAF-AE226B1A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8DEAD9-8AE1-42AD-9FD0-56FC263946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82281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BE59A-CDBD-5E45-83B7-C0174C609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21C8ED-0078-4FDA-BFB2-140C6251D149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A972B-8E71-9837-96AB-B8A68C4AB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8BD79-B8DA-685F-530F-E5AE49554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8D3E4-EAE4-4EC9-B0B9-80600E3BC2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3451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37FCE-3EE3-8EE6-BE45-23CB9C99B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6BE7A-1802-48A0-9A09-A4BD4773A224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4E997-C414-6968-9878-76B097138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D5692-6AFB-3932-962E-007A071B0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28FD59-2C79-44B7-8040-65D8E0272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1097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B5BF965-5091-EE44-E7B4-AF6DDC90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9FB23-1AF0-4258-860C-C971D632A5BB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624C8A-36B7-FD70-F2BC-90D80644A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55C3A66-6647-680D-0D33-F5EB87E3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EEC24E-29B8-4675-96FB-F36A38C7899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6247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7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77637E8-BAED-53C8-E5C2-3DC9C1458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E756D-462E-458F-981B-528EF890E4C7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D369F41-9B89-98CE-711E-DC96D0C0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32353BA-798A-6C34-EE60-B8D50CAF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C91B4-5FAC-43E3-9EC4-DE677D6B1B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32264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38A6723-E112-3566-2744-E1BBF660F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92D6A1-7A1D-461F-9883-7A9003F4FAC8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1EDC08-4910-C5F7-19DC-A39B6BCF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973C127-87EE-3564-E14F-A9253893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5EDE0-37CB-43F2-BE37-40594DE73D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85368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FE0C95B-C827-E2AF-C9FC-7E1976300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B3BE3-8F49-4733-9E62-A392BF393520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3F9DB64-6CDB-5BD3-0B59-C3E7790EB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1CDA44A-3E14-B227-8F11-08AFB9DA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AD212-DCFC-47FE-8118-65BDFF8D3DE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6970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AE21DAD-E186-2F51-B8A6-01442CD7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64C12E-B701-438A-BA2D-9558933BD55A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249027F-4DFA-0376-C213-D148F4090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1E70171-A271-A654-2488-03F82AE4A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882CC-E165-4985-88DD-6EED8617EC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93890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7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3D04538-9559-4E3B-C2E1-F6D1AB6AF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681321-0999-4DCC-ABB8-45F729145F20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1B0AB8-A914-C731-CAB7-5734C3793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B159CBC-89A5-FBBB-DB85-2DD1BB118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4061E-E16F-43EF-B95D-40C32CB902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6248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585D7-7F3A-26BA-1DFC-0DCE6D616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9F71-A507-4092-B4E1-CD77584D13F3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7CEA8-9295-4490-D251-F153F5C90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BEE861-E508-86DC-3F64-FF6931BB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F9DF96-BEAB-45CC-A64B-4F25C7938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94208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12639-2ED5-F0D2-B376-8F32B589D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D454F-32B4-4F19-AA15-F4C25CEE5A11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C9E3A-1FC3-1C07-F094-5D930C354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7E295-6DBC-50E0-5689-A98D60C03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17D7E9-ED0D-4974-B51C-7E859789BB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4235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78DDE2-F9B7-C730-A146-DB9F4CC5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80010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9DEFBC32-842B-9D08-AD70-07050F551EE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2057400"/>
            <a:ext cx="8001000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/>
              <a:t>Click to edit Master text styles</a:t>
            </a:r>
          </a:p>
          <a:p>
            <a:pPr lvl="1"/>
            <a:r>
              <a:rPr lang="en-AU" altLang="en-US"/>
              <a:t>SecondClick to edit Master title style</a:t>
            </a:r>
            <a:endParaRPr lang="en-US" altLang="en-US"/>
          </a:p>
          <a:p>
            <a:pPr lvl="1"/>
            <a:r>
              <a:rPr lang="en-AU" altLang="en-US"/>
              <a:t> level</a:t>
            </a:r>
          </a:p>
          <a:p>
            <a:pPr lvl="2"/>
            <a:r>
              <a:rPr lang="en-AU" altLang="en-US"/>
              <a:t>Third level</a:t>
            </a:r>
          </a:p>
          <a:p>
            <a:pPr lvl="3"/>
            <a:r>
              <a:rPr lang="en-AU" altLang="en-US"/>
              <a:t>Fourth level</a:t>
            </a:r>
          </a:p>
          <a:p>
            <a:pPr lvl="4"/>
            <a:r>
              <a:rPr lang="en-AU" altLang="en-US"/>
              <a:t>Fifth level</a:t>
            </a: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01" r:id="rId2"/>
    <p:sldLayoutId id="2147484902" r:id="rId3"/>
    <p:sldLayoutId id="2147484903" r:id="rId4"/>
    <p:sldLayoutId id="2147484904" r:id="rId5"/>
    <p:sldLayoutId id="2147484918" r:id="rId6"/>
    <p:sldLayoutId id="2147484919" r:id="rId7"/>
    <p:sldLayoutId id="2147484920" r:id="rId8"/>
    <p:sldLayoutId id="2147484921" r:id="rId9"/>
    <p:sldLayoutId id="2147484922" r:id="rId10"/>
    <p:sldLayoutId id="2147484923" r:id="rId11"/>
    <p:sldLayoutId id="2147484905" r:id="rId12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000" kern="1200" cap="all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MS PGothic" panose="020B0600070205080204" pitchFamily="34" charset="-128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ＭＳ Ｐゴシック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ＭＳ Ｐゴシック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ＭＳ Ｐゴシック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" pitchFamily="34" charset="0"/>
          <a:ea typeface="ＭＳ Ｐゴシック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/>
          <a:ea typeface="MS PGothic" panose="020B0600070205080204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A54782C5-F55D-1887-691F-B797FF8CB54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F33BE28B-6282-7DB6-CCA4-B47044C31A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63B85-1DA9-D5B3-45E7-D98856FB91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CACD690-2DC7-4390-A19D-87CA83106F0E}" type="datetimeFigureOut">
              <a:rPr lang="en-US" altLang="en-US"/>
              <a:pPr>
                <a:defRPr/>
              </a:pPr>
              <a:t>2/24/2025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D7C2F-6B83-282E-1907-890D262A2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B60108-F5C9-A6C5-50D1-FE56D75A23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61BA1E2-0CAF-4A93-A531-43BFC81120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6" r:id="rId1"/>
    <p:sldLayoutId id="2147484907" r:id="rId2"/>
    <p:sldLayoutId id="2147484908" r:id="rId3"/>
    <p:sldLayoutId id="2147484909" r:id="rId4"/>
    <p:sldLayoutId id="2147484910" r:id="rId5"/>
    <p:sldLayoutId id="2147484911" r:id="rId6"/>
    <p:sldLayoutId id="2147484912" r:id="rId7"/>
    <p:sldLayoutId id="2147484913" r:id="rId8"/>
    <p:sldLayoutId id="2147484914" r:id="rId9"/>
    <p:sldLayoutId id="2147484915" r:id="rId10"/>
    <p:sldLayoutId id="2147484916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  <a:ea typeface="MS PGothic" panose="020B0600070205080204" pitchFamily="34" charset="-128"/>
          <a:cs typeface="ＭＳ Ｐゴシック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9807A4-A3D9-2C38-3ADD-B57ADCF5C0B1}"/>
              </a:ext>
            </a:extLst>
          </p:cNvPr>
          <p:cNvSpPr txBox="1"/>
          <p:nvPr/>
        </p:nvSpPr>
        <p:spPr>
          <a:xfrm>
            <a:off x="3203575" y="776288"/>
            <a:ext cx="3168650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4000" cap="all" dirty="0">
                <a:solidFill>
                  <a:schemeClr val="bg2">
                    <a:lumMod val="50000"/>
                  </a:schemeClr>
                </a:solidFill>
                <a:latin typeface="Arial"/>
                <a:ea typeface="+mj-ea"/>
                <a:cs typeface="Arial"/>
              </a:rPr>
              <a:t>CHAPTER 8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AF07B41-6B8F-6F29-B41A-D910F5074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05150"/>
            <a:ext cx="7559675" cy="163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AU" altLang="en-US"/>
              <a:t>The balance sheet: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AU" altLang="en-US"/>
              <a:t>Components and applications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AU" altLang="en-US" sz="36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60D29-347D-F290-CFEA-9F1E846B9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63500"/>
            <a:ext cx="8229600" cy="496888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Learning objectives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423442D6-FD4B-A3F6-E453-CB25934EF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788" y="842963"/>
            <a:ext cx="8704262" cy="517842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After reading this chapter, students should be able to do the following: </a:t>
            </a:r>
          </a:p>
          <a:p>
            <a:pPr marL="0" indent="0"/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8.1 Explain the purpose of the balance sheet and the link to the income statement. </a:t>
            </a:r>
          </a:p>
          <a:p>
            <a:pPr marL="0" indent="0"/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8.2 Understand the relationship between the accounting equation and the balance sheet. </a:t>
            </a:r>
          </a:p>
          <a:p>
            <a:pPr marL="0" indent="0"/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C2C44-9171-59AC-2C45-402531A45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838" y="0"/>
            <a:ext cx="8229600" cy="884238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Key questions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7F48691A-6E5B-0BAC-C153-E16F501DA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65175"/>
            <a:ext cx="8001000" cy="4297363"/>
          </a:xfrm>
        </p:spPr>
        <p:txBody>
          <a:bodyPr/>
          <a:lstStyle/>
          <a:p>
            <a:pPr marL="457200" indent="-457200">
              <a:buFont typeface="Calibri" panose="020F0502020204030204" pitchFamily="34" charset="0"/>
              <a:buAutoNum type="arabicPeriod"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What information does a balance sheet convey to users of accounting information?</a:t>
            </a:r>
          </a:p>
          <a:p>
            <a:pPr marL="457200" indent="-457200">
              <a:buFont typeface="Calibri" panose="020F0502020204030204" pitchFamily="34" charset="0"/>
              <a:buAutoNum type="arabicPeriod"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Why is it important to classify assets and liabilities into groups when preparing a balance sheet? </a:t>
            </a:r>
          </a:p>
          <a:p>
            <a:pPr marL="457200" indent="-457200"/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3832B-A8DD-7648-1C93-5C13BA1DF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68263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8.1 Why the balance sheet is important 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3FE369F0-D21A-4B73-D5EF-482FCC365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" y="1484313"/>
            <a:ext cx="8001000" cy="4297362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800" b="1">
                <a:latin typeface="Arial" panose="020B0604020202020204" pitchFamily="34" charset="0"/>
                <a:cs typeface="Arial" panose="020B0604020202020204" pitchFamily="34" charset="0"/>
              </a:rPr>
              <a:t>What assets do you own?</a:t>
            </a: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 balance sheet provides information that helps internal and external users to evaluate a business’s ability to achieve its primary goals of earning a satisfactory proﬁt and remaining solvent. </a:t>
            </a: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So the income statement reports on a business’s actions over a period of time, representing the ‘ﬂow’ of a business’s operating activities.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4BE65-E75E-2FE9-C9A7-4B535591C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9713"/>
            <a:ext cx="8229600" cy="885825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8.1 Why the balance sheet is important 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83B231E-8FCC-84AC-2017-90897EFC6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6025"/>
            <a:ext cx="8534400" cy="5237163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 b="1">
                <a:latin typeface="Arial" panose="020B0604020202020204" pitchFamily="34" charset="0"/>
                <a:cs typeface="Arial" panose="020B0604020202020204" pitchFamily="34" charset="0"/>
              </a:rPr>
              <a:t>Why users need both the balance sheet and the income statement </a:t>
            </a: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An investor analyses a balance sheet to take stock of a business’s ﬁnancial resources.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Corporate social responsibility (CSR) disclosure is also becoming an important part of the balance sheets of businesses.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14277-0CC9-F223-0D4B-6D8DAFA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239713"/>
            <a:ext cx="8229600" cy="885825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8.2 The accounting equation </a:t>
            </a:r>
            <a:br>
              <a:rPr lang="en-AU" sz="2800" cap="none"/>
            </a:br>
            <a:r>
              <a:rPr lang="en-AU" sz="2800" cap="none"/>
              <a:t>and the balance sheet 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9BBE18CF-5733-6E44-78C9-29F3BE2BB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303338"/>
            <a:ext cx="8401050" cy="478948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The ﬁnancial accounting process is based on a simple equation: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Economic resources = Claims on economic resources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Using accounting terminology, we restated the equation as follows: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Assets = Liabilities + Owner’s equity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The equality of the assets to the liabilities plus owner’s equity is the reason a business’s statement of ﬁnancial position is often called a balance sheet.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F88D-2026-146A-7275-3DBE4061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8" y="60325"/>
            <a:ext cx="8964612" cy="884238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8.2 The accounting equation and the balance sheet </a:t>
            </a:r>
          </a:p>
        </p:txBody>
      </p:sp>
      <p:pic>
        <p:nvPicPr>
          <p:cNvPr id="18435" name="Content Placeholder 3">
            <a:extLst>
              <a:ext uri="{FF2B5EF4-FFF2-40B4-BE49-F238E27FC236}">
                <a16:creationId xmlns:a16="http://schemas.microsoft.com/office/drawing/2014/main" id="{4770EE42-5701-F36D-FE99-9A51EC3E0E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0538" y="1314450"/>
            <a:ext cx="6419850" cy="3830638"/>
          </a:xfrm>
        </p:spPr>
      </p:pic>
      <p:sp>
        <p:nvSpPr>
          <p:cNvPr id="18436" name="Rectangle 4">
            <a:extLst>
              <a:ext uri="{FF2B5EF4-FFF2-40B4-BE49-F238E27FC236}">
                <a16:creationId xmlns:a16="http://schemas.microsoft.com/office/drawing/2014/main" id="{C046DC9F-61F3-1A2C-D34F-CB31221BA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44563"/>
            <a:ext cx="80994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b="1"/>
              <a:t>Case Exhibit 8.1 Café Revive’s balance sheet accounts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A1440824-7357-4A19-6CBE-74DFD7321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5313363"/>
            <a:ext cx="75326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000"/>
              <a:t>The report form of balance sheet is common because it is easier to show the accounts vertically on a standard sheet of paper.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4E3FB-633F-9281-4CD1-8AAAAE9DB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063" y="50800"/>
            <a:ext cx="8502650" cy="1001713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8.2 The accounting equation and the balance sheet 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4A95E8BC-4E4F-762E-8AB3-6F64A139E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9700" y="2312988"/>
            <a:ext cx="3462338" cy="2339975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Café Revive’s balance sheet is called a classiﬁed balance sheet because the balance sheet shows subtotals for assets, liabilities and owner’s equity in related groupings.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en-US" sz="1800" b="1">
                <a:latin typeface="Arial" panose="020B0604020202020204" pitchFamily="34" charset="0"/>
                <a:cs typeface="Arial" panose="020B0604020202020204" pitchFamily="34" charset="0"/>
              </a:rPr>
              <a:t>				</a:t>
            </a: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460" name="Picture 3">
            <a:extLst>
              <a:ext uri="{FF2B5EF4-FFF2-40B4-BE49-F238E27FC236}">
                <a16:creationId xmlns:a16="http://schemas.microsoft.com/office/drawing/2014/main" id="{E8CC39E6-AC8E-65AC-635F-4A16E05634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50" y="1341438"/>
            <a:ext cx="4100513" cy="446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Box 2">
            <a:extLst>
              <a:ext uri="{FF2B5EF4-FFF2-40B4-BE49-F238E27FC236}">
                <a16:creationId xmlns:a16="http://schemas.microsoft.com/office/drawing/2014/main" id="{F8E214F4-DDDA-DB95-BB44-C270D1811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900113"/>
            <a:ext cx="4700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AU" altLang="en-US" sz="1800" b="1"/>
              <a:t>Case Exhibit 8.2 Classiﬁed balance sheet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EDF5-28CE-3A05-189C-F946AEF80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8275"/>
            <a:ext cx="9144000" cy="884238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8.2 The accounting equation and the balance sheet 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CD51CBE-C916-7EB6-CBFF-E8AB69798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3" y="1128713"/>
            <a:ext cx="8507412" cy="4821237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Assets 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are a business’s economic resources that it expects will provide future beneﬁts to the business.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Current assets are cash and other assets that the business expects to convert into cash, sell or use up within one year.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Examples of </a:t>
            </a:r>
            <a:r>
              <a:rPr lang="en-AU" altLang="en-US" sz="24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assets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cash</a:t>
            </a: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marketable securities</a:t>
            </a: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receivables</a:t>
            </a: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inventory</a:t>
            </a:r>
          </a:p>
          <a:p>
            <a:pPr marL="0" indent="0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prepaid items.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7275-3F7D-DDC3-6662-AB19C3E2A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98450"/>
            <a:ext cx="9144000" cy="538163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8.2 The accounting equation and the balance sheet </a:t>
            </a:r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F94C3F08-F15C-A2BA-07EE-2F983C44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888" y="1052513"/>
            <a:ext cx="8594725" cy="5689600"/>
          </a:xfrm>
        </p:spPr>
        <p:txBody>
          <a:bodyPr/>
          <a:lstStyle/>
          <a:p>
            <a:r>
              <a:rPr lang="en-AU" altLang="en-US" sz="20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Non-current assets </a:t>
            </a:r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– Any item that is not classified as a Current Asset. </a:t>
            </a:r>
          </a:p>
          <a:p>
            <a:r>
              <a:rPr lang="en-AU" altLang="en-US" sz="2000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assets </a:t>
            </a:r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include items such as notes receivable, government bonds, bonds and share capital of companies, and other securities.</a:t>
            </a:r>
          </a:p>
          <a:p>
            <a:r>
              <a:rPr lang="en-AU" altLang="en-US" sz="20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Property and equipment </a:t>
            </a:r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includes all the physical, long-term assets used in the operations of a business - often referred to as ﬁxed assets or operating assets because of their relative permanence in the business’s operations.</a:t>
            </a:r>
          </a:p>
          <a:p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altLang="en-US" sz="20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book value of an asset </a:t>
            </a:r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is its original cost minus the related accumulated depreciation. </a:t>
            </a:r>
          </a:p>
          <a:p>
            <a:r>
              <a:rPr lang="en-AU" altLang="en-US" sz="20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Accumulated depreciation </a:t>
            </a:r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is the total amount of depreciation expense recorded over the life of an asset to date; thus, it is the portion of the asset’s cost that has been ‘used up’ to earn revenues to 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2077128-7298-5A95-F821-13CE2687ADCB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50825" y="647700"/>
            <a:ext cx="8642350" cy="86360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defRPr/>
            </a:pPr>
            <a:r>
              <a:rPr altLang="en-US" cap="none">
                <a:latin typeface="Arial Narrow" panose="020B0606020202030204" pitchFamily="34" charset="0"/>
                <a:cs typeface="Arial" panose="020B0604020202020204" pitchFamily="34" charset="0"/>
              </a:rPr>
              <a:t>Current and Non-current Assets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EC5989-D8FA-1EB7-2859-776E7B4301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341438"/>
            <a:ext cx="8207375" cy="467836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1800"/>
              </a:spcAft>
              <a:defRPr/>
            </a:pPr>
            <a:r>
              <a:rPr lang="en-AU" altLang="en-US" sz="2000" dirty="0">
                <a:latin typeface="Arial Narrow" panose="020B0606020202030204" pitchFamily="34" charset="0"/>
                <a:ea typeface="ＭＳ Ｐゴシック" panose="020B0600070205080204" pitchFamily="34" charset="-128"/>
              </a:rPr>
              <a:t>How are current and non-current assets differentiated? Ask	</a:t>
            </a:r>
          </a:p>
          <a:p>
            <a:pPr lvl="1" eaLnBrk="1" hangingPunct="1">
              <a:spcBef>
                <a:spcPct val="0"/>
              </a:spcBef>
              <a:spcAft>
                <a:spcPts val="1800"/>
              </a:spcAft>
              <a:defRPr/>
            </a:pPr>
            <a:r>
              <a:rPr lang="en-AU" altLang="en-US" sz="2000" dirty="0">
                <a:latin typeface="Arial Narrow" panose="020B0606020202030204" pitchFamily="34" charset="0"/>
                <a:ea typeface="ＭＳ Ｐゴシック" panose="020B0600070205080204" pitchFamily="34" charset="-128"/>
              </a:rPr>
              <a:t>What is the intention of the business when it acquires the asset?</a:t>
            </a:r>
          </a:p>
          <a:p>
            <a:pPr lvl="1" eaLnBrk="1" hangingPunct="1">
              <a:spcBef>
                <a:spcPct val="0"/>
              </a:spcBef>
              <a:spcAft>
                <a:spcPts val="1800"/>
              </a:spcAft>
              <a:defRPr/>
            </a:pPr>
            <a:r>
              <a:rPr lang="en-AU" altLang="en-US" sz="2000" dirty="0">
                <a:latin typeface="Arial Narrow" panose="020B0606020202030204" pitchFamily="34" charset="0"/>
                <a:ea typeface="ＭＳ Ｐゴシック" panose="020B0600070205080204" pitchFamily="34" charset="-128"/>
              </a:rPr>
              <a:t>Is it meant for use or sale?</a:t>
            </a:r>
          </a:p>
          <a:p>
            <a:pPr lvl="1" eaLnBrk="1" hangingPunct="1">
              <a:spcBef>
                <a:spcPct val="0"/>
              </a:spcBef>
              <a:spcAft>
                <a:spcPts val="1800"/>
              </a:spcAft>
              <a:defRPr/>
            </a:pPr>
            <a:r>
              <a:rPr lang="en-AU" altLang="en-US" sz="2000" dirty="0">
                <a:latin typeface="Arial Narrow" panose="020B0606020202030204" pitchFamily="34" charset="0"/>
                <a:ea typeface="ＭＳ Ｐゴシック" panose="020B0600070205080204" pitchFamily="34" charset="-128"/>
              </a:rPr>
              <a:t>For example a van for sale at a vehicle sales yard is a current asset, but when it is bought by a furniture removal business, to that business it is a non-current asset</a:t>
            </a:r>
            <a:r>
              <a:rPr lang="en-AU" altLang="en-US" sz="2000" dirty="0">
                <a:ea typeface="ＭＳ Ｐゴシック" panose="020B0600070205080204" pitchFamily="34" charset="-128"/>
              </a:rPr>
              <a:t>.</a:t>
            </a:r>
          </a:p>
          <a:p>
            <a:pPr marL="457200" lvl="1" indent="0" eaLnBrk="1" hangingPunct="1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None/>
              <a:defRPr/>
            </a:pPr>
            <a:r>
              <a:rPr lang="en-AU" altLang="en-US" sz="2000" dirty="0">
                <a:latin typeface="Arial Narrow" panose="020B0606020202030204" pitchFamily="34" charset="0"/>
                <a:ea typeface="ＭＳ Ｐゴシック" panose="020B0600070205080204" pitchFamily="34" charset="-128"/>
              </a:rPr>
              <a:t>Assets are grouped and then listed on the Balance Sheet in their </a:t>
            </a:r>
            <a:r>
              <a:rPr lang="en-AU" altLang="en-US" sz="2000" dirty="0">
                <a:solidFill>
                  <a:srgbClr val="C75F09"/>
                </a:solidFill>
                <a:latin typeface="Arial Narrow" panose="020B0606020202030204" pitchFamily="34" charset="0"/>
                <a:ea typeface="ＭＳ Ｐゴシック" panose="020B0600070205080204" pitchFamily="34" charset="-128"/>
              </a:rPr>
              <a:t>order of liquidity</a:t>
            </a:r>
            <a:r>
              <a:rPr lang="en-AU" altLang="en-US" sz="2000" dirty="0">
                <a:latin typeface="Arial Narrow" panose="020B0606020202030204" pitchFamily="34" charset="0"/>
                <a:ea typeface="ＭＳ Ｐゴシック" panose="020B0600070205080204" pitchFamily="34" charset="-128"/>
              </a:rPr>
              <a:t>.</a:t>
            </a:r>
          </a:p>
          <a:p>
            <a:pPr marL="457200" lvl="1" indent="0" eaLnBrk="1" hangingPunct="1">
              <a:spcBef>
                <a:spcPct val="0"/>
              </a:spcBef>
              <a:spcAft>
                <a:spcPts val="1800"/>
              </a:spcAft>
              <a:buFont typeface="Arial" panose="020B0604020202020204" pitchFamily="34" charset="0"/>
              <a:buNone/>
              <a:defRPr/>
            </a:pPr>
            <a:br>
              <a:rPr lang="en-AU" altLang="en-US" sz="2000" dirty="0">
                <a:ea typeface="ＭＳ Ｐゴシック" panose="020B0600070205080204" pitchFamily="34" charset="-128"/>
              </a:rPr>
            </a:br>
            <a:r>
              <a:rPr lang="en-AU" altLang="en-US" sz="2000" dirty="0">
                <a:ea typeface="ＭＳ Ｐゴシック" panose="020B0600070205080204" pitchFamily="34" charset="-128"/>
              </a:rPr>
              <a:t>									</a:t>
            </a:r>
          </a:p>
          <a:p>
            <a:pPr eaLnBrk="1" hangingPunct="1">
              <a:spcBef>
                <a:spcPct val="0"/>
              </a:spcBef>
              <a:spcAft>
                <a:spcPts val="1800"/>
              </a:spcAft>
              <a:defRPr/>
            </a:pPr>
            <a:endParaRPr lang="en-AU" altLang="en-US" sz="2800" dirty="0">
              <a:latin typeface="Arial Narrow" panose="020B060602020203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5E53-BEAF-274E-E178-9D15FC4E5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AU" altLang="en-US">
                <a:latin typeface="Arial Narrow" panose="020B0606020202030204" pitchFamily="34" charset="0"/>
              </a:rPr>
              <a:t>The cost of a non-current asset</a:t>
            </a:r>
            <a:endParaRPr lang="en-NZ">
              <a:latin typeface="Arial Narrow" panose="020B0606020202030204" pitchFamily="34" charset="0"/>
            </a:endParaRP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6ACC921D-94EB-3A53-1FA2-4903013EB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84325"/>
            <a:ext cx="8001000" cy="4297363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AU" altLang="en-US" sz="2600">
                <a:latin typeface="Arial" panose="020B0604020202020204" pitchFamily="34" charset="0"/>
                <a:cs typeface="Arial" panose="020B0604020202020204" pitchFamily="34" charset="0"/>
              </a:rPr>
              <a:t>Includes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at acquisition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all reasonabl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 and necessary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expenditures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 incurred to place the asset in a position and condition ready for use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subsequent to acquisition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expenditures</a:t>
            </a:r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 which enhance the future economic benefits of the asset beyond those initially expected;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and/or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extend the useful life of the asset</a:t>
            </a:r>
            <a:endParaRPr lang="en-AU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NZ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A36B-1F1F-3865-3D7D-DE5C77A53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9713"/>
            <a:ext cx="9144000" cy="885825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8.2 The accounting equation and the balance sheet 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3CE099CC-816F-9639-314A-B2887E3E5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413" y="1233488"/>
            <a:ext cx="8640762" cy="4932362"/>
          </a:xfrm>
        </p:spPr>
        <p:txBody>
          <a:bodyPr/>
          <a:lstStyle/>
          <a:p>
            <a:r>
              <a:rPr lang="en-AU" altLang="en-US" sz="22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Liabilities</a:t>
            </a:r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 are the economic obligations (debts) of a business.</a:t>
            </a:r>
          </a:p>
          <a:p>
            <a:endParaRPr lang="en-AU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AU" altLang="en-US" sz="22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liabilities </a:t>
            </a:r>
            <a:r>
              <a:rPr lang="en-AU" altLang="en-US" sz="2200">
                <a:latin typeface="Arial" panose="020B0604020202020204" pitchFamily="34" charset="0"/>
                <a:cs typeface="Arial" panose="020B0604020202020204" pitchFamily="34" charset="0"/>
              </a:rPr>
              <a:t>are obligations that the business expects to pay within one year by using current assets. Including: </a:t>
            </a:r>
          </a:p>
          <a:p>
            <a:pPr lvl="1"/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accounts payable and salaries payable</a:t>
            </a:r>
          </a:p>
          <a:p>
            <a:pPr lvl="1"/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unearned revenues</a:t>
            </a:r>
          </a:p>
          <a:p>
            <a:pPr lvl="1"/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short-term loans and notes (and interest) payable.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BA33-FC87-2C13-7CE3-D2FEA7B1F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225"/>
            <a:ext cx="9144000" cy="704850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8.2 The accounting equation and the balance sheet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8B8FC-5F87-0B25-4182-0CC8AB420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79525"/>
            <a:ext cx="8001000" cy="4297363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AU" sz="2200" b="1" dirty="0">
                <a:solidFill>
                  <a:schemeClr val="accent1">
                    <a:lumMod val="75000"/>
                  </a:schemeClr>
                </a:solidFill>
                <a:ea typeface="ＭＳ Ｐゴシック" panose="020B0600070205080204" pitchFamily="34" charset="-128"/>
              </a:rPr>
              <a:t>Non-current (long-term) liabilities </a:t>
            </a:r>
            <a:r>
              <a:rPr lang="en-AU" sz="2200" dirty="0">
                <a:ea typeface="ＭＳ Ｐゴシック" panose="020B0600070205080204" pitchFamily="34" charset="-128"/>
              </a:rPr>
              <a:t>are obligations that a business does not expect to pay within the next year. Examples:</a:t>
            </a:r>
          </a:p>
          <a:p>
            <a:pPr lvl="1">
              <a:buFont typeface="Lucida Grande"/>
              <a:buChar char="-"/>
              <a:defRPr/>
            </a:pPr>
            <a:r>
              <a:rPr lang="en-AU" sz="2000" dirty="0">
                <a:ea typeface="ＭＳ Ｐゴシック" panose="020B0600070205080204" pitchFamily="34" charset="-128"/>
              </a:rPr>
              <a:t>long-term notes payable </a:t>
            </a:r>
          </a:p>
          <a:p>
            <a:pPr lvl="1">
              <a:buFont typeface="Lucida Grande"/>
              <a:buChar char="-"/>
              <a:defRPr/>
            </a:pPr>
            <a:r>
              <a:rPr lang="en-AU" sz="2000" dirty="0">
                <a:ea typeface="ＭＳ Ｐゴシック" panose="020B0600070205080204" pitchFamily="34" charset="-128"/>
              </a:rPr>
              <a:t>mortgages payable </a:t>
            </a:r>
          </a:p>
          <a:p>
            <a:pPr lvl="1">
              <a:buFont typeface="Lucida Grande"/>
              <a:buChar char="-"/>
              <a:defRPr/>
            </a:pPr>
            <a:r>
              <a:rPr lang="en-AU" sz="2000" dirty="0">
                <a:ea typeface="ＭＳ Ｐゴシック" panose="020B0600070205080204" pitchFamily="34" charset="-128"/>
              </a:rPr>
              <a:t>bonds payable.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D97A-9822-27BB-7744-7B26DF331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25"/>
            <a:ext cx="9144000" cy="884238"/>
          </a:xfrm>
        </p:spPr>
        <p:txBody>
          <a:bodyPr/>
          <a:lstStyle/>
          <a:p>
            <a:pPr>
              <a:defRPr/>
            </a:pPr>
            <a:r>
              <a:rPr lang="en-AU" sz="2800" cap="none"/>
              <a:t>8.2 The accounting equation and the balance sheet </a:t>
            </a:r>
            <a:endParaRPr lang="en-AU" sz="2800" b="1" cap="none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0CD0B596-66DF-1E32-C3C7-184464182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644525"/>
            <a:ext cx="8810625" cy="5016500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AU" altLang="en-US" sz="2000" b="1">
                <a:solidFill>
                  <a:srgbClr val="37609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Owner’s equity </a:t>
            </a:r>
            <a:r>
              <a:rPr lang="en-AU" altLang="en-US" sz="2000">
                <a:latin typeface="Arial" panose="020B0604020202020204" pitchFamily="34" charset="0"/>
                <a:cs typeface="Arial" panose="020B0604020202020204" pitchFamily="34" charset="0"/>
              </a:rPr>
              <a:t>is the owner’s current investment in the assets of the business. It is the business’s assets less its liabilities.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altLang="en-US" sz="1800" b="1">
                <a:latin typeface="Arial" panose="020B0604020202020204" pitchFamily="34" charset="0"/>
                <a:cs typeface="Arial" panose="020B0604020202020204" pitchFamily="34" charset="0"/>
              </a:rPr>
              <a:t>Case Exhibit 8.3 Statement of changes in owner’s equity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97E52171-D0D0-8458-D6EB-6713ACCF4B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550" y="1784350"/>
            <a:ext cx="7119938" cy="301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Rectangle 4">
            <a:extLst>
              <a:ext uri="{FF2B5EF4-FFF2-40B4-BE49-F238E27FC236}">
                <a16:creationId xmlns:a16="http://schemas.microsoft.com/office/drawing/2014/main" id="{4FF9DBBA-52D1-FF52-BDED-B457C5883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" y="4770438"/>
            <a:ext cx="8567738" cy="132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000">
                <a:latin typeface="Calibri" panose="020F0502020204030204" pitchFamily="34" charset="0"/>
              </a:rPr>
              <a:t>Note that we show the $26 075 ending amount of ‘E Della, capital’ from the balance sheet in Case Exhibit 8.2. The $34 715 total liabilities and owner’s equity ($8640 total liabilities + $26 075 owner’s equity) is equal to the $34 715 total assets.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3" name="Rectangle 3">
            <a:extLst>
              <a:ext uri="{FF2B5EF4-FFF2-40B4-BE49-F238E27FC236}">
                <a16:creationId xmlns:a16="http://schemas.microsoft.com/office/drawing/2014/main" id="{007764DC-E6A9-7A97-947E-E19B33F2A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 sz="2800">
                <a:latin typeface="Arial Narrow" panose="020B0606020202030204" pitchFamily="34" charset="0"/>
                <a:cs typeface="Arial" panose="020B0604020202020204" pitchFamily="34" charset="0"/>
              </a:rPr>
              <a:t>Broadly, an item can be said to be material if its omission or misstatement could influence the economic decisions of users taken on the basis of the financial statements.</a:t>
            </a:r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AU" altLang="en-US" sz="2800">
                <a:latin typeface="Arial Narrow" panose="020B0606020202030204" pitchFamily="34" charset="0"/>
                <a:cs typeface="Arial" panose="020B0604020202020204" pitchFamily="34" charset="0"/>
              </a:rPr>
              <a:t>(NZ Framework, para. 30)</a:t>
            </a:r>
          </a:p>
          <a:p>
            <a:pPr algn="r" eaLnBrk="1" hangingPunct="1">
              <a:buFont typeface="Arial" panose="020B0604020202020204" pitchFamily="34" charset="0"/>
              <a:buNone/>
            </a:pPr>
            <a:r>
              <a:rPr lang="en-AU" altLang="en-US" sz="2400" i="1">
                <a:latin typeface="Arial" panose="020B0604020202020204" pitchFamily="34" charset="0"/>
                <a:cs typeface="Arial" panose="020B0604020202020204" pitchFamily="34" charset="0"/>
              </a:rPr>
              <a:t>Relates to the fundamental qualitative characteristic, Relevance</a:t>
            </a:r>
          </a:p>
        </p:txBody>
      </p:sp>
      <p:sp>
        <p:nvSpPr>
          <p:cNvPr id="11266" name="Rectangle 2">
            <a:extLst>
              <a:ext uri="{FF2B5EF4-FFF2-40B4-BE49-F238E27FC236}">
                <a16:creationId xmlns:a16="http://schemas.microsoft.com/office/drawing/2014/main" id="{4F94405F-5C53-493C-535E-D149A37B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>
                <a:latin typeface="Arial Narrow" panose="020B0606020202030204" pitchFamily="34" charset="0"/>
              </a:rPr>
              <a:t>Materiality</a:t>
            </a:r>
          </a:p>
        </p:txBody>
      </p:sp>
    </p:spTree>
  </p:cSld>
  <p:clrMapOvr>
    <a:masterClrMapping/>
  </p:clrMapOvr>
  <p:transition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3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43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430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3043" grpId="0" build="p" bldLvl="3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>
            <a:extLst>
              <a:ext uri="{FF2B5EF4-FFF2-40B4-BE49-F238E27FC236}">
                <a16:creationId xmlns:a16="http://schemas.microsoft.com/office/drawing/2014/main" id="{D93B1ADD-88DF-BFD3-7A03-E69280BE1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Wrong classification of expenditure as the cost of the asset will overstate assets and profit</a:t>
            </a:r>
          </a:p>
          <a:p>
            <a:pPr eaLnBrk="1" hangingPunct="1"/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Wrong classification of expenditure as an expense will understate assets and profit</a:t>
            </a: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7A3451EB-371C-4B39-F43C-E06A0D1F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altLang="en-US">
                <a:latin typeface="Arial Narrow" panose="020B0606020202030204" pitchFamily="34" charset="0"/>
              </a:rPr>
              <a:t>Impact of classification </a:t>
            </a:r>
            <a:endParaRPr lang="en-AU" altLang="en-US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C062A515-D68A-9962-275E-4D1B5EA76D83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227013" y="260350"/>
            <a:ext cx="8642350" cy="863600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eaLnBrk="1" hangingPunct="1">
              <a:spcAft>
                <a:spcPts val="1800"/>
              </a:spcAft>
              <a:defRPr/>
            </a:pPr>
            <a:r>
              <a:rPr altLang="en-US" cap="none">
                <a:latin typeface="Arial Narrow" charset="0"/>
                <a:cs typeface="Arial" charset="0"/>
              </a:rPr>
              <a:t>Property and equipment</a:t>
            </a:r>
            <a:br>
              <a:rPr altLang="en-US" cap="none">
                <a:latin typeface="Arial Narrow" charset="0"/>
                <a:cs typeface="Arial" charset="0"/>
              </a:rPr>
            </a:br>
            <a:r>
              <a:rPr altLang="en-US" sz="2800" cap="none">
                <a:latin typeface="Arial Narrow" charset="0"/>
                <a:cs typeface="Arial" charset="0"/>
              </a:rPr>
              <a:t>(More on this Week 9)</a:t>
            </a:r>
            <a:endParaRPr altLang="en-US" cap="none">
              <a:latin typeface="Arial Narrow" charset="0"/>
              <a:cs typeface="Arial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5891544-79B7-2D60-7C55-67234D99C429}"/>
              </a:ext>
            </a:extLst>
          </p:cNvPr>
          <p:cNvGraphicFramePr/>
          <p:nvPr/>
        </p:nvGraphicFramePr>
        <p:xfrm>
          <a:off x="899592" y="2204864"/>
          <a:ext cx="7344816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1748" name="TextBox 1">
            <a:extLst>
              <a:ext uri="{FF2B5EF4-FFF2-40B4-BE49-F238E27FC236}">
                <a16:creationId xmlns:a16="http://schemas.microsoft.com/office/drawing/2014/main" id="{A275DFF0-BBCC-7C21-9908-4683F93B1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8725" y="1279525"/>
            <a:ext cx="640873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 Narrow" panose="020B0606020202030204" pitchFamily="34" charset="0"/>
              </a:rPr>
              <a:t>Land is listed on the balance sheet at its </a:t>
            </a:r>
            <a:r>
              <a:rPr lang="en-AU" altLang="en-US" sz="1800">
                <a:solidFill>
                  <a:srgbClr val="C75F09"/>
                </a:solidFill>
                <a:latin typeface="Arial Narrow" panose="020B0606020202030204" pitchFamily="34" charset="0"/>
              </a:rPr>
              <a:t>original cost</a:t>
            </a:r>
            <a:r>
              <a:rPr lang="en-AU" altLang="en-US" sz="1800">
                <a:latin typeface="Arial Narrow" panose="020B0606020202030204" pitchFamily="34" charset="0"/>
              </a:rPr>
              <a:t>. The remaining fixed assets are listed at their book values.</a:t>
            </a:r>
            <a:br>
              <a:rPr lang="en-AU" altLang="en-US" sz="1800">
                <a:latin typeface="Arial Narrow" panose="020B0606020202030204" pitchFamily="34" charset="0"/>
              </a:rPr>
            </a:br>
            <a:r>
              <a:rPr lang="en-AU" altLang="en-US" sz="1800">
                <a:latin typeface="Arial Narrow" panose="020B0606020202030204" pitchFamily="34" charset="0"/>
              </a:rPr>
              <a:t>Cost – accumulated depreciation = Net Book Value. (Written down value)</a:t>
            </a:r>
            <a:br>
              <a:rPr lang="en-AU" altLang="en-US" sz="4000">
                <a:latin typeface="Arial Narrow" panose="020B0606020202030204" pitchFamily="34" charset="0"/>
              </a:rPr>
            </a:br>
            <a:endParaRPr lang="en-NZ" altLang="en-US" sz="180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07E79-DBA8-FA06-A339-2F8D03895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>
              <a:defRPr/>
            </a:pPr>
            <a:r>
              <a:rPr lang="en-NZ"/>
              <a:t>Intangible Assets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F8CCD-F6EC-814D-2C45-E0B4927E2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873250"/>
            <a:ext cx="8001000" cy="4297363"/>
          </a:xfrm>
        </p:spPr>
        <p:txBody>
          <a:bodyPr/>
          <a:lstStyle/>
          <a:p>
            <a:pPr>
              <a:defRPr/>
            </a:pPr>
            <a:r>
              <a:rPr lang="en-AU" altLang="en-US" sz="2800" b="1" dirty="0">
                <a:solidFill>
                  <a:srgbClr val="376092"/>
                </a:solidFill>
                <a:latin typeface="Arial" panose="020B0604020202020204" pitchFamily="34" charset="0"/>
              </a:rPr>
              <a:t>Intangibles</a:t>
            </a:r>
            <a:r>
              <a:rPr lang="en-AU" altLang="en-US" sz="2800" dirty="0">
                <a:solidFill>
                  <a:srgbClr val="376092"/>
                </a:solidFill>
                <a:latin typeface="Arial" panose="020B0604020202020204" pitchFamily="34" charset="0"/>
              </a:rPr>
              <a:t> </a:t>
            </a:r>
            <a:r>
              <a:rPr lang="en-AU" altLang="en-US" sz="2800" dirty="0">
                <a:latin typeface="Arial" panose="020B0604020202020204" pitchFamily="34" charset="0"/>
              </a:rPr>
              <a:t>are deﬁned by NZ IAS 138 Intangible Assets as ‘an identiﬁable non-monetary asset without physical substance’.</a:t>
            </a:r>
          </a:p>
          <a:p>
            <a:pPr>
              <a:buFont typeface="Arial" charset="0"/>
              <a:buChar char="•"/>
              <a:defRPr/>
            </a:pPr>
            <a:r>
              <a:rPr lang="en-AU" altLang="en-US" sz="28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Intangible assets </a:t>
            </a:r>
            <a:r>
              <a:rPr lang="en-AU" altLang="en-US" sz="2800" dirty="0">
                <a:solidFill>
                  <a:srgbClr val="482A06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do not have physical substance</a:t>
            </a:r>
          </a:p>
          <a:p>
            <a:pPr>
              <a:buFont typeface="Arial" charset="0"/>
              <a:buChar char="•"/>
              <a:defRPr/>
            </a:pPr>
            <a:r>
              <a:rPr lang="en-AU" altLang="en-US" sz="2800" dirty="0">
                <a:solidFill>
                  <a:srgbClr val="482A06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They must meet the following criteria</a:t>
            </a:r>
          </a:p>
          <a:p>
            <a:pPr lvl="1">
              <a:buFont typeface="Arial" charset="0"/>
              <a:buChar char="–"/>
              <a:defRPr/>
            </a:pPr>
            <a:r>
              <a:rPr lang="en-AU" altLang="en-US" sz="2400" dirty="0">
                <a:solidFill>
                  <a:srgbClr val="482A06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will bring future economic benefits</a:t>
            </a:r>
          </a:p>
          <a:p>
            <a:pPr lvl="1">
              <a:buFont typeface="Arial" charset="0"/>
              <a:buChar char="–"/>
              <a:defRPr/>
            </a:pPr>
            <a:r>
              <a:rPr lang="en-AU" altLang="en-US" sz="2400" dirty="0">
                <a:solidFill>
                  <a:srgbClr val="482A06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Are under the control of the business</a:t>
            </a:r>
          </a:p>
          <a:p>
            <a:pPr lvl="1">
              <a:buFont typeface="Arial" charset="0"/>
              <a:buChar char="–"/>
              <a:defRPr/>
            </a:pPr>
            <a:r>
              <a:rPr lang="en-AU" altLang="en-US" sz="2400" dirty="0">
                <a:solidFill>
                  <a:srgbClr val="482A06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Are the result of a past transaction or event </a:t>
            </a:r>
          </a:p>
          <a:p>
            <a:pPr marL="0" indent="0">
              <a:buFont typeface="Arial" charset="0"/>
              <a:buNone/>
              <a:defRPr/>
            </a:pPr>
            <a:endParaRPr lang="en-NZ" sz="2800" dirty="0">
              <a:latin typeface="Arial Narrow" panose="020B0606020202030204" pitchFamily="34" charset="0"/>
              <a:ea typeface="ＭＳ Ｐゴシック" pitchFamily="1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50" name="Rectangle 6">
            <a:extLst>
              <a:ext uri="{FF2B5EF4-FFF2-40B4-BE49-F238E27FC236}">
                <a16:creationId xmlns:a16="http://schemas.microsoft.com/office/drawing/2014/main" id="{D9737D4F-EDB4-206B-ECAA-B6FEA915B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Identifiable intangible assets are assets that are capable of being individually identified and recorded.</a:t>
            </a:r>
          </a:p>
          <a:p>
            <a:pPr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For example:</a:t>
            </a:r>
          </a:p>
          <a:p>
            <a:pPr lvl="1"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patents</a:t>
            </a:r>
          </a:p>
          <a:p>
            <a:pPr lvl="1"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brand names</a:t>
            </a:r>
          </a:p>
          <a:p>
            <a:pPr lvl="1" eaLnBrk="1" hangingPunct="1"/>
            <a:r>
              <a:rPr lang="en-AU" altLang="en-US">
                <a:latin typeface="Arial" panose="020B0604020202020204" pitchFamily="34" charset="0"/>
                <a:cs typeface="Arial" panose="020B0604020202020204" pitchFamily="34" charset="0"/>
              </a:rPr>
              <a:t>trademarks</a:t>
            </a: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2F5A5BA8-C01E-BD29-79F7-9E792CE52F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1A18A1-5CB4-4869-A9DE-2A5922AF019B}" type="slidenum">
              <a:rPr lang="en-AU" altLang="en-US" sz="1800"/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AU" altLang="en-US" sz="1800">
              <a:latin typeface="Times" panose="02020603050405020304" pitchFamily="18" charset="0"/>
            </a:endParaRPr>
          </a:p>
        </p:txBody>
      </p:sp>
      <p:sp>
        <p:nvSpPr>
          <p:cNvPr id="364549" name="Rectangle 5">
            <a:extLst>
              <a:ext uri="{FF2B5EF4-FFF2-40B4-BE49-F238E27FC236}">
                <a16:creationId xmlns:a16="http://schemas.microsoft.com/office/drawing/2014/main" id="{CDF53E0E-6F5E-AAAE-AF3B-1BB25B967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/>
              <a:t>Identifiable intangible assets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45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50" grpId="0" build="p" bldLvl="3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8" name="Rectangle 6">
            <a:extLst>
              <a:ext uri="{FF2B5EF4-FFF2-40B4-BE49-F238E27FC236}">
                <a16:creationId xmlns:a16="http://schemas.microsoft.com/office/drawing/2014/main" id="{F2B9B1AE-D529-3E95-51E8-654118229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73238"/>
            <a:ext cx="8001000" cy="3887787"/>
          </a:xfrm>
        </p:spPr>
        <p:txBody>
          <a:bodyPr/>
          <a:lstStyle/>
          <a:p>
            <a:pPr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Goodwill is the future benefit from unidentifiable assets. It reflects the entity’s excess value as a whole over the aggregate of the individual values of its net assets</a:t>
            </a:r>
          </a:p>
          <a:p>
            <a:pPr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For example:</a:t>
            </a:r>
          </a:p>
          <a:p>
            <a:pPr lvl="1"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market penetration</a:t>
            </a:r>
          </a:p>
          <a:p>
            <a:pPr lvl="1"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effective advertising</a:t>
            </a:r>
          </a:p>
          <a:p>
            <a:pPr lvl="1" eaLnBrk="1" hangingPunct="1"/>
            <a:r>
              <a:rPr lang="en-AU" altLang="en-US" sz="2400">
                <a:latin typeface="Arial" panose="020B0604020202020204" pitchFamily="34" charset="0"/>
                <a:cs typeface="Arial" panose="020B0604020202020204" pitchFamily="34" charset="0"/>
              </a:rPr>
              <a:t>good labour relations</a:t>
            </a:r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37933FB0-3196-E33E-B373-80E78C9EB2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659A5EA-76A1-488A-B46E-DCC5900355B7}" type="slidenum">
              <a:rPr lang="en-AU" altLang="en-US" sz="1800"/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AU" altLang="en-US" sz="1800">
              <a:latin typeface="Times" panose="02020603050405020304" pitchFamily="18" charset="0"/>
            </a:endParaRPr>
          </a:p>
        </p:txBody>
      </p:sp>
      <p:sp>
        <p:nvSpPr>
          <p:cNvPr id="366600" name="Rectangle 8">
            <a:extLst>
              <a:ext uri="{FF2B5EF4-FFF2-40B4-BE49-F238E27FC236}">
                <a16:creationId xmlns:a16="http://schemas.microsoft.com/office/drawing/2014/main" id="{BE66ACC0-5E60-B346-054C-0122C53560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687388"/>
            <a:ext cx="8229600" cy="884237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 sz="3600"/>
              <a:t>Unidentifiable intangible assets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65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6598" grpId="0" build="p" bldLvl="3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11103</TotalTime>
  <Words>1170</Words>
  <Application>Microsoft Office PowerPoint</Application>
  <PresentationFormat>On-screen Show (4:3)</PresentationFormat>
  <Paragraphs>113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ＭＳ Ｐゴシック</vt:lpstr>
      <vt:lpstr>Arial</vt:lpstr>
      <vt:lpstr>Arial Narrow</vt:lpstr>
      <vt:lpstr>Calibri</vt:lpstr>
      <vt:lpstr>Calibri Light</vt:lpstr>
      <vt:lpstr>Lucida Grande</vt:lpstr>
      <vt:lpstr>Times</vt:lpstr>
      <vt:lpstr>Office Theme</vt:lpstr>
      <vt:lpstr>Custom Design</vt:lpstr>
      <vt:lpstr>PowerPoint Presentation</vt:lpstr>
      <vt:lpstr>Learning objectives</vt:lpstr>
      <vt:lpstr>Key questions</vt:lpstr>
      <vt:lpstr>8.1 Why the balance sheet is important </vt:lpstr>
      <vt:lpstr>8.1 Why the balance sheet is important </vt:lpstr>
      <vt:lpstr>8.2 The accounting equation  and the balance sheet </vt:lpstr>
      <vt:lpstr>8.2 The accounting equation and the balance sheet </vt:lpstr>
      <vt:lpstr>8.2 The accounting equation and the balance sheet </vt:lpstr>
      <vt:lpstr>8.2 The accounting equation and the balance sheet </vt:lpstr>
      <vt:lpstr>8.2 The accounting equation and the balance sheet </vt:lpstr>
      <vt:lpstr>Current and Non-current Assets</vt:lpstr>
      <vt:lpstr>The cost of a non-current asset</vt:lpstr>
      <vt:lpstr>8.2 The accounting equation and the balance sheet </vt:lpstr>
      <vt:lpstr>8.2 The accounting equation and the balance sheet </vt:lpstr>
      <vt:lpstr>8.2 The accounting equation and the balance sheet </vt:lpstr>
      <vt:lpstr>Materiality</vt:lpstr>
      <vt:lpstr>Impact of classification </vt:lpstr>
      <vt:lpstr>Property and equipment (More on this Week 9)</vt:lpstr>
      <vt:lpstr>Intangible Assets</vt:lpstr>
      <vt:lpstr>Identifiable intangible assets</vt:lpstr>
      <vt:lpstr>Unidentifiable intangible assets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Olga Lavecchia</dc:creator>
  <cp:lastModifiedBy>Christelle Roos</cp:lastModifiedBy>
  <cp:revision>152</cp:revision>
  <dcterms:created xsi:type="dcterms:W3CDTF">2016-03-22T03:34:01Z</dcterms:created>
  <dcterms:modified xsi:type="dcterms:W3CDTF">2025-02-23T22:06:38Z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2025-02-23T22:06:30Z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5ef2ad84-85e2-4014-abec-af23950f67f7</vt:lpwstr>
  </property>
  <property fmtid="{D5CDD505-2E9C-101B-9397-08002B2CF9AE}" pid="8" name="MSIP_Label_bd9e4d68-54d0-40a5-8c9a-85a36c87352c_ContentBits">
    <vt:lpwstr>0</vt:lpwstr>
  </property>
  <property fmtid="{D5CDD505-2E9C-101B-9397-08002B2CF9AE}" pid="9" name="MSIP_Label_bd9e4d68-54d0-40a5-8c9a-85a36c87352c_Tag">
    <vt:lpwstr>10, 3, 0, 1</vt:lpwstr>
  </property>
</Properties>
</file>