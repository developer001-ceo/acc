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881" r:id="rId2"/>
  </p:sldMasterIdLst>
  <p:notesMasterIdLst>
    <p:notesMasterId r:id="rId34"/>
  </p:notesMasterIdLst>
  <p:handoutMasterIdLst>
    <p:handoutMasterId r:id="rId35"/>
  </p:handoutMasterIdLst>
  <p:sldIdLst>
    <p:sldId id="257" r:id="rId3"/>
    <p:sldId id="261" r:id="rId4"/>
    <p:sldId id="263" r:id="rId5"/>
    <p:sldId id="264" r:id="rId6"/>
    <p:sldId id="265" r:id="rId7"/>
    <p:sldId id="266" r:id="rId8"/>
    <p:sldId id="267" r:id="rId9"/>
    <p:sldId id="268" r:id="rId10"/>
    <p:sldId id="269" r:id="rId11"/>
    <p:sldId id="270" r:id="rId12"/>
    <p:sldId id="271" r:id="rId13"/>
    <p:sldId id="272" r:id="rId14"/>
    <p:sldId id="273" r:id="rId15"/>
    <p:sldId id="274" r:id="rId16"/>
    <p:sldId id="277" r:id="rId17"/>
    <p:sldId id="292" r:id="rId18"/>
    <p:sldId id="278" r:id="rId19"/>
    <p:sldId id="279" r:id="rId20"/>
    <p:sldId id="280" r:id="rId21"/>
    <p:sldId id="275" r:id="rId22"/>
    <p:sldId id="281" r:id="rId23"/>
    <p:sldId id="293" r:id="rId24"/>
    <p:sldId id="282" r:id="rId25"/>
    <p:sldId id="283" r:id="rId26"/>
    <p:sldId id="284" r:id="rId27"/>
    <p:sldId id="285" r:id="rId28"/>
    <p:sldId id="276" r:id="rId29"/>
    <p:sldId id="286" r:id="rId30"/>
    <p:sldId id="287" r:id="rId31"/>
    <p:sldId id="290" r:id="rId32"/>
    <p:sldId id="291" r:id="rId33"/>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Objects="1">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DE767F2-5305-31E1-556D-06709233080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Calibri" charset="0"/>
                <a:ea typeface="ＭＳ Ｐゴシック" charset="-128"/>
                <a:cs typeface="+mn-cs"/>
              </a:defRPr>
            </a:lvl1pPr>
          </a:lstStyle>
          <a:p>
            <a:pPr>
              <a:defRPr/>
            </a:pPr>
            <a:endParaRPr lang="en-US"/>
          </a:p>
        </p:txBody>
      </p:sp>
      <p:sp>
        <p:nvSpPr>
          <p:cNvPr id="3" name="Date Placeholder 2">
            <a:extLst>
              <a:ext uri="{FF2B5EF4-FFF2-40B4-BE49-F238E27FC236}">
                <a16:creationId xmlns:a16="http://schemas.microsoft.com/office/drawing/2014/main" id="{0338FB10-2608-68F9-F8FD-3D7569138AEF}"/>
              </a:ext>
            </a:extLst>
          </p:cNvPr>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F091FE37-CF36-4F22-9C8E-15CCF8A81436}" type="datetimeFigureOut">
              <a:rPr lang="en-US" altLang="en-US"/>
              <a:pPr>
                <a:defRPr/>
              </a:pPr>
              <a:t>2/24/2025</a:t>
            </a:fld>
            <a:endParaRPr lang="en-US" altLang="en-US"/>
          </a:p>
        </p:txBody>
      </p:sp>
      <p:sp>
        <p:nvSpPr>
          <p:cNvPr id="4" name="Footer Placeholder 3">
            <a:extLst>
              <a:ext uri="{FF2B5EF4-FFF2-40B4-BE49-F238E27FC236}">
                <a16:creationId xmlns:a16="http://schemas.microsoft.com/office/drawing/2014/main" id="{553947AC-0C84-6E78-897F-39FB2C36B81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atin typeface="Calibri" charset="0"/>
                <a:ea typeface="ＭＳ Ｐゴシック" charset="-128"/>
                <a:cs typeface="+mn-cs"/>
              </a:defRPr>
            </a:lvl1pPr>
          </a:lstStyle>
          <a:p>
            <a:pPr>
              <a:defRPr/>
            </a:pPr>
            <a:endParaRPr lang="en-US"/>
          </a:p>
        </p:txBody>
      </p:sp>
      <p:sp>
        <p:nvSpPr>
          <p:cNvPr id="5" name="Slide Number Placeholder 4">
            <a:extLst>
              <a:ext uri="{FF2B5EF4-FFF2-40B4-BE49-F238E27FC236}">
                <a16:creationId xmlns:a16="http://schemas.microsoft.com/office/drawing/2014/main" id="{B44C9209-DCEF-9FA8-2994-6362D291B3E0}"/>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D6589267-A8B4-4CAD-BCA9-2F7CAC9AB166}"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D9D871-02C8-D2E8-5382-499D73CA3EE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7EB71C49-3B34-BF27-FD59-ACEFB6EBC2DF}"/>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EF4F4E65-D3EA-445D-8291-0FC95D521719}" type="datetimeFigureOut">
              <a:rPr lang="en-US" altLang="en-US"/>
              <a:pPr>
                <a:defRPr/>
              </a:pPr>
              <a:t>2/24/2025</a:t>
            </a:fld>
            <a:endParaRPr lang="en-US" altLang="en-US"/>
          </a:p>
        </p:txBody>
      </p:sp>
      <p:sp>
        <p:nvSpPr>
          <p:cNvPr id="4" name="Slide Image Placeholder 3">
            <a:extLst>
              <a:ext uri="{FF2B5EF4-FFF2-40B4-BE49-F238E27FC236}">
                <a16:creationId xmlns:a16="http://schemas.microsoft.com/office/drawing/2014/main" id="{A55762F7-9F15-105E-0B64-956AA787DEC7}"/>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EDAF7DC2-80E6-4516-B9C9-EA52A1E50F29}"/>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endParaRPr lang="en-US" noProof="0"/>
          </a:p>
        </p:txBody>
      </p:sp>
      <p:sp>
        <p:nvSpPr>
          <p:cNvPr id="6" name="Footer Placeholder 5">
            <a:extLst>
              <a:ext uri="{FF2B5EF4-FFF2-40B4-BE49-F238E27FC236}">
                <a16:creationId xmlns:a16="http://schemas.microsoft.com/office/drawing/2014/main" id="{F34F1017-A068-B65D-94D0-3044DA47C7D9}"/>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5FE340EA-F1C0-A4AD-781B-5942896BD16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B1BB42F-5679-4B1C-AAEA-09E369FBC2D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F793FF8D-C2B4-054C-D6BB-49CB87B9EDA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a:extLst>
              <a:ext uri="{FF2B5EF4-FFF2-40B4-BE49-F238E27FC236}">
                <a16:creationId xmlns:a16="http://schemas.microsoft.com/office/drawing/2014/main" id="{2566CBA7-5DFF-C615-62A3-4CD95CB99C6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8916" name="Slide Number Placeholder 3">
            <a:extLst>
              <a:ext uri="{FF2B5EF4-FFF2-40B4-BE49-F238E27FC236}">
                <a16:creationId xmlns:a16="http://schemas.microsoft.com/office/drawing/2014/main" id="{499287B7-169D-F2AB-81EE-ADB5C779BB7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F80E219B-801C-4332-8C15-CE2CBD66A9F5}" type="slidenum">
              <a:rPr lang="en-US" altLang="en-US" smtClean="0"/>
              <a:pPr/>
              <a:t>26</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3018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687374"/>
            <a:ext cx="8229600" cy="884238"/>
          </a:xfrm>
        </p:spPr>
        <p:txBody>
          <a:bodyPr/>
          <a:lstStyle>
            <a:lvl1pPr algn="ctr" defTabSz="457200" rtl="0" fontAlgn="auto">
              <a:spcBef>
                <a:spcPct val="0"/>
              </a:spcBef>
              <a:spcAft>
                <a:spcPts val="0"/>
              </a:spcAft>
              <a:defRPr lang="en-US" sz="4000" kern="1200" cap="all" dirty="0">
                <a:solidFill>
                  <a:schemeClr val="bg2">
                    <a:lumMod val="50000"/>
                  </a:schemeClr>
                </a:solidFill>
                <a:latin typeface="Arial"/>
                <a:ea typeface="+mj-ea"/>
                <a:cs typeface="Arial"/>
              </a:defRPr>
            </a:lvl1pPr>
          </a:lstStyle>
          <a:p>
            <a:r>
              <a:rPr lang="en-AU" dirty="0"/>
              <a:t>Click to edit Master title style</a:t>
            </a:r>
            <a:endParaRPr lang="en-US" dirty="0"/>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Tree>
    <p:extLst>
      <p:ext uri="{BB962C8B-B14F-4D97-AF65-F5344CB8AC3E}">
        <p14:creationId xmlns:p14="http://schemas.microsoft.com/office/powerpoint/2010/main" val="853112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ctr" defTabSz="457200" rtl="0" fontAlgn="auto">
              <a:spcBef>
                <a:spcPct val="0"/>
              </a:spcBef>
              <a:spcAft>
                <a:spcPts val="0"/>
              </a:spcAft>
              <a:defRPr lang="en-US" sz="4000" kern="1200" cap="all" dirty="0">
                <a:solidFill>
                  <a:schemeClr val="bg2">
                    <a:lumMod val="50000"/>
                  </a:schemeClr>
                </a:solidFill>
                <a:latin typeface="Arial"/>
                <a:ea typeface="+mj-ea"/>
                <a:cs typeface="Arial"/>
              </a:defRPr>
            </a:lvl1pPr>
          </a:lstStyle>
          <a:p>
            <a:r>
              <a:rPr lang="en-AU" dirty="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a:t>Click to edit Master text styles</a:t>
            </a:r>
          </a:p>
        </p:txBody>
      </p:sp>
    </p:spTree>
    <p:extLst>
      <p:ext uri="{BB962C8B-B14F-4D97-AF65-F5344CB8AC3E}">
        <p14:creationId xmlns:p14="http://schemas.microsoft.com/office/powerpoint/2010/main" val="262967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lang="en-US" sz="4000" kern="1200" cap="all" dirty="0">
                <a:solidFill>
                  <a:schemeClr val="bg2">
                    <a:lumMod val="50000"/>
                  </a:schemeClr>
                </a:solidFill>
                <a:latin typeface="Arial"/>
                <a:ea typeface="+mj-ea"/>
                <a:cs typeface="Arial"/>
              </a:defRPr>
            </a:lvl1pPr>
          </a:lstStyle>
          <a:p>
            <a:r>
              <a:rPr lang="en-AU" dirty="0"/>
              <a:t>Click to edit Master title style</a:t>
            </a:r>
            <a:endParaRPr lang="en-US" dirty="0"/>
          </a:p>
        </p:txBody>
      </p:sp>
      <p:sp>
        <p:nvSpPr>
          <p:cNvPr id="3" name="Content Placeholder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Tree>
    <p:extLst>
      <p:ext uri="{BB962C8B-B14F-4D97-AF65-F5344CB8AC3E}">
        <p14:creationId xmlns:p14="http://schemas.microsoft.com/office/powerpoint/2010/main" val="4244192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defTabSz="457200" rtl="0" fontAlgn="base">
              <a:spcBef>
                <a:spcPct val="0"/>
              </a:spcBef>
              <a:spcAft>
                <a:spcPct val="0"/>
              </a:spcAft>
              <a:defRPr lang="en-US" sz="4000" kern="1200" cap="all" dirty="0">
                <a:solidFill>
                  <a:schemeClr val="bg2">
                    <a:lumMod val="50000"/>
                  </a:schemeClr>
                </a:solidFill>
                <a:latin typeface="Arial"/>
                <a:ea typeface="+mj-ea"/>
                <a:cs typeface="Arial"/>
              </a:defRPr>
            </a:lvl1pPr>
          </a:lstStyle>
          <a:p>
            <a:r>
              <a:rPr lang="en-AU" dirty="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Tree>
    <p:extLst>
      <p:ext uri="{BB962C8B-B14F-4D97-AF65-F5344CB8AC3E}">
        <p14:creationId xmlns:p14="http://schemas.microsoft.com/office/powerpoint/2010/main" val="2721754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Date Placeholder 2">
            <a:extLst>
              <a:ext uri="{FF2B5EF4-FFF2-40B4-BE49-F238E27FC236}">
                <a16:creationId xmlns:a16="http://schemas.microsoft.com/office/drawing/2014/main" id="{8BF463CC-2C80-DF26-3777-8E39508D993B}"/>
              </a:ext>
            </a:extLst>
          </p:cNvPr>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78296DDA-7805-48A5-974E-C703CC2737EE}" type="datetimeFigureOut">
              <a:rPr lang="en-US" altLang="en-US"/>
              <a:pPr>
                <a:defRPr/>
              </a:pPr>
              <a:t>2/24/2025</a:t>
            </a:fld>
            <a:endParaRPr lang="en-US" altLang="en-US"/>
          </a:p>
        </p:txBody>
      </p:sp>
      <p:sp>
        <p:nvSpPr>
          <p:cNvPr id="4" name="Footer Placeholder 3">
            <a:extLst>
              <a:ext uri="{FF2B5EF4-FFF2-40B4-BE49-F238E27FC236}">
                <a16:creationId xmlns:a16="http://schemas.microsoft.com/office/drawing/2014/main" id="{BFBA8412-0903-4CB6-348B-98B508970007}"/>
              </a:ext>
            </a:extLst>
          </p:cNvPr>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5" name="Slide Number Placeholder 4">
            <a:extLst>
              <a:ext uri="{FF2B5EF4-FFF2-40B4-BE49-F238E27FC236}">
                <a16:creationId xmlns:a16="http://schemas.microsoft.com/office/drawing/2014/main" id="{08160AC5-A989-E95A-568E-B4BB41C68EDE}"/>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CF93EFC-FA76-48AB-A49A-500BFA30CFDD}" type="slidenum">
              <a:rPr lang="en-US" altLang="en-US"/>
              <a:pPr>
                <a:defRPr/>
              </a:pPr>
              <a:t>‹#›</a:t>
            </a:fld>
            <a:endParaRPr lang="en-US" altLang="en-US"/>
          </a:p>
        </p:txBody>
      </p:sp>
    </p:spTree>
    <p:extLst>
      <p:ext uri="{BB962C8B-B14F-4D97-AF65-F5344CB8AC3E}">
        <p14:creationId xmlns:p14="http://schemas.microsoft.com/office/powerpoint/2010/main" val="4118194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221FE8-A71A-0D23-895A-E7C25AD60DA8}"/>
              </a:ext>
            </a:extLst>
          </p:cNvPr>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3FD7472-F948-4132-8199-8B4F88259D43}" type="datetimeFigureOut">
              <a:rPr lang="en-US" altLang="en-US"/>
              <a:pPr>
                <a:defRPr/>
              </a:pPr>
              <a:t>2/24/2025</a:t>
            </a:fld>
            <a:endParaRPr lang="en-US" altLang="en-US"/>
          </a:p>
        </p:txBody>
      </p:sp>
      <p:sp>
        <p:nvSpPr>
          <p:cNvPr id="3" name="Footer Placeholder 2">
            <a:extLst>
              <a:ext uri="{FF2B5EF4-FFF2-40B4-BE49-F238E27FC236}">
                <a16:creationId xmlns:a16="http://schemas.microsoft.com/office/drawing/2014/main" id="{E41FF402-99D2-12F6-FB6D-8770C79EE4DC}"/>
              </a:ext>
            </a:extLst>
          </p:cNvPr>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4" name="Slide Number Placeholder 3">
            <a:extLst>
              <a:ext uri="{FF2B5EF4-FFF2-40B4-BE49-F238E27FC236}">
                <a16:creationId xmlns:a16="http://schemas.microsoft.com/office/drawing/2014/main" id="{401652D4-BAC7-03AA-A981-F2A24EFDA815}"/>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091CD2FD-293F-4B22-B5C4-5AB40564F00A}" type="slidenum">
              <a:rPr lang="en-US" altLang="en-US"/>
              <a:pPr>
                <a:defRPr/>
              </a:pPr>
              <a:t>‹#›</a:t>
            </a:fld>
            <a:endParaRPr lang="en-US" altLang="en-US"/>
          </a:p>
        </p:txBody>
      </p:sp>
    </p:spTree>
    <p:extLst>
      <p:ext uri="{BB962C8B-B14F-4D97-AF65-F5344CB8AC3E}">
        <p14:creationId xmlns:p14="http://schemas.microsoft.com/office/powerpoint/2010/main" val="16676951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AU"/>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Date Placeholder 4">
            <a:extLst>
              <a:ext uri="{FF2B5EF4-FFF2-40B4-BE49-F238E27FC236}">
                <a16:creationId xmlns:a16="http://schemas.microsoft.com/office/drawing/2014/main" id="{D5FEA16D-8E2A-9F1E-DB5F-29AE678F6648}"/>
              </a:ext>
            </a:extLst>
          </p:cNvPr>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9619B99-09FF-4F7E-AE62-F85C1F756FE3}" type="datetimeFigureOut">
              <a:rPr lang="en-US" altLang="en-US"/>
              <a:pPr>
                <a:defRPr/>
              </a:pPr>
              <a:t>2/24/2025</a:t>
            </a:fld>
            <a:endParaRPr lang="en-US" altLang="en-US"/>
          </a:p>
        </p:txBody>
      </p:sp>
      <p:sp>
        <p:nvSpPr>
          <p:cNvPr id="6" name="Footer Placeholder 5">
            <a:extLst>
              <a:ext uri="{FF2B5EF4-FFF2-40B4-BE49-F238E27FC236}">
                <a16:creationId xmlns:a16="http://schemas.microsoft.com/office/drawing/2014/main" id="{9D033484-7F43-7402-3466-F9A2FBD4843A}"/>
              </a:ext>
            </a:extLst>
          </p:cNvPr>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E90AF97C-4CA9-8F5C-3E05-55C72A495910}"/>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5F302791-F223-4991-BFF8-77BAF7B2E83F}" type="slidenum">
              <a:rPr lang="en-US" altLang="en-US"/>
              <a:pPr>
                <a:defRPr/>
              </a:pPr>
              <a:t>‹#›</a:t>
            </a:fld>
            <a:endParaRPr lang="en-US" altLang="en-US"/>
          </a:p>
        </p:txBody>
      </p:sp>
    </p:spTree>
    <p:extLst>
      <p:ext uri="{BB962C8B-B14F-4D97-AF65-F5344CB8AC3E}">
        <p14:creationId xmlns:p14="http://schemas.microsoft.com/office/powerpoint/2010/main" val="2670263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Date Placeholder 4">
            <a:extLst>
              <a:ext uri="{FF2B5EF4-FFF2-40B4-BE49-F238E27FC236}">
                <a16:creationId xmlns:a16="http://schemas.microsoft.com/office/drawing/2014/main" id="{64F3892C-FA41-277A-2CC9-8F3C6D2B8B41}"/>
              </a:ext>
            </a:extLst>
          </p:cNvPr>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0B5A2F7-3FA2-4464-8FD5-4BFD63A94EE7}" type="datetimeFigureOut">
              <a:rPr lang="en-US" altLang="en-US"/>
              <a:pPr>
                <a:defRPr/>
              </a:pPr>
              <a:t>2/24/2025</a:t>
            </a:fld>
            <a:endParaRPr lang="en-US" altLang="en-US"/>
          </a:p>
        </p:txBody>
      </p:sp>
      <p:sp>
        <p:nvSpPr>
          <p:cNvPr id="6" name="Footer Placeholder 5">
            <a:extLst>
              <a:ext uri="{FF2B5EF4-FFF2-40B4-BE49-F238E27FC236}">
                <a16:creationId xmlns:a16="http://schemas.microsoft.com/office/drawing/2014/main" id="{F8AA1530-0CF1-DAFA-F538-3F713CF75315}"/>
              </a:ext>
            </a:extLst>
          </p:cNvPr>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268E9D44-6463-2416-20B3-1BF4E7776CE3}"/>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5AC2A643-F4F3-430F-8591-69D255A30863}" type="slidenum">
              <a:rPr lang="en-US" altLang="en-US"/>
              <a:pPr>
                <a:defRPr/>
              </a:pPr>
              <a:t>‹#›</a:t>
            </a:fld>
            <a:endParaRPr lang="en-US" altLang="en-US"/>
          </a:p>
        </p:txBody>
      </p:sp>
    </p:spTree>
    <p:extLst>
      <p:ext uri="{BB962C8B-B14F-4D97-AF65-F5344CB8AC3E}">
        <p14:creationId xmlns:p14="http://schemas.microsoft.com/office/powerpoint/2010/main" val="3256790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a:extLst>
              <a:ext uri="{FF2B5EF4-FFF2-40B4-BE49-F238E27FC236}">
                <a16:creationId xmlns:a16="http://schemas.microsoft.com/office/drawing/2014/main" id="{6DA5AF38-4615-17F5-31C3-C321C4023CF6}"/>
              </a:ext>
            </a:extLst>
          </p:cNvPr>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E3056D22-F010-4A38-A5B6-F54198B445AA}" type="datetimeFigureOut">
              <a:rPr lang="en-US" altLang="en-US"/>
              <a:pPr>
                <a:defRPr/>
              </a:pPr>
              <a:t>2/24/2025</a:t>
            </a:fld>
            <a:endParaRPr lang="en-US" altLang="en-US"/>
          </a:p>
        </p:txBody>
      </p:sp>
      <p:sp>
        <p:nvSpPr>
          <p:cNvPr id="5" name="Footer Placeholder 4">
            <a:extLst>
              <a:ext uri="{FF2B5EF4-FFF2-40B4-BE49-F238E27FC236}">
                <a16:creationId xmlns:a16="http://schemas.microsoft.com/office/drawing/2014/main" id="{2765D78A-DFB7-874F-0DE1-93B0FB2B9741}"/>
              </a:ext>
            </a:extLst>
          </p:cNvPr>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6" name="Slide Number Placeholder 5">
            <a:extLst>
              <a:ext uri="{FF2B5EF4-FFF2-40B4-BE49-F238E27FC236}">
                <a16:creationId xmlns:a16="http://schemas.microsoft.com/office/drawing/2014/main" id="{4BEE5BBB-3D49-AD9F-AFE6-3ABA0F103694}"/>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3CC21114-AC3C-4C6E-9B28-9272AE8B9C3C}" type="slidenum">
              <a:rPr lang="en-US" altLang="en-US"/>
              <a:pPr>
                <a:defRPr/>
              </a:pPr>
              <a:t>‹#›</a:t>
            </a:fld>
            <a:endParaRPr lang="en-US" altLang="en-US"/>
          </a:p>
        </p:txBody>
      </p:sp>
    </p:spTree>
    <p:extLst>
      <p:ext uri="{BB962C8B-B14F-4D97-AF65-F5344CB8AC3E}">
        <p14:creationId xmlns:p14="http://schemas.microsoft.com/office/powerpoint/2010/main" val="802734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a:extLst>
              <a:ext uri="{FF2B5EF4-FFF2-40B4-BE49-F238E27FC236}">
                <a16:creationId xmlns:a16="http://schemas.microsoft.com/office/drawing/2014/main" id="{0EADE834-8D63-E0CB-0271-3981DF3FFF29}"/>
              </a:ext>
            </a:extLst>
          </p:cNvPr>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EB0EF9DA-DEC5-4932-A6A3-A2F99E2FC937}" type="datetimeFigureOut">
              <a:rPr lang="en-US" altLang="en-US"/>
              <a:pPr>
                <a:defRPr/>
              </a:pPr>
              <a:t>2/24/2025</a:t>
            </a:fld>
            <a:endParaRPr lang="en-US" altLang="en-US"/>
          </a:p>
        </p:txBody>
      </p:sp>
      <p:sp>
        <p:nvSpPr>
          <p:cNvPr id="5" name="Footer Placeholder 4">
            <a:extLst>
              <a:ext uri="{FF2B5EF4-FFF2-40B4-BE49-F238E27FC236}">
                <a16:creationId xmlns:a16="http://schemas.microsoft.com/office/drawing/2014/main" id="{ABC63E9A-BB54-093E-9844-8656E8BBD832}"/>
              </a:ext>
            </a:extLst>
          </p:cNvPr>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6" name="Slide Number Placeholder 5">
            <a:extLst>
              <a:ext uri="{FF2B5EF4-FFF2-40B4-BE49-F238E27FC236}">
                <a16:creationId xmlns:a16="http://schemas.microsoft.com/office/drawing/2014/main" id="{80BF70FC-6945-744B-B0D2-0CDF669190BB}"/>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2697EC87-C9B8-4E29-9A38-7C3101AD38FD}" type="slidenum">
              <a:rPr lang="en-US" altLang="en-US"/>
              <a:pPr>
                <a:defRPr/>
              </a:pPr>
              <a:t>‹#›</a:t>
            </a:fld>
            <a:endParaRPr lang="en-US" altLang="en-US"/>
          </a:p>
        </p:txBody>
      </p:sp>
    </p:spTree>
    <p:extLst>
      <p:ext uri="{BB962C8B-B14F-4D97-AF65-F5344CB8AC3E}">
        <p14:creationId xmlns:p14="http://schemas.microsoft.com/office/powerpoint/2010/main" val="4763465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02485A-7AE6-C462-1775-2A3736289890}"/>
              </a:ext>
            </a:extLst>
          </p:cNvPr>
          <p:cNvSpPr>
            <a:spLocks noGrp="1"/>
          </p:cNvSpPr>
          <p:nvPr>
            <p:ph type="dt" sz="half" idx="10"/>
          </p:nvPr>
        </p:nvSpPr>
        <p:spPr/>
        <p:txBody>
          <a:bodyPr/>
          <a:lstStyle>
            <a:lvl1pPr>
              <a:defRPr/>
            </a:lvl1pPr>
          </a:lstStyle>
          <a:p>
            <a:pPr>
              <a:defRPr/>
            </a:pPr>
            <a:fld id="{7FC4800D-CFBC-4B28-8E71-E74CF8F78632}" type="datetimeFigureOut">
              <a:rPr lang="en-US" altLang="en-US"/>
              <a:pPr>
                <a:defRPr/>
              </a:pPr>
              <a:t>2/24/2025</a:t>
            </a:fld>
            <a:endParaRPr lang="en-US" altLang="en-US"/>
          </a:p>
        </p:txBody>
      </p:sp>
      <p:sp>
        <p:nvSpPr>
          <p:cNvPr id="5" name="Footer Placeholder 4">
            <a:extLst>
              <a:ext uri="{FF2B5EF4-FFF2-40B4-BE49-F238E27FC236}">
                <a16:creationId xmlns:a16="http://schemas.microsoft.com/office/drawing/2014/main" id="{765738C3-AC44-2EB7-5758-11A09F31FA0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F3D7678-3FE0-7BDF-5207-5E34E378AB57}"/>
              </a:ext>
            </a:extLst>
          </p:cNvPr>
          <p:cNvSpPr>
            <a:spLocks noGrp="1"/>
          </p:cNvSpPr>
          <p:nvPr>
            <p:ph type="sldNum" sz="quarter" idx="12"/>
          </p:nvPr>
        </p:nvSpPr>
        <p:spPr/>
        <p:txBody>
          <a:bodyPr/>
          <a:lstStyle>
            <a:lvl1pPr>
              <a:defRPr/>
            </a:lvl1pPr>
          </a:lstStyle>
          <a:p>
            <a:pPr>
              <a:defRPr/>
            </a:pPr>
            <a:fld id="{0F716653-9652-433F-B1A0-2D5AEF939F68}" type="slidenum">
              <a:rPr lang="en-US" altLang="en-US"/>
              <a:pPr>
                <a:defRPr/>
              </a:pPr>
              <a:t>‹#›</a:t>
            </a:fld>
            <a:endParaRPr lang="en-US" altLang="en-US"/>
          </a:p>
        </p:txBody>
      </p:sp>
    </p:spTree>
    <p:extLst>
      <p:ext uri="{BB962C8B-B14F-4D97-AF65-F5344CB8AC3E}">
        <p14:creationId xmlns:p14="http://schemas.microsoft.com/office/powerpoint/2010/main" val="3450234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3073F3-1EB6-5854-1CA6-2CC8B39C422E}"/>
              </a:ext>
            </a:extLst>
          </p:cNvPr>
          <p:cNvSpPr>
            <a:spLocks noGrp="1"/>
          </p:cNvSpPr>
          <p:nvPr>
            <p:ph type="dt" sz="half" idx="10"/>
          </p:nvPr>
        </p:nvSpPr>
        <p:spPr/>
        <p:txBody>
          <a:bodyPr/>
          <a:lstStyle>
            <a:lvl1pPr>
              <a:defRPr/>
            </a:lvl1pPr>
          </a:lstStyle>
          <a:p>
            <a:pPr>
              <a:defRPr/>
            </a:pPr>
            <a:fld id="{1FEC3042-D2FB-41A1-8FC2-092842DF2E84}" type="datetimeFigureOut">
              <a:rPr lang="en-US" altLang="en-US"/>
              <a:pPr>
                <a:defRPr/>
              </a:pPr>
              <a:t>2/24/2025</a:t>
            </a:fld>
            <a:endParaRPr lang="en-US" altLang="en-US"/>
          </a:p>
        </p:txBody>
      </p:sp>
      <p:sp>
        <p:nvSpPr>
          <p:cNvPr id="5" name="Footer Placeholder 4">
            <a:extLst>
              <a:ext uri="{FF2B5EF4-FFF2-40B4-BE49-F238E27FC236}">
                <a16:creationId xmlns:a16="http://schemas.microsoft.com/office/drawing/2014/main" id="{5C62AC4A-4A1C-165F-0300-00F2E9021AE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A42D9BC-CE29-5BF4-F061-495F8CD6BE66}"/>
              </a:ext>
            </a:extLst>
          </p:cNvPr>
          <p:cNvSpPr>
            <a:spLocks noGrp="1"/>
          </p:cNvSpPr>
          <p:nvPr>
            <p:ph type="sldNum" sz="quarter" idx="12"/>
          </p:nvPr>
        </p:nvSpPr>
        <p:spPr/>
        <p:txBody>
          <a:bodyPr/>
          <a:lstStyle>
            <a:lvl1pPr>
              <a:defRPr/>
            </a:lvl1pPr>
          </a:lstStyle>
          <a:p>
            <a:pPr>
              <a:defRPr/>
            </a:pPr>
            <a:fld id="{FD599529-1C51-4162-934E-5F6760112626}" type="slidenum">
              <a:rPr lang="en-US" altLang="en-US"/>
              <a:pPr>
                <a:defRPr/>
              </a:pPr>
              <a:t>‹#›</a:t>
            </a:fld>
            <a:endParaRPr lang="en-US" altLang="en-US"/>
          </a:p>
        </p:txBody>
      </p:sp>
    </p:spTree>
    <p:extLst>
      <p:ext uri="{BB962C8B-B14F-4D97-AF65-F5344CB8AC3E}">
        <p14:creationId xmlns:p14="http://schemas.microsoft.com/office/powerpoint/2010/main" val="3804834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0"/>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5"/>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09ECAD-F832-774A-2D17-848CA28F17B9}"/>
              </a:ext>
            </a:extLst>
          </p:cNvPr>
          <p:cNvSpPr>
            <a:spLocks noGrp="1"/>
          </p:cNvSpPr>
          <p:nvPr>
            <p:ph type="dt" sz="half" idx="10"/>
          </p:nvPr>
        </p:nvSpPr>
        <p:spPr/>
        <p:txBody>
          <a:bodyPr/>
          <a:lstStyle>
            <a:lvl1pPr>
              <a:defRPr/>
            </a:lvl1pPr>
          </a:lstStyle>
          <a:p>
            <a:pPr>
              <a:defRPr/>
            </a:pPr>
            <a:fld id="{0AE055CD-8888-4916-8366-78AE3CB9CCA5}" type="datetimeFigureOut">
              <a:rPr lang="en-US" altLang="en-US"/>
              <a:pPr>
                <a:defRPr/>
              </a:pPr>
              <a:t>2/24/2025</a:t>
            </a:fld>
            <a:endParaRPr lang="en-US" altLang="en-US"/>
          </a:p>
        </p:txBody>
      </p:sp>
      <p:sp>
        <p:nvSpPr>
          <p:cNvPr id="5" name="Footer Placeholder 4">
            <a:extLst>
              <a:ext uri="{FF2B5EF4-FFF2-40B4-BE49-F238E27FC236}">
                <a16:creationId xmlns:a16="http://schemas.microsoft.com/office/drawing/2014/main" id="{45C9CFD3-5AA1-005D-F547-5B3526F3A84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F735BFD-9234-DEE2-889D-F68D1258190C}"/>
              </a:ext>
            </a:extLst>
          </p:cNvPr>
          <p:cNvSpPr>
            <a:spLocks noGrp="1"/>
          </p:cNvSpPr>
          <p:nvPr>
            <p:ph type="sldNum" sz="quarter" idx="12"/>
          </p:nvPr>
        </p:nvSpPr>
        <p:spPr/>
        <p:txBody>
          <a:bodyPr/>
          <a:lstStyle>
            <a:lvl1pPr>
              <a:defRPr/>
            </a:lvl1pPr>
          </a:lstStyle>
          <a:p>
            <a:pPr>
              <a:defRPr/>
            </a:pPr>
            <a:fld id="{EE8FAEC3-47CF-40BB-92C8-78D0F689175F}" type="slidenum">
              <a:rPr lang="en-US" altLang="en-US"/>
              <a:pPr>
                <a:defRPr/>
              </a:pPr>
              <a:t>‹#›</a:t>
            </a:fld>
            <a:endParaRPr lang="en-US" altLang="en-US"/>
          </a:p>
        </p:txBody>
      </p:sp>
    </p:spTree>
    <p:extLst>
      <p:ext uri="{BB962C8B-B14F-4D97-AF65-F5344CB8AC3E}">
        <p14:creationId xmlns:p14="http://schemas.microsoft.com/office/powerpoint/2010/main" val="35356547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6F9A674C-D20D-E6F9-1731-8567B9F83A94}"/>
              </a:ext>
            </a:extLst>
          </p:cNvPr>
          <p:cNvSpPr>
            <a:spLocks noGrp="1"/>
          </p:cNvSpPr>
          <p:nvPr>
            <p:ph type="dt" sz="half" idx="10"/>
          </p:nvPr>
        </p:nvSpPr>
        <p:spPr/>
        <p:txBody>
          <a:bodyPr/>
          <a:lstStyle>
            <a:lvl1pPr>
              <a:defRPr/>
            </a:lvl1pPr>
          </a:lstStyle>
          <a:p>
            <a:pPr>
              <a:defRPr/>
            </a:pPr>
            <a:fld id="{48D890FA-CC95-44C3-9CA0-9024EAF4C6E2}" type="datetimeFigureOut">
              <a:rPr lang="en-US" altLang="en-US"/>
              <a:pPr>
                <a:defRPr/>
              </a:pPr>
              <a:t>2/24/2025</a:t>
            </a:fld>
            <a:endParaRPr lang="en-US" altLang="en-US"/>
          </a:p>
        </p:txBody>
      </p:sp>
      <p:sp>
        <p:nvSpPr>
          <p:cNvPr id="6" name="Footer Placeholder 4">
            <a:extLst>
              <a:ext uri="{FF2B5EF4-FFF2-40B4-BE49-F238E27FC236}">
                <a16:creationId xmlns:a16="http://schemas.microsoft.com/office/drawing/2014/main" id="{2F2FCFAC-2971-D85E-4EF8-6FAC266C63CF}"/>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F4CF3AA-29B6-5A25-050B-5718D8A73AC4}"/>
              </a:ext>
            </a:extLst>
          </p:cNvPr>
          <p:cNvSpPr>
            <a:spLocks noGrp="1"/>
          </p:cNvSpPr>
          <p:nvPr>
            <p:ph type="sldNum" sz="quarter" idx="12"/>
          </p:nvPr>
        </p:nvSpPr>
        <p:spPr/>
        <p:txBody>
          <a:bodyPr/>
          <a:lstStyle>
            <a:lvl1pPr>
              <a:defRPr/>
            </a:lvl1pPr>
          </a:lstStyle>
          <a:p>
            <a:pPr>
              <a:defRPr/>
            </a:pPr>
            <a:fld id="{1E87BADE-CB3E-4B16-B4A8-6C249895F790}" type="slidenum">
              <a:rPr lang="en-US" altLang="en-US"/>
              <a:pPr>
                <a:defRPr/>
              </a:pPr>
              <a:t>‹#›</a:t>
            </a:fld>
            <a:endParaRPr lang="en-US" altLang="en-US"/>
          </a:p>
        </p:txBody>
      </p:sp>
    </p:spTree>
    <p:extLst>
      <p:ext uri="{BB962C8B-B14F-4D97-AF65-F5344CB8AC3E}">
        <p14:creationId xmlns:p14="http://schemas.microsoft.com/office/powerpoint/2010/main" val="4498013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7"/>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9"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9"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9F86A24F-82DA-1373-BD17-9390DAA173D7}"/>
              </a:ext>
            </a:extLst>
          </p:cNvPr>
          <p:cNvSpPr>
            <a:spLocks noGrp="1"/>
          </p:cNvSpPr>
          <p:nvPr>
            <p:ph type="dt" sz="half" idx="10"/>
          </p:nvPr>
        </p:nvSpPr>
        <p:spPr/>
        <p:txBody>
          <a:bodyPr/>
          <a:lstStyle>
            <a:lvl1pPr>
              <a:defRPr/>
            </a:lvl1pPr>
          </a:lstStyle>
          <a:p>
            <a:pPr>
              <a:defRPr/>
            </a:pPr>
            <a:fld id="{D7808AD1-BAEB-459F-8CE9-ED2978C2284A}" type="datetimeFigureOut">
              <a:rPr lang="en-US" altLang="en-US"/>
              <a:pPr>
                <a:defRPr/>
              </a:pPr>
              <a:t>2/24/2025</a:t>
            </a:fld>
            <a:endParaRPr lang="en-US" altLang="en-US"/>
          </a:p>
        </p:txBody>
      </p:sp>
      <p:sp>
        <p:nvSpPr>
          <p:cNvPr id="8" name="Footer Placeholder 4">
            <a:extLst>
              <a:ext uri="{FF2B5EF4-FFF2-40B4-BE49-F238E27FC236}">
                <a16:creationId xmlns:a16="http://schemas.microsoft.com/office/drawing/2014/main" id="{4B387A06-DC58-6C09-21CA-E0BCBE1DCB48}"/>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9619A563-31F3-16C3-0270-F469C3DC3854}"/>
              </a:ext>
            </a:extLst>
          </p:cNvPr>
          <p:cNvSpPr>
            <a:spLocks noGrp="1"/>
          </p:cNvSpPr>
          <p:nvPr>
            <p:ph type="sldNum" sz="quarter" idx="12"/>
          </p:nvPr>
        </p:nvSpPr>
        <p:spPr/>
        <p:txBody>
          <a:bodyPr/>
          <a:lstStyle>
            <a:lvl1pPr>
              <a:defRPr/>
            </a:lvl1pPr>
          </a:lstStyle>
          <a:p>
            <a:pPr>
              <a:defRPr/>
            </a:pPr>
            <a:fld id="{3706C1D6-D591-4898-B0A5-29BC747352D0}" type="slidenum">
              <a:rPr lang="en-US" altLang="en-US"/>
              <a:pPr>
                <a:defRPr/>
              </a:pPr>
              <a:t>‹#›</a:t>
            </a:fld>
            <a:endParaRPr lang="en-US" altLang="en-US"/>
          </a:p>
        </p:txBody>
      </p:sp>
    </p:spTree>
    <p:extLst>
      <p:ext uri="{BB962C8B-B14F-4D97-AF65-F5344CB8AC3E}">
        <p14:creationId xmlns:p14="http://schemas.microsoft.com/office/powerpoint/2010/main" val="32869075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8FC9CB39-F294-745F-1095-7C7BC821EDDA}"/>
              </a:ext>
            </a:extLst>
          </p:cNvPr>
          <p:cNvSpPr>
            <a:spLocks noGrp="1"/>
          </p:cNvSpPr>
          <p:nvPr>
            <p:ph type="dt" sz="half" idx="10"/>
          </p:nvPr>
        </p:nvSpPr>
        <p:spPr/>
        <p:txBody>
          <a:bodyPr/>
          <a:lstStyle>
            <a:lvl1pPr>
              <a:defRPr/>
            </a:lvl1pPr>
          </a:lstStyle>
          <a:p>
            <a:pPr>
              <a:defRPr/>
            </a:pPr>
            <a:fld id="{CF6641C7-CAF7-4450-A806-7DFE40C4624C}" type="datetimeFigureOut">
              <a:rPr lang="en-US" altLang="en-US"/>
              <a:pPr>
                <a:defRPr/>
              </a:pPr>
              <a:t>2/24/2025</a:t>
            </a:fld>
            <a:endParaRPr lang="en-US" altLang="en-US"/>
          </a:p>
        </p:txBody>
      </p:sp>
      <p:sp>
        <p:nvSpPr>
          <p:cNvPr id="4" name="Footer Placeholder 4">
            <a:extLst>
              <a:ext uri="{FF2B5EF4-FFF2-40B4-BE49-F238E27FC236}">
                <a16:creationId xmlns:a16="http://schemas.microsoft.com/office/drawing/2014/main" id="{6942E0BF-FD5A-99F3-2C43-90BC975CBA16}"/>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58A6F108-2393-D6EE-5B8D-E01B2FC938D7}"/>
              </a:ext>
            </a:extLst>
          </p:cNvPr>
          <p:cNvSpPr>
            <a:spLocks noGrp="1"/>
          </p:cNvSpPr>
          <p:nvPr>
            <p:ph type="sldNum" sz="quarter" idx="12"/>
          </p:nvPr>
        </p:nvSpPr>
        <p:spPr/>
        <p:txBody>
          <a:bodyPr/>
          <a:lstStyle>
            <a:lvl1pPr>
              <a:defRPr/>
            </a:lvl1pPr>
          </a:lstStyle>
          <a:p>
            <a:pPr>
              <a:defRPr/>
            </a:pPr>
            <a:fld id="{799F23CF-AEE5-4740-983E-75270B0A4E37}" type="slidenum">
              <a:rPr lang="en-US" altLang="en-US"/>
              <a:pPr>
                <a:defRPr/>
              </a:pPr>
              <a:t>‹#›</a:t>
            </a:fld>
            <a:endParaRPr lang="en-US" altLang="en-US"/>
          </a:p>
        </p:txBody>
      </p:sp>
    </p:spTree>
    <p:extLst>
      <p:ext uri="{BB962C8B-B14F-4D97-AF65-F5344CB8AC3E}">
        <p14:creationId xmlns:p14="http://schemas.microsoft.com/office/powerpoint/2010/main" val="14406820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6AD3475-5436-13A3-280D-AF432833FDB6}"/>
              </a:ext>
            </a:extLst>
          </p:cNvPr>
          <p:cNvSpPr>
            <a:spLocks noGrp="1"/>
          </p:cNvSpPr>
          <p:nvPr>
            <p:ph type="dt" sz="half" idx="10"/>
          </p:nvPr>
        </p:nvSpPr>
        <p:spPr/>
        <p:txBody>
          <a:bodyPr/>
          <a:lstStyle>
            <a:lvl1pPr>
              <a:defRPr/>
            </a:lvl1pPr>
          </a:lstStyle>
          <a:p>
            <a:pPr>
              <a:defRPr/>
            </a:pPr>
            <a:fld id="{1903FA42-ED9B-4DFF-BC68-96CF877700A5}" type="datetimeFigureOut">
              <a:rPr lang="en-US" altLang="en-US"/>
              <a:pPr>
                <a:defRPr/>
              </a:pPr>
              <a:t>2/24/2025</a:t>
            </a:fld>
            <a:endParaRPr lang="en-US" altLang="en-US"/>
          </a:p>
        </p:txBody>
      </p:sp>
      <p:sp>
        <p:nvSpPr>
          <p:cNvPr id="3" name="Footer Placeholder 4">
            <a:extLst>
              <a:ext uri="{FF2B5EF4-FFF2-40B4-BE49-F238E27FC236}">
                <a16:creationId xmlns:a16="http://schemas.microsoft.com/office/drawing/2014/main" id="{06A06637-88B2-208F-9F9C-10B45106B07C}"/>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37F847BD-636B-6714-FE44-A0469BAC3F16}"/>
              </a:ext>
            </a:extLst>
          </p:cNvPr>
          <p:cNvSpPr>
            <a:spLocks noGrp="1"/>
          </p:cNvSpPr>
          <p:nvPr>
            <p:ph type="sldNum" sz="quarter" idx="12"/>
          </p:nvPr>
        </p:nvSpPr>
        <p:spPr/>
        <p:txBody>
          <a:bodyPr/>
          <a:lstStyle>
            <a:lvl1pPr>
              <a:defRPr/>
            </a:lvl1pPr>
          </a:lstStyle>
          <a:p>
            <a:pPr>
              <a:defRPr/>
            </a:pPr>
            <a:fld id="{B1CD719B-322A-4028-85BF-B9DD822C02E6}" type="slidenum">
              <a:rPr lang="en-US" altLang="en-US"/>
              <a:pPr>
                <a:defRPr/>
              </a:pPr>
              <a:t>‹#›</a:t>
            </a:fld>
            <a:endParaRPr lang="en-US" altLang="en-US"/>
          </a:p>
        </p:txBody>
      </p:sp>
    </p:spTree>
    <p:extLst>
      <p:ext uri="{BB962C8B-B14F-4D97-AF65-F5344CB8AC3E}">
        <p14:creationId xmlns:p14="http://schemas.microsoft.com/office/powerpoint/2010/main" val="2869959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9"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7"/>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9"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57D603A1-CCFF-DFA5-D8CD-147CA5282C7D}"/>
              </a:ext>
            </a:extLst>
          </p:cNvPr>
          <p:cNvSpPr>
            <a:spLocks noGrp="1"/>
          </p:cNvSpPr>
          <p:nvPr>
            <p:ph type="dt" sz="half" idx="10"/>
          </p:nvPr>
        </p:nvSpPr>
        <p:spPr/>
        <p:txBody>
          <a:bodyPr/>
          <a:lstStyle>
            <a:lvl1pPr>
              <a:defRPr/>
            </a:lvl1pPr>
          </a:lstStyle>
          <a:p>
            <a:pPr>
              <a:defRPr/>
            </a:pPr>
            <a:fld id="{8FE26690-41CD-4ECE-B453-C1E59146BE46}" type="datetimeFigureOut">
              <a:rPr lang="en-US" altLang="en-US"/>
              <a:pPr>
                <a:defRPr/>
              </a:pPr>
              <a:t>2/24/2025</a:t>
            </a:fld>
            <a:endParaRPr lang="en-US" altLang="en-US"/>
          </a:p>
        </p:txBody>
      </p:sp>
      <p:sp>
        <p:nvSpPr>
          <p:cNvPr id="6" name="Footer Placeholder 4">
            <a:extLst>
              <a:ext uri="{FF2B5EF4-FFF2-40B4-BE49-F238E27FC236}">
                <a16:creationId xmlns:a16="http://schemas.microsoft.com/office/drawing/2014/main" id="{11DA3552-2D17-5E2D-05C2-C0562442DB8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5117CB5-FC29-41C8-5F30-8920B9364872}"/>
              </a:ext>
            </a:extLst>
          </p:cNvPr>
          <p:cNvSpPr>
            <a:spLocks noGrp="1"/>
          </p:cNvSpPr>
          <p:nvPr>
            <p:ph type="sldNum" sz="quarter" idx="12"/>
          </p:nvPr>
        </p:nvSpPr>
        <p:spPr/>
        <p:txBody>
          <a:bodyPr/>
          <a:lstStyle>
            <a:lvl1pPr>
              <a:defRPr/>
            </a:lvl1pPr>
          </a:lstStyle>
          <a:p>
            <a:pPr>
              <a:defRPr/>
            </a:pPr>
            <a:fld id="{2A416C4C-D949-42B3-9CB0-EC1A6F291F8A}" type="slidenum">
              <a:rPr lang="en-US" altLang="en-US"/>
              <a:pPr>
                <a:defRPr/>
              </a:pPr>
              <a:t>‹#›</a:t>
            </a:fld>
            <a:endParaRPr lang="en-US" altLang="en-US"/>
          </a:p>
        </p:txBody>
      </p:sp>
    </p:spTree>
    <p:extLst>
      <p:ext uri="{BB962C8B-B14F-4D97-AF65-F5344CB8AC3E}">
        <p14:creationId xmlns:p14="http://schemas.microsoft.com/office/powerpoint/2010/main" val="15087111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9"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7"/>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9"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D53AAFC8-CE9E-99E2-E33A-5B1E2799FB7E}"/>
              </a:ext>
            </a:extLst>
          </p:cNvPr>
          <p:cNvSpPr>
            <a:spLocks noGrp="1"/>
          </p:cNvSpPr>
          <p:nvPr>
            <p:ph type="dt" sz="half" idx="10"/>
          </p:nvPr>
        </p:nvSpPr>
        <p:spPr/>
        <p:txBody>
          <a:bodyPr/>
          <a:lstStyle>
            <a:lvl1pPr>
              <a:defRPr/>
            </a:lvl1pPr>
          </a:lstStyle>
          <a:p>
            <a:pPr>
              <a:defRPr/>
            </a:pPr>
            <a:fld id="{385162AD-6621-4F82-9871-8DFF9D3A994D}" type="datetimeFigureOut">
              <a:rPr lang="en-US" altLang="en-US"/>
              <a:pPr>
                <a:defRPr/>
              </a:pPr>
              <a:t>2/24/2025</a:t>
            </a:fld>
            <a:endParaRPr lang="en-US" altLang="en-US"/>
          </a:p>
        </p:txBody>
      </p:sp>
      <p:sp>
        <p:nvSpPr>
          <p:cNvPr id="6" name="Footer Placeholder 4">
            <a:extLst>
              <a:ext uri="{FF2B5EF4-FFF2-40B4-BE49-F238E27FC236}">
                <a16:creationId xmlns:a16="http://schemas.microsoft.com/office/drawing/2014/main" id="{5D8DA936-F19B-61E9-A8B4-4D24821E4BE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E7666CC-AA26-CE01-B01C-927AE78A3659}"/>
              </a:ext>
            </a:extLst>
          </p:cNvPr>
          <p:cNvSpPr>
            <a:spLocks noGrp="1"/>
          </p:cNvSpPr>
          <p:nvPr>
            <p:ph type="sldNum" sz="quarter" idx="12"/>
          </p:nvPr>
        </p:nvSpPr>
        <p:spPr/>
        <p:txBody>
          <a:bodyPr/>
          <a:lstStyle>
            <a:lvl1pPr>
              <a:defRPr/>
            </a:lvl1pPr>
          </a:lstStyle>
          <a:p>
            <a:pPr>
              <a:defRPr/>
            </a:pPr>
            <a:fld id="{AA7B9A8E-AB36-4B8F-A0F5-78DF901E0949}" type="slidenum">
              <a:rPr lang="en-US" altLang="en-US"/>
              <a:pPr>
                <a:defRPr/>
              </a:pPr>
              <a:t>‹#›</a:t>
            </a:fld>
            <a:endParaRPr lang="en-US" altLang="en-US"/>
          </a:p>
        </p:txBody>
      </p:sp>
    </p:spTree>
    <p:extLst>
      <p:ext uri="{BB962C8B-B14F-4D97-AF65-F5344CB8AC3E}">
        <p14:creationId xmlns:p14="http://schemas.microsoft.com/office/powerpoint/2010/main" val="30251947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7C5344-11F9-85A1-A6DA-1D902921AECF}"/>
              </a:ext>
            </a:extLst>
          </p:cNvPr>
          <p:cNvSpPr>
            <a:spLocks noGrp="1"/>
          </p:cNvSpPr>
          <p:nvPr>
            <p:ph type="dt" sz="half" idx="10"/>
          </p:nvPr>
        </p:nvSpPr>
        <p:spPr/>
        <p:txBody>
          <a:bodyPr/>
          <a:lstStyle>
            <a:lvl1pPr>
              <a:defRPr/>
            </a:lvl1pPr>
          </a:lstStyle>
          <a:p>
            <a:pPr>
              <a:defRPr/>
            </a:pPr>
            <a:fld id="{FC6C9D22-1A97-45FA-8E22-A1F865F37B05}" type="datetimeFigureOut">
              <a:rPr lang="en-US" altLang="en-US"/>
              <a:pPr>
                <a:defRPr/>
              </a:pPr>
              <a:t>2/24/2025</a:t>
            </a:fld>
            <a:endParaRPr lang="en-US" altLang="en-US"/>
          </a:p>
        </p:txBody>
      </p:sp>
      <p:sp>
        <p:nvSpPr>
          <p:cNvPr id="5" name="Footer Placeholder 4">
            <a:extLst>
              <a:ext uri="{FF2B5EF4-FFF2-40B4-BE49-F238E27FC236}">
                <a16:creationId xmlns:a16="http://schemas.microsoft.com/office/drawing/2014/main" id="{F347F550-28FE-7804-A8B2-DDA508AE4D2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F5EEADB-BCAF-4F9A-FF6D-49A630E12687}"/>
              </a:ext>
            </a:extLst>
          </p:cNvPr>
          <p:cNvSpPr>
            <a:spLocks noGrp="1"/>
          </p:cNvSpPr>
          <p:nvPr>
            <p:ph type="sldNum" sz="quarter" idx="12"/>
          </p:nvPr>
        </p:nvSpPr>
        <p:spPr/>
        <p:txBody>
          <a:bodyPr/>
          <a:lstStyle>
            <a:lvl1pPr>
              <a:defRPr/>
            </a:lvl1pPr>
          </a:lstStyle>
          <a:p>
            <a:pPr>
              <a:defRPr/>
            </a:pPr>
            <a:fld id="{13910A17-ED0D-4A18-BD43-07AB9D6C8AB7}" type="slidenum">
              <a:rPr lang="en-US" altLang="en-US"/>
              <a:pPr>
                <a:defRPr/>
              </a:pPr>
              <a:t>‹#›</a:t>
            </a:fld>
            <a:endParaRPr lang="en-US" altLang="en-US"/>
          </a:p>
        </p:txBody>
      </p:sp>
    </p:spTree>
    <p:extLst>
      <p:ext uri="{BB962C8B-B14F-4D97-AF65-F5344CB8AC3E}">
        <p14:creationId xmlns:p14="http://schemas.microsoft.com/office/powerpoint/2010/main" val="41923550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1"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C4F136-15F9-94FE-0699-6C4CB3F1DA99}"/>
              </a:ext>
            </a:extLst>
          </p:cNvPr>
          <p:cNvSpPr>
            <a:spLocks noGrp="1"/>
          </p:cNvSpPr>
          <p:nvPr>
            <p:ph type="dt" sz="half" idx="10"/>
          </p:nvPr>
        </p:nvSpPr>
        <p:spPr/>
        <p:txBody>
          <a:bodyPr/>
          <a:lstStyle>
            <a:lvl1pPr>
              <a:defRPr/>
            </a:lvl1pPr>
          </a:lstStyle>
          <a:p>
            <a:pPr>
              <a:defRPr/>
            </a:pPr>
            <a:fld id="{41201289-C6D1-4C4C-A66D-072DA18EA7BD}" type="datetimeFigureOut">
              <a:rPr lang="en-US" altLang="en-US"/>
              <a:pPr>
                <a:defRPr/>
              </a:pPr>
              <a:t>2/24/2025</a:t>
            </a:fld>
            <a:endParaRPr lang="en-US" altLang="en-US"/>
          </a:p>
        </p:txBody>
      </p:sp>
      <p:sp>
        <p:nvSpPr>
          <p:cNvPr id="5" name="Footer Placeholder 4">
            <a:extLst>
              <a:ext uri="{FF2B5EF4-FFF2-40B4-BE49-F238E27FC236}">
                <a16:creationId xmlns:a16="http://schemas.microsoft.com/office/drawing/2014/main" id="{60C0D860-DF4E-F6AF-F2A5-62CE9B3A919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354F310-C61F-8CE1-1C4D-E9314C1DB757}"/>
              </a:ext>
            </a:extLst>
          </p:cNvPr>
          <p:cNvSpPr>
            <a:spLocks noGrp="1"/>
          </p:cNvSpPr>
          <p:nvPr>
            <p:ph type="sldNum" sz="quarter" idx="12"/>
          </p:nvPr>
        </p:nvSpPr>
        <p:spPr/>
        <p:txBody>
          <a:bodyPr/>
          <a:lstStyle>
            <a:lvl1pPr>
              <a:defRPr/>
            </a:lvl1pPr>
          </a:lstStyle>
          <a:p>
            <a:pPr>
              <a:defRPr/>
            </a:pPr>
            <a:fld id="{45EB2E0A-649A-4DB1-A143-95A6807298F2}" type="slidenum">
              <a:rPr lang="en-US" altLang="en-US"/>
              <a:pPr>
                <a:defRPr/>
              </a:pPr>
              <a:t>‹#›</a:t>
            </a:fld>
            <a:endParaRPr lang="en-US" altLang="en-US"/>
          </a:p>
        </p:txBody>
      </p:sp>
    </p:spTree>
    <p:extLst>
      <p:ext uri="{BB962C8B-B14F-4D97-AF65-F5344CB8AC3E}">
        <p14:creationId xmlns:p14="http://schemas.microsoft.com/office/powerpoint/2010/main" val="1771161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C5D626-5068-8D70-12FC-D169647B82E4}"/>
              </a:ext>
            </a:extLst>
          </p:cNvPr>
          <p:cNvSpPr>
            <a:spLocks noGrp="1"/>
          </p:cNvSpPr>
          <p:nvPr>
            <p:ph type="title"/>
          </p:nvPr>
        </p:nvSpPr>
        <p:spPr>
          <a:xfrm>
            <a:off x="609600" y="609600"/>
            <a:ext cx="8001000" cy="1219200"/>
          </a:xfrm>
          <a:prstGeom prst="rect">
            <a:avLst/>
          </a:prstGeom>
        </p:spPr>
        <p:txBody>
          <a:bodyPr vert="horz" lIns="91440" tIns="45720" rIns="91440" bIns="45720" rtlCol="0" anchor="ctr">
            <a:noAutofit/>
          </a:bodyPr>
          <a:lstStyle/>
          <a:p>
            <a:endParaRPr lang="en-US" dirty="0"/>
          </a:p>
        </p:txBody>
      </p:sp>
      <p:sp>
        <p:nvSpPr>
          <p:cNvPr id="1027" name="Text Placeholder 2">
            <a:extLst>
              <a:ext uri="{FF2B5EF4-FFF2-40B4-BE49-F238E27FC236}">
                <a16:creationId xmlns:a16="http://schemas.microsoft.com/office/drawing/2014/main" id="{274C4A77-DDBA-D79D-9084-2E2EDD128237}"/>
              </a:ext>
            </a:extLst>
          </p:cNvPr>
          <p:cNvSpPr>
            <a:spLocks noGrp="1"/>
          </p:cNvSpPr>
          <p:nvPr>
            <p:ph type="body" idx="1"/>
          </p:nvPr>
        </p:nvSpPr>
        <p:spPr bwMode="auto">
          <a:xfrm>
            <a:off x="609600" y="2057400"/>
            <a:ext cx="8001000" cy="429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AU" altLang="en-US"/>
              <a:t>Click to edit Master text styles</a:t>
            </a:r>
          </a:p>
          <a:p>
            <a:pPr lvl="1"/>
            <a:r>
              <a:rPr lang="en-AU" altLang="en-US"/>
              <a:t>SecondClick to edit Master title style</a:t>
            </a:r>
            <a:endParaRPr lang="en-US" altLang="en-US"/>
          </a:p>
          <a:p>
            <a:pPr lvl="1"/>
            <a:r>
              <a:rPr lang="en-AU" altLang="en-US"/>
              <a:t> level</a:t>
            </a:r>
          </a:p>
          <a:p>
            <a:pPr lvl="2"/>
            <a:r>
              <a:rPr lang="en-AU" altLang="en-US"/>
              <a:t>Third level</a:t>
            </a:r>
          </a:p>
          <a:p>
            <a:pPr lvl="3"/>
            <a:r>
              <a:rPr lang="en-AU" altLang="en-US"/>
              <a:t>Fourth level</a:t>
            </a:r>
          </a:p>
          <a:p>
            <a:pPr lvl="4"/>
            <a:r>
              <a:rPr lang="en-AU" altLang="en-US"/>
              <a:t>Fifth level</a:t>
            </a:r>
            <a:endParaRPr lang="en-US" altLang="en-US"/>
          </a:p>
        </p:txBody>
      </p:sp>
    </p:spTree>
  </p:cSld>
  <p:clrMap bg1="lt1" tx1="dk1" bg2="lt2" tx2="dk2" accent1="accent1" accent2="accent2" accent3="accent3" accent4="accent4" accent5="accent5" accent6="accent6" hlink="hlink" folHlink="folHlink"/>
  <p:sldLayoutIdLst>
    <p:sldLayoutId id="2147484911" r:id="rId1"/>
    <p:sldLayoutId id="2147484896" r:id="rId2"/>
    <p:sldLayoutId id="2147484897" r:id="rId3"/>
    <p:sldLayoutId id="2147484898" r:id="rId4"/>
    <p:sldLayoutId id="2147484899" r:id="rId5"/>
    <p:sldLayoutId id="2147484912" r:id="rId6"/>
    <p:sldLayoutId id="2147484913" r:id="rId7"/>
    <p:sldLayoutId id="2147484914" r:id="rId8"/>
    <p:sldLayoutId id="2147484915" r:id="rId9"/>
    <p:sldLayoutId id="2147484916" r:id="rId10"/>
    <p:sldLayoutId id="2147484917" r:id="rId11"/>
  </p:sldLayoutIdLst>
  <p:txStyles>
    <p:titleStyle>
      <a:lvl1pPr algn="ctr" defTabSz="457200" rtl="0" eaLnBrk="0" fontAlgn="base" hangingPunct="0">
        <a:spcBef>
          <a:spcPct val="0"/>
        </a:spcBef>
        <a:spcAft>
          <a:spcPct val="0"/>
        </a:spcAft>
        <a:defRPr sz="4000" kern="1200" cap="all">
          <a:solidFill>
            <a:schemeClr val="tx1"/>
          </a:solidFill>
          <a:latin typeface="Arial"/>
          <a:ea typeface="MS PGothic" panose="020B0600070205080204" pitchFamily="34" charset="-128"/>
          <a:cs typeface="Arial"/>
        </a:defRPr>
      </a:lvl1pPr>
      <a:lvl2pPr algn="ctr" defTabSz="457200" rtl="0" eaLnBrk="0" fontAlgn="base" hangingPunct="0">
        <a:spcBef>
          <a:spcPct val="0"/>
        </a:spcBef>
        <a:spcAft>
          <a:spcPct val="0"/>
        </a:spcAft>
        <a:defRPr sz="4000">
          <a:solidFill>
            <a:schemeClr val="tx1"/>
          </a:solidFill>
          <a:latin typeface="Arial" pitchFamily="34" charset="0"/>
          <a:ea typeface="MS PGothic" panose="020B0600070205080204" pitchFamily="34" charset="-128"/>
          <a:cs typeface="Arial" charset="0"/>
        </a:defRPr>
      </a:lvl2pPr>
      <a:lvl3pPr algn="ctr" defTabSz="457200" rtl="0" eaLnBrk="0" fontAlgn="base" hangingPunct="0">
        <a:spcBef>
          <a:spcPct val="0"/>
        </a:spcBef>
        <a:spcAft>
          <a:spcPct val="0"/>
        </a:spcAft>
        <a:defRPr sz="4000">
          <a:solidFill>
            <a:schemeClr val="tx1"/>
          </a:solidFill>
          <a:latin typeface="Arial" pitchFamily="34" charset="0"/>
          <a:ea typeface="MS PGothic" panose="020B0600070205080204" pitchFamily="34" charset="-128"/>
          <a:cs typeface="Arial" charset="0"/>
        </a:defRPr>
      </a:lvl3pPr>
      <a:lvl4pPr algn="ctr" defTabSz="457200" rtl="0" eaLnBrk="0" fontAlgn="base" hangingPunct="0">
        <a:spcBef>
          <a:spcPct val="0"/>
        </a:spcBef>
        <a:spcAft>
          <a:spcPct val="0"/>
        </a:spcAft>
        <a:defRPr sz="4000">
          <a:solidFill>
            <a:schemeClr val="tx1"/>
          </a:solidFill>
          <a:latin typeface="Arial" pitchFamily="34" charset="0"/>
          <a:ea typeface="MS PGothic" panose="020B0600070205080204" pitchFamily="34" charset="-128"/>
          <a:cs typeface="Arial" charset="0"/>
        </a:defRPr>
      </a:lvl4pPr>
      <a:lvl5pPr algn="ctr" defTabSz="457200" rtl="0" eaLnBrk="0" fontAlgn="base" hangingPunct="0">
        <a:spcBef>
          <a:spcPct val="0"/>
        </a:spcBef>
        <a:spcAft>
          <a:spcPct val="0"/>
        </a:spcAft>
        <a:defRPr sz="4000">
          <a:solidFill>
            <a:schemeClr val="tx1"/>
          </a:solidFill>
          <a:latin typeface="Arial" pitchFamily="34" charset="0"/>
          <a:ea typeface="MS PGothic" panose="020B0600070205080204" pitchFamily="34" charset="-128"/>
          <a:cs typeface="Arial" charset="0"/>
        </a:defRPr>
      </a:lvl5pPr>
      <a:lvl6pPr marL="457200" algn="ctr" defTabSz="457200" rtl="0" fontAlgn="base">
        <a:spcBef>
          <a:spcPct val="0"/>
        </a:spcBef>
        <a:spcAft>
          <a:spcPct val="0"/>
        </a:spcAft>
        <a:defRPr sz="4000">
          <a:solidFill>
            <a:schemeClr val="tx1"/>
          </a:solidFill>
          <a:latin typeface="Arial" pitchFamily="34" charset="0"/>
          <a:ea typeface="ＭＳ Ｐゴシック" pitchFamily="1" charset="-128"/>
        </a:defRPr>
      </a:lvl6pPr>
      <a:lvl7pPr marL="914400" algn="ctr" defTabSz="457200" rtl="0" fontAlgn="base">
        <a:spcBef>
          <a:spcPct val="0"/>
        </a:spcBef>
        <a:spcAft>
          <a:spcPct val="0"/>
        </a:spcAft>
        <a:defRPr sz="4000">
          <a:solidFill>
            <a:schemeClr val="tx1"/>
          </a:solidFill>
          <a:latin typeface="Arial" pitchFamily="34" charset="0"/>
          <a:ea typeface="ＭＳ Ｐゴシック" pitchFamily="1" charset="-128"/>
        </a:defRPr>
      </a:lvl7pPr>
      <a:lvl8pPr marL="1371600" algn="ctr" defTabSz="457200" rtl="0" fontAlgn="base">
        <a:spcBef>
          <a:spcPct val="0"/>
        </a:spcBef>
        <a:spcAft>
          <a:spcPct val="0"/>
        </a:spcAft>
        <a:defRPr sz="4000">
          <a:solidFill>
            <a:schemeClr val="tx1"/>
          </a:solidFill>
          <a:latin typeface="Arial" pitchFamily="34" charset="0"/>
          <a:ea typeface="ＭＳ Ｐゴシック" pitchFamily="1" charset="-128"/>
        </a:defRPr>
      </a:lvl8pPr>
      <a:lvl9pPr marL="1828800" algn="ctr" defTabSz="457200" rtl="0" fontAlgn="base">
        <a:spcBef>
          <a:spcPct val="0"/>
        </a:spcBef>
        <a:spcAft>
          <a:spcPct val="0"/>
        </a:spcAft>
        <a:defRPr sz="4000">
          <a:solidFill>
            <a:schemeClr val="tx1"/>
          </a:solidFill>
          <a:latin typeface="Arial" pitchFamily="34" charset="0"/>
          <a:ea typeface="ＭＳ Ｐゴシック" pitchFamily="1" charset="-128"/>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Arial"/>
          <a:ea typeface="MS PGothic" panose="020B0600070205080204" pitchFamily="34" charset="-128"/>
          <a:cs typeface="Arial"/>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a:ea typeface="MS PGothic" panose="020B0600070205080204" pitchFamily="34" charset="-128"/>
          <a:cs typeface="Arial"/>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a:ea typeface="MS PGothic" panose="020B0600070205080204" pitchFamily="34" charset="-128"/>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MS PGothic" panose="020B0600070205080204" pitchFamily="34" charset="-128"/>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MS PGothic" panose="020B0600070205080204" pitchFamily="34"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47397543-67C5-F7F1-68AC-318E810A82AC}"/>
              </a:ext>
            </a:extLst>
          </p:cNvPr>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5D5F7CB8-6BDE-81D0-15E2-70F1EF291390}"/>
              </a:ext>
            </a:extLst>
          </p:cNvPr>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C54D1092-9F1F-3143-719B-4FAABB1DE897}"/>
              </a:ext>
            </a:extLst>
          </p:cNvPr>
          <p:cNvSpPr>
            <a:spLocks noGrp="1"/>
          </p:cNvSpPr>
          <p:nvPr>
            <p:ph type="dt" sz="half" idx="2"/>
          </p:nvPr>
        </p:nvSpPr>
        <p:spPr>
          <a:xfrm>
            <a:off x="628650" y="6356350"/>
            <a:ext cx="20574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pPr>
              <a:defRPr/>
            </a:pPr>
            <a:fld id="{2F4EFB12-55BB-430E-87E4-70744DB9B2D2}" type="datetimeFigureOut">
              <a:rPr lang="en-US" altLang="en-US"/>
              <a:pPr>
                <a:defRPr/>
              </a:pPr>
              <a:t>2/24/2025</a:t>
            </a:fld>
            <a:endParaRPr lang="en-US" altLang="en-US"/>
          </a:p>
        </p:txBody>
      </p:sp>
      <p:sp>
        <p:nvSpPr>
          <p:cNvPr id="5" name="Footer Placeholder 4">
            <a:extLst>
              <a:ext uri="{FF2B5EF4-FFF2-40B4-BE49-F238E27FC236}">
                <a16:creationId xmlns:a16="http://schemas.microsoft.com/office/drawing/2014/main" id="{F4B0A030-F76E-8F83-D7EE-ECAB388EE5F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latin typeface="Calibri" charset="0"/>
                <a:ea typeface="ＭＳ Ｐゴシック" charset="-128"/>
                <a:cs typeface="+mn-cs"/>
              </a:defRPr>
            </a:lvl1pPr>
          </a:lstStyle>
          <a:p>
            <a:pPr>
              <a:defRPr/>
            </a:pPr>
            <a:endParaRPr lang="en-US"/>
          </a:p>
        </p:txBody>
      </p:sp>
      <p:sp>
        <p:nvSpPr>
          <p:cNvPr id="6" name="Slide Number Placeholder 5">
            <a:extLst>
              <a:ext uri="{FF2B5EF4-FFF2-40B4-BE49-F238E27FC236}">
                <a16:creationId xmlns:a16="http://schemas.microsoft.com/office/drawing/2014/main" id="{C005A747-9436-3FFA-B215-10C8C49FED4F}"/>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9613BCEC-7CF0-4EC9-A16B-7A0D0D476A0E}"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900" r:id="rId1"/>
    <p:sldLayoutId id="2147484901" r:id="rId2"/>
    <p:sldLayoutId id="2147484902" r:id="rId3"/>
    <p:sldLayoutId id="2147484903" r:id="rId4"/>
    <p:sldLayoutId id="2147484904" r:id="rId5"/>
    <p:sldLayoutId id="2147484905" r:id="rId6"/>
    <p:sldLayoutId id="2147484906" r:id="rId7"/>
    <p:sldLayoutId id="2147484907" r:id="rId8"/>
    <p:sldLayoutId id="2147484908" r:id="rId9"/>
    <p:sldLayoutId id="2147484909" r:id="rId10"/>
    <p:sldLayoutId id="2147484910"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S PGothic" panose="020B0600070205080204" pitchFamily="34" charset="-128"/>
          <a:cs typeface="ＭＳ Ｐゴシック" charset="0"/>
        </a:defRPr>
      </a:lvl1pPr>
      <a:lvl2pPr algn="l" rtl="0" eaLnBrk="0" fontAlgn="base" hangingPunct="0">
        <a:lnSpc>
          <a:spcPct val="90000"/>
        </a:lnSpc>
        <a:spcBef>
          <a:spcPct val="0"/>
        </a:spcBef>
        <a:spcAft>
          <a:spcPct val="0"/>
        </a:spcAft>
        <a:defRPr sz="4400">
          <a:solidFill>
            <a:schemeClr val="tx1"/>
          </a:solidFill>
          <a:latin typeface="Calibri Light" charset="0"/>
          <a:ea typeface="MS PGothic" panose="020B0600070205080204" pitchFamily="34" charset="-128"/>
          <a:cs typeface="ＭＳ Ｐゴシック" charset="0"/>
        </a:defRPr>
      </a:lvl2pPr>
      <a:lvl3pPr algn="l" rtl="0" eaLnBrk="0" fontAlgn="base" hangingPunct="0">
        <a:lnSpc>
          <a:spcPct val="90000"/>
        </a:lnSpc>
        <a:spcBef>
          <a:spcPct val="0"/>
        </a:spcBef>
        <a:spcAft>
          <a:spcPct val="0"/>
        </a:spcAft>
        <a:defRPr sz="4400">
          <a:solidFill>
            <a:schemeClr val="tx1"/>
          </a:solidFill>
          <a:latin typeface="Calibri Light" charset="0"/>
          <a:ea typeface="MS PGothic" panose="020B0600070205080204" pitchFamily="34" charset="-128"/>
          <a:cs typeface="ＭＳ Ｐゴシック" charset="0"/>
        </a:defRPr>
      </a:lvl3pPr>
      <a:lvl4pPr algn="l" rtl="0" eaLnBrk="0" fontAlgn="base" hangingPunct="0">
        <a:lnSpc>
          <a:spcPct val="90000"/>
        </a:lnSpc>
        <a:spcBef>
          <a:spcPct val="0"/>
        </a:spcBef>
        <a:spcAft>
          <a:spcPct val="0"/>
        </a:spcAft>
        <a:defRPr sz="4400">
          <a:solidFill>
            <a:schemeClr val="tx1"/>
          </a:solidFill>
          <a:latin typeface="Calibri Light" charset="0"/>
          <a:ea typeface="MS PGothic" panose="020B0600070205080204" pitchFamily="34" charset="-128"/>
          <a:cs typeface="ＭＳ Ｐゴシック" charset="0"/>
        </a:defRPr>
      </a:lvl4pPr>
      <a:lvl5pPr algn="l" rtl="0" eaLnBrk="0" fontAlgn="base" hangingPunct="0">
        <a:lnSpc>
          <a:spcPct val="90000"/>
        </a:lnSpc>
        <a:spcBef>
          <a:spcPct val="0"/>
        </a:spcBef>
        <a:spcAft>
          <a:spcPct val="0"/>
        </a:spcAft>
        <a:defRPr sz="4400">
          <a:solidFill>
            <a:schemeClr val="tx1"/>
          </a:solidFill>
          <a:latin typeface="Calibri Light" charset="0"/>
          <a:ea typeface="MS PGothic" panose="020B0600070205080204" pitchFamily="34" charset="-128"/>
          <a:cs typeface="ＭＳ Ｐゴシック"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ＭＳ Ｐゴシック"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S PGothic" panose="020B0600070205080204" pitchFamily="34" charset="-128"/>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S PGothic" panose="020B0600070205080204" pitchFamily="34" charset="-128"/>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C0AE7C-1223-2CFF-FC02-567779170D43}"/>
              </a:ext>
            </a:extLst>
          </p:cNvPr>
          <p:cNvSpPr txBox="1"/>
          <p:nvPr/>
        </p:nvSpPr>
        <p:spPr>
          <a:xfrm>
            <a:off x="3132138" y="476250"/>
            <a:ext cx="5905500" cy="1939925"/>
          </a:xfrm>
          <a:prstGeom prst="rect">
            <a:avLst/>
          </a:prstGeom>
          <a:noFill/>
        </p:spPr>
        <p:txBody>
          <a:bodyPr>
            <a:spAutoFit/>
          </a:bodyPr>
          <a:lstStyle/>
          <a:p>
            <a:pPr>
              <a:defRPr/>
            </a:pPr>
            <a:r>
              <a:rPr lang="en-AU" sz="4000" cap="all" dirty="0">
                <a:solidFill>
                  <a:schemeClr val="bg2">
                    <a:lumMod val="50000"/>
                  </a:schemeClr>
                </a:solidFill>
                <a:latin typeface="Arial"/>
                <a:ea typeface="+mj-ea"/>
                <a:cs typeface="Arial"/>
              </a:rPr>
              <a:t>CHAPTER 7</a:t>
            </a:r>
          </a:p>
          <a:p>
            <a:pPr>
              <a:defRPr/>
            </a:pPr>
            <a:endParaRPr lang="en-AU" sz="4000" cap="all" dirty="0">
              <a:solidFill>
                <a:schemeClr val="bg2">
                  <a:lumMod val="50000"/>
                </a:schemeClr>
              </a:solidFill>
              <a:latin typeface="Arial"/>
              <a:ea typeface="+mj-ea"/>
              <a:cs typeface="Arial"/>
            </a:endParaRPr>
          </a:p>
          <a:p>
            <a:pPr>
              <a:defRPr/>
            </a:pPr>
            <a:endParaRPr lang="en-AU" sz="4000" cap="all" dirty="0">
              <a:solidFill>
                <a:schemeClr val="bg2">
                  <a:lumMod val="50000"/>
                </a:schemeClr>
              </a:solidFill>
              <a:latin typeface="Arial"/>
              <a:ea typeface="+mj-ea"/>
              <a:cs typeface="Arial"/>
            </a:endParaRPr>
          </a:p>
        </p:txBody>
      </p:sp>
      <p:sp>
        <p:nvSpPr>
          <p:cNvPr id="5" name="TextBox 4">
            <a:extLst>
              <a:ext uri="{FF2B5EF4-FFF2-40B4-BE49-F238E27FC236}">
                <a16:creationId xmlns:a16="http://schemas.microsoft.com/office/drawing/2014/main" id="{A4E6793C-C115-605E-88F4-D42F503F3DD5}"/>
              </a:ext>
            </a:extLst>
          </p:cNvPr>
          <p:cNvSpPr txBox="1"/>
          <p:nvPr/>
        </p:nvSpPr>
        <p:spPr>
          <a:xfrm>
            <a:off x="684213" y="2133600"/>
            <a:ext cx="7993062" cy="1568450"/>
          </a:xfrm>
          <a:prstGeom prst="rect">
            <a:avLst/>
          </a:prstGeom>
          <a:noFill/>
        </p:spPr>
        <p:txBody>
          <a:bodyPr>
            <a:spAutoFit/>
          </a:bodyPr>
          <a:lstStyle/>
          <a:p>
            <a:pPr>
              <a:defRPr/>
            </a:pPr>
            <a:endParaRPr lang="en-AU" sz="3200" dirty="0">
              <a:latin typeface="Arial"/>
              <a:ea typeface="+mj-ea"/>
              <a:cs typeface="Arial"/>
            </a:endParaRPr>
          </a:p>
          <a:p>
            <a:pPr algn="ctr">
              <a:defRPr/>
            </a:pPr>
            <a:r>
              <a:rPr lang="en-AU" sz="3200" dirty="0">
                <a:latin typeface="Arial"/>
                <a:ea typeface="+mj-ea"/>
                <a:cs typeface="Arial"/>
              </a:rPr>
              <a:t>The income statement: </a:t>
            </a:r>
            <a:br>
              <a:rPr lang="en-AU" sz="3200" dirty="0">
                <a:latin typeface="Arial"/>
                <a:ea typeface="+mj-ea"/>
                <a:cs typeface="Arial"/>
              </a:rPr>
            </a:br>
            <a:r>
              <a:rPr lang="en-US" sz="3200" dirty="0">
                <a:latin typeface="Arial"/>
                <a:ea typeface="+mj-ea"/>
                <a:cs typeface="Arial"/>
              </a:rPr>
              <a:t>Components and applications</a:t>
            </a:r>
            <a:endParaRPr lang="en-AU" sz="3200" dirty="0">
              <a:latin typeface="Arial"/>
              <a:ea typeface="+mj-ea"/>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DB6B5-4A9C-32EA-02F8-48B77AC0A90B}"/>
              </a:ext>
            </a:extLst>
          </p:cNvPr>
          <p:cNvSpPr>
            <a:spLocks noGrp="1"/>
          </p:cNvSpPr>
          <p:nvPr>
            <p:ph type="title"/>
          </p:nvPr>
        </p:nvSpPr>
        <p:spPr>
          <a:xfrm>
            <a:off x="434975" y="349250"/>
            <a:ext cx="8229600" cy="631825"/>
          </a:xfrm>
        </p:spPr>
        <p:txBody>
          <a:bodyPr/>
          <a:lstStyle/>
          <a:p>
            <a:pPr>
              <a:defRPr/>
            </a:pPr>
            <a:r>
              <a:rPr lang="en-AU" sz="2800" cap="none"/>
              <a:t>Learning objectives</a:t>
            </a:r>
          </a:p>
        </p:txBody>
      </p:sp>
      <p:sp>
        <p:nvSpPr>
          <p:cNvPr id="13315" name="Content Placeholder 2">
            <a:extLst>
              <a:ext uri="{FF2B5EF4-FFF2-40B4-BE49-F238E27FC236}">
                <a16:creationId xmlns:a16="http://schemas.microsoft.com/office/drawing/2014/main" id="{FBE7D13C-A06B-EE95-FAEC-CD0AD6ED8F76}"/>
              </a:ext>
            </a:extLst>
          </p:cNvPr>
          <p:cNvSpPr>
            <a:spLocks noGrp="1"/>
          </p:cNvSpPr>
          <p:nvPr>
            <p:ph idx="1"/>
          </p:nvPr>
        </p:nvSpPr>
        <p:spPr>
          <a:xfrm>
            <a:off x="250825" y="1079500"/>
            <a:ext cx="8785225" cy="5662613"/>
          </a:xfrm>
        </p:spPr>
        <p:txBody>
          <a:bodyPr/>
          <a:lstStyle/>
          <a:p>
            <a:pPr marL="0" indent="0">
              <a:buFont typeface="Arial" panose="020B0604020202020204" pitchFamily="34" charset="0"/>
              <a:buNone/>
              <a:defRPr/>
            </a:pPr>
            <a:r>
              <a:rPr lang="en-AU" altLang="en-US" sz="2400" dirty="0">
                <a:latin typeface="Arial" panose="020B0604020202020204" pitchFamily="34" charset="0"/>
                <a:cs typeface="Arial" panose="020B0604020202020204" pitchFamily="34" charset="0"/>
              </a:rPr>
              <a:t>After reading this chapter, students should be able to do the following: </a:t>
            </a:r>
          </a:p>
          <a:p>
            <a:pPr marL="0" indent="0">
              <a:defRPr/>
            </a:pPr>
            <a:r>
              <a:rPr lang="en-AU" altLang="en-US" sz="2400" dirty="0">
                <a:latin typeface="Arial" panose="020B0604020202020204" pitchFamily="34" charset="0"/>
                <a:cs typeface="Arial" panose="020B0604020202020204" pitchFamily="34" charset="0"/>
              </a:rPr>
              <a:t>7.1 Explain the </a:t>
            </a:r>
            <a:r>
              <a:rPr lang="en-AU" altLang="en-US" sz="2400" dirty="0">
                <a:highlight>
                  <a:srgbClr val="FFFF00"/>
                </a:highlight>
                <a:latin typeface="Arial" panose="020B0604020202020204" pitchFamily="34" charset="0"/>
                <a:cs typeface="Arial" panose="020B0604020202020204" pitchFamily="34" charset="0"/>
              </a:rPr>
              <a:t>purpose</a:t>
            </a:r>
            <a:r>
              <a:rPr lang="en-AU" altLang="en-US" sz="2400" dirty="0">
                <a:latin typeface="Arial" panose="020B0604020202020204" pitchFamily="34" charset="0"/>
                <a:cs typeface="Arial" panose="020B0604020202020204" pitchFamily="34" charset="0"/>
              </a:rPr>
              <a:t> of the income statement. </a:t>
            </a:r>
          </a:p>
          <a:p>
            <a:pPr marL="0" indent="0">
              <a:defRPr/>
            </a:pPr>
            <a:r>
              <a:rPr lang="en-AU" altLang="en-US" sz="2400" dirty="0">
                <a:latin typeface="Arial" panose="020B0604020202020204" pitchFamily="34" charset="0"/>
                <a:cs typeface="Arial" panose="020B0604020202020204" pitchFamily="34" charset="0"/>
              </a:rPr>
              <a:t>7.2 Understand the </a:t>
            </a:r>
            <a:r>
              <a:rPr lang="en-AU" altLang="en-US" sz="2400" dirty="0">
                <a:highlight>
                  <a:srgbClr val="FFFF00"/>
                </a:highlight>
                <a:latin typeface="Arial" panose="020B0604020202020204" pitchFamily="34" charset="0"/>
                <a:cs typeface="Arial" panose="020B0604020202020204" pitchFamily="34" charset="0"/>
              </a:rPr>
              <a:t>importance</a:t>
            </a:r>
            <a:r>
              <a:rPr lang="en-AU" altLang="en-US" sz="2400" dirty="0">
                <a:latin typeface="Arial" panose="020B0604020202020204" pitchFamily="34" charset="0"/>
                <a:cs typeface="Arial" panose="020B0604020202020204" pitchFamily="34" charset="0"/>
              </a:rPr>
              <a:t> of measuring ﬁnancial performance. </a:t>
            </a:r>
          </a:p>
          <a:p>
            <a:pPr marL="0" indent="0">
              <a:defRPr/>
            </a:pPr>
            <a:r>
              <a:rPr lang="en-AU" altLang="en-US" sz="2400" dirty="0">
                <a:latin typeface="Arial" panose="020B0604020202020204" pitchFamily="34" charset="0"/>
                <a:cs typeface="Arial" panose="020B0604020202020204" pitchFamily="34" charset="0"/>
              </a:rPr>
              <a:t>7.3 Discuss the deﬁnition and classiﬁcation of </a:t>
            </a:r>
            <a:r>
              <a:rPr lang="en-AU" altLang="en-US" sz="2400" dirty="0">
                <a:highlight>
                  <a:srgbClr val="FFFF00"/>
                </a:highlight>
                <a:latin typeface="Arial" panose="020B0604020202020204" pitchFamily="34" charset="0"/>
                <a:cs typeface="Arial" panose="020B0604020202020204" pitchFamily="34" charset="0"/>
              </a:rPr>
              <a:t>revenue/income</a:t>
            </a:r>
            <a:r>
              <a:rPr lang="en-AU" altLang="en-US" sz="2400" dirty="0">
                <a:latin typeface="Arial" panose="020B0604020202020204" pitchFamily="34" charset="0"/>
                <a:cs typeface="Arial" panose="020B0604020202020204" pitchFamily="34" charset="0"/>
              </a:rPr>
              <a:t>. </a:t>
            </a:r>
          </a:p>
          <a:p>
            <a:pPr marL="0" indent="0">
              <a:defRPr/>
            </a:pPr>
            <a:r>
              <a:rPr lang="en-AU" altLang="en-US" sz="2400" dirty="0">
                <a:latin typeface="Arial" panose="020B0604020202020204" pitchFamily="34" charset="0"/>
                <a:cs typeface="Arial" panose="020B0604020202020204" pitchFamily="34" charset="0"/>
              </a:rPr>
              <a:t>7.4 Discuss the deﬁnition and classiﬁcation of </a:t>
            </a:r>
            <a:r>
              <a:rPr lang="en-AU" altLang="en-US" sz="2400" dirty="0">
                <a:highlight>
                  <a:srgbClr val="FFFF00"/>
                </a:highlight>
                <a:latin typeface="Arial" panose="020B0604020202020204" pitchFamily="34" charset="0"/>
                <a:cs typeface="Arial" panose="020B0604020202020204" pitchFamily="34" charset="0"/>
              </a:rPr>
              <a:t>expenses</a:t>
            </a:r>
            <a:r>
              <a:rPr lang="en-AU" altLang="en-US" sz="2400" dirty="0">
                <a:latin typeface="Arial" panose="020B0604020202020204" pitchFamily="34" charset="0"/>
                <a:cs typeface="Arial" panose="020B0604020202020204" pitchFamily="34" charset="0"/>
              </a:rPr>
              <a:t>. </a:t>
            </a:r>
          </a:p>
          <a:p>
            <a:pPr marL="0" indent="0">
              <a:defRPr/>
            </a:pPr>
            <a:r>
              <a:rPr lang="en-AU" altLang="en-US" sz="2400" dirty="0">
                <a:latin typeface="Arial" panose="020B0604020202020204" pitchFamily="34" charset="0"/>
                <a:cs typeface="Arial" panose="020B0604020202020204" pitchFamily="34" charset="0"/>
              </a:rPr>
              <a:t>7.5 Evaluate the performance of business using </a:t>
            </a:r>
            <a:r>
              <a:rPr lang="en-AU" altLang="en-US" sz="2400" dirty="0">
                <a:highlight>
                  <a:srgbClr val="FFFF00"/>
                </a:highlight>
                <a:latin typeface="Arial" panose="020B0604020202020204" pitchFamily="34" charset="0"/>
                <a:cs typeface="Arial" panose="020B0604020202020204" pitchFamily="34" charset="0"/>
              </a:rPr>
              <a:t>ratios</a:t>
            </a:r>
            <a:r>
              <a:rPr lang="en-AU" altLang="en-US" sz="2400" dirty="0">
                <a:latin typeface="Arial" panose="020B0604020202020204" pitchFamily="34" charset="0"/>
                <a:cs typeface="Arial" panose="020B0604020202020204" pitchFamily="34" charset="0"/>
              </a:rPr>
              <a:t>. </a:t>
            </a:r>
          </a:p>
          <a:p>
            <a:pPr marL="0" indent="0">
              <a:defRPr/>
            </a:pPr>
            <a:r>
              <a:rPr lang="en-AU" altLang="en-US" sz="2400" dirty="0">
                <a:latin typeface="Arial" panose="020B0604020202020204" pitchFamily="34" charset="0"/>
                <a:cs typeface="Arial" panose="020B0604020202020204" pitchFamily="34" charset="0"/>
              </a:rPr>
              <a:t>7.6 Link outcomes from the income statement to </a:t>
            </a:r>
            <a:r>
              <a:rPr lang="en-AU" altLang="en-US" sz="2400" dirty="0">
                <a:highlight>
                  <a:srgbClr val="FFFF00"/>
                </a:highlight>
                <a:latin typeface="Arial" panose="020B0604020202020204" pitchFamily="34" charset="0"/>
                <a:cs typeface="Arial" panose="020B0604020202020204" pitchFamily="34" charset="0"/>
              </a:rPr>
              <a:t>owner’s equity </a:t>
            </a:r>
            <a:r>
              <a:rPr lang="en-AU" altLang="en-US" sz="2400" dirty="0">
                <a:latin typeface="Arial" panose="020B0604020202020204" pitchFamily="34" charset="0"/>
                <a:cs typeface="Arial" panose="020B0604020202020204" pitchFamily="34" charset="0"/>
              </a:rPr>
              <a:t>and close the accounts.</a:t>
            </a:r>
          </a:p>
          <a:p>
            <a:pPr marL="0" indent="0">
              <a:defRPr/>
            </a:pPr>
            <a:endParaRPr lang="en-AU" altLang="en-US"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8B19C-701B-6D5D-6CE4-AE9C2F81E839}"/>
              </a:ext>
            </a:extLst>
          </p:cNvPr>
          <p:cNvSpPr>
            <a:spLocks noGrp="1"/>
          </p:cNvSpPr>
          <p:nvPr>
            <p:ph type="title"/>
          </p:nvPr>
        </p:nvSpPr>
        <p:spPr>
          <a:xfrm>
            <a:off x="342900" y="328613"/>
            <a:ext cx="8229600" cy="579437"/>
          </a:xfrm>
        </p:spPr>
        <p:txBody>
          <a:bodyPr/>
          <a:lstStyle/>
          <a:p>
            <a:pPr>
              <a:defRPr/>
            </a:pPr>
            <a:r>
              <a:rPr lang="en-AU" sz="2800" cap="none"/>
              <a:t>Key questions</a:t>
            </a:r>
          </a:p>
        </p:txBody>
      </p:sp>
      <p:sp>
        <p:nvSpPr>
          <p:cNvPr id="14339" name="Content Placeholder 2">
            <a:extLst>
              <a:ext uri="{FF2B5EF4-FFF2-40B4-BE49-F238E27FC236}">
                <a16:creationId xmlns:a16="http://schemas.microsoft.com/office/drawing/2014/main" id="{2535AE9B-D7A6-DE66-F154-B1727FFF7A46}"/>
              </a:ext>
            </a:extLst>
          </p:cNvPr>
          <p:cNvSpPr>
            <a:spLocks noGrp="1"/>
          </p:cNvSpPr>
          <p:nvPr>
            <p:ph idx="1"/>
          </p:nvPr>
        </p:nvSpPr>
        <p:spPr>
          <a:xfrm>
            <a:off x="179388" y="981075"/>
            <a:ext cx="8964612" cy="5305425"/>
          </a:xfrm>
        </p:spPr>
        <p:txBody>
          <a:bodyPr/>
          <a:lstStyle/>
          <a:p>
            <a:pPr marL="457200" indent="-457200">
              <a:buFont typeface="Calibri" panose="020F0502020204030204" pitchFamily="34" charset="0"/>
              <a:buAutoNum type="arabicPeriod"/>
            </a:pPr>
            <a:r>
              <a:rPr lang="en-AU" altLang="en-US" sz="2200">
                <a:latin typeface="Arial" panose="020B0604020202020204" pitchFamily="34" charset="0"/>
                <a:cs typeface="Arial" panose="020B0604020202020204" pitchFamily="34" charset="0"/>
              </a:rPr>
              <a:t>Why is a business’s income statement important? </a:t>
            </a:r>
          </a:p>
          <a:p>
            <a:pPr marL="457200" indent="-457200">
              <a:buFont typeface="Calibri" panose="020F0502020204030204" pitchFamily="34" charset="0"/>
              <a:buAutoNum type="arabicPeriod"/>
            </a:pPr>
            <a:r>
              <a:rPr lang="en-AU" altLang="en-US" sz="2200">
                <a:latin typeface="Arial" panose="020B0604020202020204" pitchFamily="34" charset="0"/>
                <a:cs typeface="Arial" panose="020B0604020202020204" pitchFamily="34" charset="0"/>
              </a:rPr>
              <a:t>How are changes in a business’s income statement accounts recorded in its accounting system? </a:t>
            </a:r>
          </a:p>
          <a:p>
            <a:pPr marL="457200" indent="-457200">
              <a:buFont typeface="Calibri" panose="020F0502020204030204" pitchFamily="34" charset="0"/>
              <a:buAutoNum type="arabicPeriod"/>
            </a:pPr>
            <a:r>
              <a:rPr lang="en-AU" altLang="en-US" sz="2200">
                <a:latin typeface="Arial" panose="020B0604020202020204" pitchFamily="34" charset="0"/>
                <a:cs typeface="Arial" panose="020B0604020202020204" pitchFamily="34" charset="0"/>
              </a:rPr>
              <a:t>What are the parts of a retail business’s classiﬁed income statement, and what do they contain? </a:t>
            </a:r>
          </a:p>
          <a:p>
            <a:pPr marL="457200" indent="-457200">
              <a:buFont typeface="Calibri" panose="020F0502020204030204" pitchFamily="34" charset="0"/>
              <a:buAutoNum type="arabicPeriod"/>
            </a:pPr>
            <a:r>
              <a:rPr lang="en-AU" altLang="en-US" sz="2200">
                <a:latin typeface="Arial" panose="020B0604020202020204" pitchFamily="34" charset="0"/>
                <a:cs typeface="Arial" panose="020B0604020202020204" pitchFamily="34" charset="0"/>
              </a:rPr>
              <a:t>What are inventory and cost of goods sold, and what inventory systems may be used by a business? </a:t>
            </a:r>
          </a:p>
          <a:p>
            <a:pPr marL="457200" indent="-457200">
              <a:buFont typeface="Calibri" panose="020F0502020204030204" pitchFamily="34" charset="0"/>
              <a:buAutoNum type="arabicPeriod"/>
            </a:pPr>
            <a:r>
              <a:rPr lang="en-AU" altLang="en-US" sz="2200">
                <a:latin typeface="Arial" panose="020B0604020202020204" pitchFamily="34" charset="0"/>
                <a:cs typeface="Arial" panose="020B0604020202020204" pitchFamily="34" charset="0"/>
              </a:rPr>
              <a:t>What are the main concerns of external decision makers when they use a business’s income statement to evaluate its performance? </a:t>
            </a:r>
          </a:p>
          <a:p>
            <a:pPr marL="457200" indent="-457200">
              <a:buFont typeface="Calibri" panose="020F0502020204030204" pitchFamily="34" charset="0"/>
              <a:buAutoNum type="arabicPeriod"/>
            </a:pPr>
            <a:r>
              <a:rPr lang="en-AU" altLang="en-US" sz="2200">
                <a:latin typeface="Arial" panose="020B0604020202020204" pitchFamily="34" charset="0"/>
                <a:cs typeface="Arial" panose="020B0604020202020204" pitchFamily="34" charset="0"/>
              </a:rPr>
              <a:t>What type of analysis is used by external decision makers to evaluate a business’s proﬁtability? </a:t>
            </a:r>
          </a:p>
          <a:p>
            <a:pPr marL="457200" indent="-457200">
              <a:buFont typeface="Calibri" panose="020F0502020204030204" pitchFamily="34" charset="0"/>
              <a:buAutoNum type="arabicPeriod"/>
            </a:pPr>
            <a:r>
              <a:rPr lang="en-AU" altLang="en-US" sz="2200">
                <a:latin typeface="Arial" panose="020B0604020202020204" pitchFamily="34" charset="0"/>
                <a:cs typeface="Arial" panose="020B0604020202020204" pitchFamily="34" charset="0"/>
              </a:rPr>
              <a:t>Why does a business close off its revenue and expense accounts at the end of each period?</a:t>
            </a:r>
          </a:p>
          <a:p>
            <a:pPr marL="457200" indent="-457200"/>
            <a:endParaRPr lang="en-AU" altLang="en-US">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DBEA8-838E-8200-C3AE-058677B418D4}"/>
              </a:ext>
            </a:extLst>
          </p:cNvPr>
          <p:cNvSpPr>
            <a:spLocks noGrp="1"/>
          </p:cNvSpPr>
          <p:nvPr>
            <p:ph type="title"/>
          </p:nvPr>
        </p:nvSpPr>
        <p:spPr>
          <a:xfrm>
            <a:off x="495300" y="0"/>
            <a:ext cx="8229600" cy="884238"/>
          </a:xfrm>
        </p:spPr>
        <p:txBody>
          <a:bodyPr/>
          <a:lstStyle/>
          <a:p>
            <a:pPr>
              <a:defRPr/>
            </a:pPr>
            <a:r>
              <a:rPr lang="en-AU" sz="2800" cap="none"/>
              <a:t>7.1 Why the income statement is important </a:t>
            </a:r>
          </a:p>
        </p:txBody>
      </p:sp>
      <p:sp>
        <p:nvSpPr>
          <p:cNvPr id="15363" name="Content Placeholder 2">
            <a:extLst>
              <a:ext uri="{FF2B5EF4-FFF2-40B4-BE49-F238E27FC236}">
                <a16:creationId xmlns:a16="http://schemas.microsoft.com/office/drawing/2014/main" id="{AEFFAD83-A8D3-366D-5DE6-49C130799125}"/>
              </a:ext>
            </a:extLst>
          </p:cNvPr>
          <p:cNvSpPr>
            <a:spLocks noGrp="1"/>
          </p:cNvSpPr>
          <p:nvPr>
            <p:ph idx="1"/>
          </p:nvPr>
        </p:nvSpPr>
        <p:spPr>
          <a:xfrm>
            <a:off x="495300" y="884238"/>
            <a:ext cx="8469313" cy="5065712"/>
          </a:xfrm>
        </p:spPr>
        <p:txBody>
          <a:bodyPr/>
          <a:lstStyle/>
          <a:p>
            <a:r>
              <a:rPr lang="en-AU" altLang="en-US" sz="2400">
                <a:latin typeface="Arial" panose="020B0604020202020204" pitchFamily="34" charset="0"/>
                <a:cs typeface="Arial" panose="020B0604020202020204" pitchFamily="34" charset="0"/>
              </a:rPr>
              <a:t>A business’s </a:t>
            </a:r>
            <a:r>
              <a:rPr lang="en-AU" altLang="en-US" sz="2400" b="1">
                <a:solidFill>
                  <a:srgbClr val="31859C"/>
                </a:solidFill>
                <a:latin typeface="Arial" panose="020B0604020202020204" pitchFamily="34" charset="0"/>
                <a:cs typeface="Arial" panose="020B0604020202020204" pitchFamily="34" charset="0"/>
              </a:rPr>
              <a:t>income statement </a:t>
            </a:r>
            <a:r>
              <a:rPr lang="en-AU" altLang="en-US" sz="2400">
                <a:latin typeface="Arial" panose="020B0604020202020204" pitchFamily="34" charset="0"/>
                <a:cs typeface="Arial" panose="020B0604020202020204" pitchFamily="34" charset="0"/>
              </a:rPr>
              <a:t>plays a key role in the decision making </a:t>
            </a:r>
          </a:p>
          <a:p>
            <a:r>
              <a:rPr lang="en-AU" altLang="en-US" sz="2400" b="1">
                <a:solidFill>
                  <a:srgbClr val="31859C"/>
                </a:solidFill>
                <a:latin typeface="Arial" panose="020B0604020202020204" pitchFamily="34" charset="0"/>
                <a:cs typeface="Arial" panose="020B0604020202020204" pitchFamily="34" charset="0"/>
              </a:rPr>
              <a:t>Net income = Revenues - Expenses </a:t>
            </a:r>
          </a:p>
          <a:p>
            <a:r>
              <a:rPr lang="en-AU" altLang="en-US" sz="2400">
                <a:latin typeface="Arial" panose="020B0604020202020204" pitchFamily="34" charset="0"/>
                <a:cs typeface="Arial" panose="020B0604020202020204" pitchFamily="34" charset="0"/>
              </a:rPr>
              <a:t>You may also hear the income statement referred to as a proﬁt and loss (or P&amp;L) statement.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FDEB8-34FD-78C6-D4D1-31F2F9554D1E}"/>
              </a:ext>
            </a:extLst>
          </p:cNvPr>
          <p:cNvSpPr>
            <a:spLocks noGrp="1"/>
          </p:cNvSpPr>
          <p:nvPr>
            <p:ph type="title"/>
          </p:nvPr>
        </p:nvSpPr>
        <p:spPr>
          <a:xfrm>
            <a:off x="476250" y="-26988"/>
            <a:ext cx="8229600" cy="884238"/>
          </a:xfrm>
        </p:spPr>
        <p:txBody>
          <a:bodyPr/>
          <a:lstStyle/>
          <a:p>
            <a:pPr>
              <a:defRPr/>
            </a:pPr>
            <a:r>
              <a:rPr lang="en-AU" sz="2800" cap="none"/>
              <a:t>7.1 Why the income statement is important</a:t>
            </a:r>
          </a:p>
        </p:txBody>
      </p:sp>
      <p:sp>
        <p:nvSpPr>
          <p:cNvPr id="16387" name="Content Placeholder 2">
            <a:extLst>
              <a:ext uri="{FF2B5EF4-FFF2-40B4-BE49-F238E27FC236}">
                <a16:creationId xmlns:a16="http://schemas.microsoft.com/office/drawing/2014/main" id="{966BFD0D-E17E-6973-3F63-EF6D71BBEF43}"/>
              </a:ext>
            </a:extLst>
          </p:cNvPr>
          <p:cNvSpPr>
            <a:spLocks noGrp="1"/>
          </p:cNvSpPr>
          <p:nvPr>
            <p:ph idx="1"/>
          </p:nvPr>
        </p:nvSpPr>
        <p:spPr>
          <a:xfrm>
            <a:off x="674688" y="620713"/>
            <a:ext cx="8001000" cy="4708525"/>
          </a:xfrm>
        </p:spPr>
        <p:txBody>
          <a:bodyPr/>
          <a:lstStyle/>
          <a:p>
            <a:pPr marL="0" indent="0">
              <a:buFont typeface="Arial" panose="020B0604020202020204" pitchFamily="34" charset="0"/>
              <a:buNone/>
            </a:pPr>
            <a:r>
              <a:rPr lang="en-AU" altLang="en-US" sz="1800" b="1">
                <a:latin typeface="Arial" panose="020B0604020202020204" pitchFamily="34" charset="0"/>
                <a:cs typeface="Arial" panose="020B0604020202020204" pitchFamily="34" charset="0"/>
              </a:rPr>
              <a:t>Exhibit 7.1 Uses of a business’s income statement</a:t>
            </a:r>
          </a:p>
          <a:p>
            <a:pPr marL="0" indent="0"/>
            <a:endParaRPr lang="en-AU" altLang="en-US">
              <a:latin typeface="Arial" panose="020B0604020202020204" pitchFamily="34" charset="0"/>
              <a:cs typeface="Arial" panose="020B0604020202020204" pitchFamily="34" charset="0"/>
            </a:endParaRPr>
          </a:p>
          <a:p>
            <a:pPr marL="0" indent="0"/>
            <a:endParaRPr lang="en-AU" altLang="en-US">
              <a:latin typeface="Arial" panose="020B0604020202020204" pitchFamily="34" charset="0"/>
              <a:cs typeface="Arial" panose="020B0604020202020204" pitchFamily="34" charset="0"/>
            </a:endParaRPr>
          </a:p>
        </p:txBody>
      </p:sp>
      <p:pic>
        <p:nvPicPr>
          <p:cNvPr id="16388" name="Picture 3">
            <a:extLst>
              <a:ext uri="{FF2B5EF4-FFF2-40B4-BE49-F238E27FC236}">
                <a16:creationId xmlns:a16="http://schemas.microsoft.com/office/drawing/2014/main" id="{02745F9C-D01C-50F5-BFFF-AB6E34468A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863" y="1052513"/>
            <a:ext cx="7605712" cy="411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Rectangle 4">
            <a:extLst>
              <a:ext uri="{FF2B5EF4-FFF2-40B4-BE49-F238E27FC236}">
                <a16:creationId xmlns:a16="http://schemas.microsoft.com/office/drawing/2014/main" id="{63514806-1725-6834-98A1-0B2F62B99BF4}"/>
              </a:ext>
            </a:extLst>
          </p:cNvPr>
          <p:cNvSpPr>
            <a:spLocks noChangeArrowheads="1"/>
          </p:cNvSpPr>
          <p:nvPr/>
        </p:nvSpPr>
        <p:spPr bwMode="auto">
          <a:xfrm>
            <a:off x="674688" y="5260975"/>
            <a:ext cx="82010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MS PGothic" panose="020B0600070205080204" pitchFamily="34" charset="-128"/>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9pPr>
          </a:lstStyle>
          <a:p>
            <a:pPr>
              <a:spcBef>
                <a:spcPct val="0"/>
              </a:spcBef>
              <a:buFontTx/>
              <a:buNone/>
            </a:pPr>
            <a:r>
              <a:rPr lang="en-AU" altLang="en-US" sz="2400">
                <a:latin typeface="Calibri" panose="020F0502020204030204" pitchFamily="34" charset="0"/>
              </a:rPr>
              <a:t>The income statement summarises the results of a business’s operating activities for a speciﬁc accounting period.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793A8-2DDD-CCEF-A77C-E8A515F2141E}"/>
              </a:ext>
            </a:extLst>
          </p:cNvPr>
          <p:cNvSpPr>
            <a:spLocks noGrp="1"/>
          </p:cNvSpPr>
          <p:nvPr>
            <p:ph type="title"/>
          </p:nvPr>
        </p:nvSpPr>
        <p:spPr>
          <a:xfrm>
            <a:off x="474663" y="276225"/>
            <a:ext cx="8229600" cy="560388"/>
          </a:xfrm>
        </p:spPr>
        <p:txBody>
          <a:bodyPr/>
          <a:lstStyle/>
          <a:p>
            <a:pPr>
              <a:defRPr/>
            </a:pPr>
            <a:r>
              <a:rPr lang="en-AU" sz="2800" cap="none"/>
              <a:t>7.1 Why the income statement is important</a:t>
            </a:r>
          </a:p>
        </p:txBody>
      </p:sp>
      <p:sp>
        <p:nvSpPr>
          <p:cNvPr id="17411" name="Content Placeholder 2">
            <a:extLst>
              <a:ext uri="{FF2B5EF4-FFF2-40B4-BE49-F238E27FC236}">
                <a16:creationId xmlns:a16="http://schemas.microsoft.com/office/drawing/2014/main" id="{1A578215-A493-9D00-1562-A5050B7CEC0E}"/>
              </a:ext>
            </a:extLst>
          </p:cNvPr>
          <p:cNvSpPr>
            <a:spLocks noGrp="1"/>
          </p:cNvSpPr>
          <p:nvPr>
            <p:ph idx="1"/>
          </p:nvPr>
        </p:nvSpPr>
        <p:spPr>
          <a:xfrm>
            <a:off x="395288" y="1052513"/>
            <a:ext cx="8308975" cy="5329237"/>
          </a:xfrm>
        </p:spPr>
        <p:txBody>
          <a:bodyPr/>
          <a:lstStyle/>
          <a:p>
            <a:r>
              <a:rPr lang="en-AU" altLang="en-US" sz="2400">
                <a:latin typeface="Arial" panose="020B0604020202020204" pitchFamily="34" charset="0"/>
                <a:cs typeface="Arial" panose="020B0604020202020204" pitchFamily="34" charset="0"/>
              </a:rPr>
              <a:t>A supplier can compare its customers’ income statements to determine which customers might represent the best credit risks. </a:t>
            </a:r>
          </a:p>
          <a:p>
            <a:r>
              <a:rPr lang="en-AU" altLang="en-US" sz="2400" b="1">
                <a:solidFill>
                  <a:srgbClr val="31859C"/>
                </a:solidFill>
                <a:latin typeface="Arial" panose="020B0604020202020204" pitchFamily="34" charset="0"/>
                <a:cs typeface="Arial" panose="020B0604020202020204" pitchFamily="34" charset="0"/>
              </a:rPr>
              <a:t>Generally accepted accounting principles (GAAP) </a:t>
            </a:r>
            <a:r>
              <a:rPr lang="en-AU" altLang="en-US" sz="2400">
                <a:latin typeface="Arial" panose="020B0604020202020204" pitchFamily="34" charset="0"/>
                <a:cs typeface="Arial" panose="020B0604020202020204" pitchFamily="34" charset="0"/>
              </a:rPr>
              <a:t>(see Chapter 4) ensure that all businesses calculate and publish ﬁnancial statement information in a similar, and thus comparable, manner. </a:t>
            </a:r>
          </a:p>
          <a:p>
            <a:r>
              <a:rPr lang="en-AU" altLang="en-US" sz="2400">
                <a:latin typeface="Arial" panose="020B0604020202020204" pitchFamily="34" charset="0"/>
                <a:cs typeface="Arial" panose="020B0604020202020204" pitchFamily="34" charset="0"/>
              </a:rPr>
              <a:t>So understanding GAAP is important – to the accountant who prepares ﬁnancial statements and to the external decision maker who uses these statements to make business decisions.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99B0A-E4AD-8C52-3E7C-295D2024ABD4}"/>
              </a:ext>
            </a:extLst>
          </p:cNvPr>
          <p:cNvSpPr>
            <a:spLocks noGrp="1"/>
          </p:cNvSpPr>
          <p:nvPr>
            <p:ph type="title"/>
          </p:nvPr>
        </p:nvSpPr>
        <p:spPr>
          <a:xfrm>
            <a:off x="827088" y="188913"/>
            <a:ext cx="7588250" cy="720725"/>
          </a:xfrm>
        </p:spPr>
        <p:txBody>
          <a:bodyPr/>
          <a:lstStyle/>
          <a:p>
            <a:pPr>
              <a:defRPr/>
            </a:pPr>
            <a:r>
              <a:rPr lang="en-AU" sz="2800" cap="none"/>
              <a:t>7.2 Measuring financial performance: the income statement </a:t>
            </a:r>
          </a:p>
        </p:txBody>
      </p:sp>
      <p:sp>
        <p:nvSpPr>
          <p:cNvPr id="18435" name="Content Placeholder 2">
            <a:extLst>
              <a:ext uri="{FF2B5EF4-FFF2-40B4-BE49-F238E27FC236}">
                <a16:creationId xmlns:a16="http://schemas.microsoft.com/office/drawing/2014/main" id="{BBB0D3A1-2942-63D8-EEA2-A2B95FAD33E0}"/>
              </a:ext>
            </a:extLst>
          </p:cNvPr>
          <p:cNvSpPr>
            <a:spLocks noGrp="1"/>
          </p:cNvSpPr>
          <p:nvPr>
            <p:ph idx="1"/>
          </p:nvPr>
        </p:nvSpPr>
        <p:spPr>
          <a:xfrm>
            <a:off x="571500" y="1362075"/>
            <a:ext cx="8001000" cy="4946650"/>
          </a:xfrm>
        </p:spPr>
        <p:txBody>
          <a:bodyPr/>
          <a:lstStyle/>
          <a:p>
            <a:r>
              <a:rPr lang="en-AU" altLang="en-US" sz="2400">
                <a:latin typeface="Arial" panose="020B0604020202020204" pitchFamily="34" charset="0"/>
                <a:cs typeface="Arial" panose="020B0604020202020204" pitchFamily="34" charset="0"/>
              </a:rPr>
              <a:t>The income statement is an important part of the decision-making process for both internal and external users. </a:t>
            </a:r>
          </a:p>
          <a:p>
            <a:r>
              <a:rPr lang="en-AU" altLang="en-US" sz="2400">
                <a:latin typeface="Arial" panose="020B0604020202020204" pitchFamily="34" charset="0"/>
                <a:cs typeface="Arial" panose="020B0604020202020204" pitchFamily="34" charset="0"/>
              </a:rPr>
              <a:t>Net income = Revenues </a:t>
            </a:r>
            <a:r>
              <a:rPr lang="mr-IN" altLang="en-US" sz="2400">
                <a:latin typeface="Arial" panose="020B0604020202020204" pitchFamily="34" charset="0"/>
                <a:cs typeface="Arial" panose="020B0604020202020204" pitchFamily="34" charset="0"/>
              </a:rPr>
              <a:t>–</a:t>
            </a:r>
            <a:r>
              <a:rPr lang="en-AU" altLang="en-US" sz="2400">
                <a:latin typeface="Arial" panose="020B0604020202020204" pitchFamily="34" charset="0"/>
                <a:cs typeface="Arial" panose="020B0604020202020204" pitchFamily="34" charset="0"/>
              </a:rPr>
              <a:t> Expenses </a:t>
            </a:r>
          </a:p>
          <a:p>
            <a:r>
              <a:rPr lang="en-AU" altLang="en-US" sz="2400">
                <a:latin typeface="Arial" panose="020B0604020202020204" pitchFamily="34" charset="0"/>
                <a:cs typeface="Arial" panose="020B0604020202020204" pitchFamily="34" charset="0"/>
              </a:rPr>
              <a:t>Revenues may be thought of as the ‘accomplishments’ of a business during an accounting period. </a:t>
            </a:r>
          </a:p>
          <a:p>
            <a:r>
              <a:rPr lang="en-AU" altLang="en-US" sz="2400">
                <a:latin typeface="Arial" panose="020B0604020202020204" pitchFamily="34" charset="0"/>
                <a:cs typeface="Arial" panose="020B0604020202020204" pitchFamily="34" charset="0"/>
              </a:rPr>
              <a:t>The classiﬁed income statement of a retail business like Café Revive presents details of all income matched against expenses to determine Profit or Loss.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19720-C6D0-8F18-0506-8A369C7395EA}"/>
              </a:ext>
            </a:extLst>
          </p:cNvPr>
          <p:cNvSpPr>
            <a:spLocks noGrp="1"/>
          </p:cNvSpPr>
          <p:nvPr>
            <p:ph type="title"/>
          </p:nvPr>
        </p:nvSpPr>
        <p:spPr>
          <a:xfrm>
            <a:off x="1187450" y="60325"/>
            <a:ext cx="6553200" cy="884238"/>
          </a:xfrm>
        </p:spPr>
        <p:txBody>
          <a:bodyPr/>
          <a:lstStyle/>
          <a:p>
            <a:pPr>
              <a:defRPr/>
            </a:pPr>
            <a:r>
              <a:rPr lang="en-AU" sz="2800" cap="none"/>
              <a:t>7.2 Measuring financial performance: the income statement </a:t>
            </a:r>
          </a:p>
        </p:txBody>
      </p:sp>
      <p:pic>
        <p:nvPicPr>
          <p:cNvPr id="19459" name="Picture 3">
            <a:extLst>
              <a:ext uri="{FF2B5EF4-FFF2-40B4-BE49-F238E27FC236}">
                <a16:creationId xmlns:a16="http://schemas.microsoft.com/office/drawing/2014/main" id="{56A3DFBF-C240-3D28-AF62-2B2F98577E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125538"/>
            <a:ext cx="6867525"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B92EB-7F86-6A7C-A85A-FFC2D129836F}"/>
              </a:ext>
            </a:extLst>
          </p:cNvPr>
          <p:cNvSpPr>
            <a:spLocks noGrp="1"/>
          </p:cNvSpPr>
          <p:nvPr>
            <p:ph type="title"/>
          </p:nvPr>
        </p:nvSpPr>
        <p:spPr>
          <a:xfrm>
            <a:off x="1258888" y="241300"/>
            <a:ext cx="6526212" cy="884238"/>
          </a:xfrm>
        </p:spPr>
        <p:txBody>
          <a:bodyPr/>
          <a:lstStyle/>
          <a:p>
            <a:pPr>
              <a:defRPr/>
            </a:pPr>
            <a:r>
              <a:rPr lang="en-AU" sz="2800" cap="none"/>
              <a:t>7.2 Measuring financial performance: the income statement </a:t>
            </a:r>
          </a:p>
        </p:txBody>
      </p:sp>
      <p:sp>
        <p:nvSpPr>
          <p:cNvPr id="20483" name="Content Placeholder 2">
            <a:extLst>
              <a:ext uri="{FF2B5EF4-FFF2-40B4-BE49-F238E27FC236}">
                <a16:creationId xmlns:a16="http://schemas.microsoft.com/office/drawing/2014/main" id="{AC421176-25C5-BF67-6E32-52A13CD8BA1D}"/>
              </a:ext>
            </a:extLst>
          </p:cNvPr>
          <p:cNvSpPr>
            <a:spLocks noGrp="1"/>
          </p:cNvSpPr>
          <p:nvPr>
            <p:ph idx="1"/>
          </p:nvPr>
        </p:nvSpPr>
        <p:spPr>
          <a:xfrm>
            <a:off x="179388" y="1190625"/>
            <a:ext cx="8856662" cy="5046663"/>
          </a:xfrm>
        </p:spPr>
        <p:txBody>
          <a:bodyPr/>
          <a:lstStyle/>
          <a:p>
            <a:r>
              <a:rPr lang="en-AU" altLang="en-US" sz="2400">
                <a:latin typeface="Arial" panose="020B0604020202020204" pitchFamily="34" charset="0"/>
                <a:cs typeface="Arial" panose="020B0604020202020204" pitchFamily="34" charset="0"/>
              </a:rPr>
              <a:t>The ‘Other items’ (sometimes called the non-operating income) section of a business’s income statement includes items that are not related to the primary operations of the business. </a:t>
            </a:r>
          </a:p>
          <a:p>
            <a:pPr>
              <a:buFont typeface="Arial" panose="020B0604020202020204" pitchFamily="34" charset="0"/>
              <a:buNone/>
            </a:pPr>
            <a:endParaRPr lang="en-AU" altLang="en-US" sz="2400">
              <a:latin typeface="Arial" panose="020B0604020202020204" pitchFamily="34" charset="0"/>
              <a:cs typeface="Arial" panose="020B0604020202020204" pitchFamily="34" charset="0"/>
            </a:endParaRPr>
          </a:p>
          <a:p>
            <a:r>
              <a:rPr lang="en-AU" altLang="en-US" sz="2400">
                <a:latin typeface="Arial" panose="020B0604020202020204" pitchFamily="34" charset="0"/>
                <a:cs typeface="Arial" panose="020B0604020202020204" pitchFamily="34" charset="0"/>
              </a:rPr>
              <a:t>This section reports revenues and expenses related to investing activities or to ﬁnancing the business’s operations (e.g. interest revenue and interest expense), revenues and expenses (called gains and losses) related to selling property and equipment assets, and incidental revenues and expenses (e.g. miscellaneous rent revenue and losses due to theft or ﬁre).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41B8A-8898-7009-EEE0-3F8EC3E110D7}"/>
              </a:ext>
            </a:extLst>
          </p:cNvPr>
          <p:cNvSpPr>
            <a:spLocks noGrp="1"/>
          </p:cNvSpPr>
          <p:nvPr>
            <p:ph type="title"/>
          </p:nvPr>
        </p:nvSpPr>
        <p:spPr>
          <a:xfrm>
            <a:off x="457200" y="60325"/>
            <a:ext cx="8229600" cy="631825"/>
          </a:xfrm>
        </p:spPr>
        <p:txBody>
          <a:bodyPr/>
          <a:lstStyle/>
          <a:p>
            <a:pPr>
              <a:defRPr/>
            </a:pPr>
            <a:r>
              <a:rPr lang="en-AU" sz="2800" cap="none"/>
              <a:t>7.3 Defining and classifying revenues/income</a:t>
            </a:r>
          </a:p>
        </p:txBody>
      </p:sp>
      <p:sp>
        <p:nvSpPr>
          <p:cNvPr id="21507" name="Content Placeholder 2">
            <a:extLst>
              <a:ext uri="{FF2B5EF4-FFF2-40B4-BE49-F238E27FC236}">
                <a16:creationId xmlns:a16="http://schemas.microsoft.com/office/drawing/2014/main" id="{C533776D-00EC-E3C2-C0C6-9414E24A8AC1}"/>
              </a:ext>
            </a:extLst>
          </p:cNvPr>
          <p:cNvSpPr>
            <a:spLocks noGrp="1"/>
          </p:cNvSpPr>
          <p:nvPr>
            <p:ph idx="1"/>
          </p:nvPr>
        </p:nvSpPr>
        <p:spPr>
          <a:xfrm>
            <a:off x="107950" y="633413"/>
            <a:ext cx="9036050" cy="5027612"/>
          </a:xfrm>
        </p:spPr>
        <p:txBody>
          <a:bodyPr/>
          <a:lstStyle/>
          <a:p>
            <a:pPr marL="0" indent="0">
              <a:buFont typeface="Arial" panose="020B0604020202020204" pitchFamily="34" charset="0"/>
              <a:buNone/>
            </a:pPr>
            <a:r>
              <a:rPr lang="en-AU" altLang="en-US" sz="2400" b="1">
                <a:solidFill>
                  <a:srgbClr val="000000"/>
                </a:solidFill>
                <a:latin typeface="Arial" panose="020B0604020202020204" pitchFamily="34" charset="0"/>
                <a:cs typeface="Arial" panose="020B0604020202020204" pitchFamily="34" charset="0"/>
              </a:rPr>
              <a:t>Sales revenue </a:t>
            </a:r>
          </a:p>
          <a:p>
            <a:pPr marL="0" indent="0"/>
            <a:r>
              <a:rPr lang="en-AU" altLang="en-US" sz="2200">
                <a:latin typeface="Arial" panose="020B0604020202020204" pitchFamily="34" charset="0"/>
                <a:cs typeface="Arial" panose="020B0604020202020204" pitchFamily="34" charset="0"/>
              </a:rPr>
              <a:t>Whether a customer buys goods for cash or on credit, retail businesses use a ‘Sales revenue’ (or ‘Sales’) account to record the transaction.</a:t>
            </a:r>
          </a:p>
          <a:p>
            <a:pPr marL="0" indent="0"/>
            <a:r>
              <a:rPr lang="en-AU" altLang="en-US" sz="2200">
                <a:latin typeface="Arial" panose="020B0604020202020204" pitchFamily="34" charset="0"/>
                <a:cs typeface="Arial" panose="020B0604020202020204" pitchFamily="34" charset="0"/>
              </a:rPr>
              <a:t>Emily records the 6 January credit sale by ﬁrst increasing ‘Accounts receivable’ by $550 to show that Beau Flower Shop owes Café Revive that amount.</a:t>
            </a:r>
          </a:p>
          <a:p>
            <a:pPr marL="0" indent="0"/>
            <a:endParaRPr lang="en-AU" altLang="en-US">
              <a:latin typeface="Arial" panose="020B0604020202020204" pitchFamily="34" charset="0"/>
              <a:cs typeface="Arial" panose="020B0604020202020204" pitchFamily="34" charset="0"/>
            </a:endParaRPr>
          </a:p>
        </p:txBody>
      </p:sp>
      <p:pic>
        <p:nvPicPr>
          <p:cNvPr id="21508" name="Picture 3">
            <a:extLst>
              <a:ext uri="{FF2B5EF4-FFF2-40B4-BE49-F238E27FC236}">
                <a16:creationId xmlns:a16="http://schemas.microsoft.com/office/drawing/2014/main" id="{A021F966-41CE-70BE-73AC-C12D110758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3284538"/>
            <a:ext cx="5726113"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6EE73E0D-BBC6-F0AD-8B7E-6F70D5CAA5E6}"/>
              </a:ext>
            </a:extLst>
          </p:cNvPr>
          <p:cNvSpPr>
            <a:spLocks noGrp="1" noChangeArrowheads="1"/>
          </p:cNvSpPr>
          <p:nvPr>
            <p:ph type="title"/>
          </p:nvPr>
        </p:nvSpPr>
        <p:spPr bwMode="auto">
          <a:xfrm>
            <a:off x="457200" y="168275"/>
            <a:ext cx="8229600" cy="884238"/>
          </a:xfrm>
        </p:spPr>
        <p:txBody>
          <a:bodyPr wrap="square" numCol="1" anchorCtr="0" compatLnSpc="1">
            <a:prstTxWarp prst="textNoShape">
              <a:avLst/>
            </a:prstTxWarp>
          </a:bodyPr>
          <a:lstStyle/>
          <a:p>
            <a:pPr fontAlgn="base">
              <a:spcAft>
                <a:spcPct val="0"/>
              </a:spcAft>
            </a:pPr>
            <a:r>
              <a:rPr lang="en-AU" altLang="en-US" sz="2800" cap="none">
                <a:solidFill>
                  <a:srgbClr val="948A54"/>
                </a:solidFill>
                <a:latin typeface="Arial" panose="020B0604020202020204" pitchFamily="34" charset="0"/>
                <a:ea typeface="MS PGothic" panose="020B0600070205080204" pitchFamily="34" charset="-128"/>
                <a:cs typeface="Arial" panose="020B0604020202020204" pitchFamily="34" charset="0"/>
              </a:rPr>
              <a:t>7.3 Defining and classifying revenues/income</a:t>
            </a:r>
            <a:br>
              <a:rPr lang="en-AU" altLang="en-US" sz="2400" cap="none">
                <a:solidFill>
                  <a:srgbClr val="948A54"/>
                </a:solidFill>
                <a:latin typeface="Arial" panose="020B0604020202020204" pitchFamily="34" charset="0"/>
                <a:ea typeface="MS PGothic" panose="020B0600070205080204" pitchFamily="34" charset="-128"/>
                <a:cs typeface="Arial" panose="020B0604020202020204" pitchFamily="34" charset="0"/>
              </a:rPr>
            </a:br>
            <a:endParaRPr lang="en-AU" altLang="en-US" sz="2400" cap="none">
              <a:solidFill>
                <a:srgbClr val="948A54"/>
              </a:solidFill>
              <a:latin typeface="Arial" panose="020B0604020202020204" pitchFamily="34" charset="0"/>
              <a:ea typeface="MS PGothic" panose="020B0600070205080204" pitchFamily="34" charset="-128"/>
              <a:cs typeface="Arial" panose="020B0604020202020204" pitchFamily="34" charset="0"/>
            </a:endParaRPr>
          </a:p>
        </p:txBody>
      </p:sp>
      <p:sp>
        <p:nvSpPr>
          <p:cNvPr id="22531" name="Content Placeholder 4">
            <a:extLst>
              <a:ext uri="{FF2B5EF4-FFF2-40B4-BE49-F238E27FC236}">
                <a16:creationId xmlns:a16="http://schemas.microsoft.com/office/drawing/2014/main" id="{92BD6173-2177-F7EE-3822-90504CD60FDF}"/>
              </a:ext>
            </a:extLst>
          </p:cNvPr>
          <p:cNvSpPr>
            <a:spLocks noGrp="1"/>
          </p:cNvSpPr>
          <p:nvPr>
            <p:ph idx="1"/>
          </p:nvPr>
        </p:nvSpPr>
        <p:spPr>
          <a:xfrm>
            <a:off x="179388" y="841375"/>
            <a:ext cx="8964612" cy="5611813"/>
          </a:xfrm>
        </p:spPr>
        <p:txBody>
          <a:bodyPr/>
          <a:lstStyle/>
          <a:p>
            <a:pPr marL="0" indent="0">
              <a:buFont typeface="Arial" panose="020B0604020202020204" pitchFamily="34" charset="0"/>
              <a:buNone/>
            </a:pPr>
            <a:r>
              <a:rPr lang="en-AU" altLang="en-US" sz="2200">
                <a:latin typeface="Arial" panose="020B0604020202020204" pitchFamily="34" charset="0"/>
                <a:cs typeface="Arial" panose="020B0604020202020204" pitchFamily="34" charset="0"/>
              </a:rPr>
              <a:t>There are </a:t>
            </a:r>
            <a:r>
              <a:rPr lang="en-AU" altLang="en-US" sz="2200" b="1">
                <a:solidFill>
                  <a:srgbClr val="31859C"/>
                </a:solidFill>
                <a:latin typeface="Arial" panose="020B0604020202020204" pitchFamily="34" charset="0"/>
                <a:cs typeface="Arial" panose="020B0604020202020204" pitchFamily="34" charset="0"/>
              </a:rPr>
              <a:t>three types of sales policies</a:t>
            </a:r>
            <a:r>
              <a:rPr lang="en-AU" altLang="en-US" sz="2200">
                <a:latin typeface="Arial" panose="020B0604020202020204" pitchFamily="34" charset="0"/>
                <a:cs typeface="Arial" panose="020B0604020202020204" pitchFamily="34" charset="0"/>
              </a:rPr>
              <a:t>:</a:t>
            </a:r>
          </a:p>
          <a:p>
            <a:pPr marL="0" indent="0"/>
            <a:r>
              <a:rPr lang="en-AU" altLang="en-US" sz="2200">
                <a:latin typeface="Arial" panose="020B0604020202020204" pitchFamily="34" charset="0"/>
                <a:cs typeface="Arial" panose="020B0604020202020204" pitchFamily="34" charset="0"/>
              </a:rPr>
              <a:t>discount policies, </a:t>
            </a:r>
          </a:p>
          <a:p>
            <a:pPr marL="0" indent="0"/>
            <a:r>
              <a:rPr lang="en-AU" altLang="en-US" sz="2200">
                <a:latin typeface="Arial" panose="020B0604020202020204" pitchFamily="34" charset="0"/>
                <a:cs typeface="Arial" panose="020B0604020202020204" pitchFamily="34" charset="0"/>
              </a:rPr>
              <a:t>sales return policies and;</a:t>
            </a:r>
          </a:p>
          <a:p>
            <a:pPr marL="0" indent="0"/>
            <a:r>
              <a:rPr lang="en-AU" altLang="en-US" sz="2200">
                <a:latin typeface="Arial" panose="020B0604020202020204" pitchFamily="34" charset="0"/>
                <a:cs typeface="Arial" panose="020B0604020202020204" pitchFamily="34" charset="0"/>
              </a:rPr>
              <a:t>sales allowance policies.</a:t>
            </a:r>
            <a:endParaRPr lang="en-AU" altLang="en-US" sz="2400" b="1">
              <a:solidFill>
                <a:srgbClr val="31859C"/>
              </a:solidFill>
              <a:latin typeface="Arial" panose="020B0604020202020204" pitchFamily="34" charset="0"/>
              <a:cs typeface="Arial" panose="020B0604020202020204" pitchFamily="34" charset="0"/>
            </a:endParaRPr>
          </a:p>
          <a:p>
            <a:pPr marL="0" indent="0">
              <a:buFont typeface="Arial" panose="020B0604020202020204" pitchFamily="34" charset="0"/>
              <a:buNone/>
            </a:pPr>
            <a:r>
              <a:rPr lang="en-AU" altLang="en-US" sz="2200" b="1">
                <a:solidFill>
                  <a:srgbClr val="000000"/>
                </a:solidFill>
                <a:latin typeface="Arial" panose="020B0604020202020204" pitchFamily="34" charset="0"/>
                <a:cs typeface="Arial" panose="020B0604020202020204" pitchFamily="34" charset="0"/>
              </a:rPr>
              <a:t>Discounts</a:t>
            </a:r>
          </a:p>
          <a:p>
            <a:pPr marL="0" indent="0"/>
            <a:r>
              <a:rPr lang="en-AU" altLang="en-US" sz="2200">
                <a:latin typeface="Arial" panose="020B0604020202020204" pitchFamily="34" charset="0"/>
                <a:cs typeface="Arial" panose="020B0604020202020204" pitchFamily="34" charset="0"/>
              </a:rPr>
              <a:t>quantity (or trade) discount, </a:t>
            </a:r>
          </a:p>
          <a:p>
            <a:pPr marL="0" indent="0"/>
            <a:r>
              <a:rPr lang="en-AU" altLang="en-US" sz="2200">
                <a:latin typeface="Arial" panose="020B0604020202020204" pitchFamily="34" charset="0"/>
                <a:cs typeface="Arial" panose="020B0604020202020204" pitchFamily="34" charset="0"/>
              </a:rPr>
              <a:t>sales discount, </a:t>
            </a:r>
          </a:p>
          <a:p>
            <a:pPr marL="0" indent="0"/>
            <a:r>
              <a:rPr lang="en-AU" altLang="en-US" sz="2200">
                <a:latin typeface="Arial" panose="020B0604020202020204" pitchFamily="34" charset="0"/>
                <a:cs typeface="Arial" panose="020B0604020202020204" pitchFamily="34" charset="0"/>
              </a:rPr>
              <a:t>cash discount. </a:t>
            </a:r>
          </a:p>
          <a:p>
            <a:pPr marL="0" indent="0">
              <a:buFont typeface="Arial" panose="020B0604020202020204" pitchFamily="34" charset="0"/>
              <a:buNone/>
            </a:pPr>
            <a:r>
              <a:rPr lang="en-AU" altLang="en-US" sz="2000">
                <a:latin typeface="Arial" panose="020B0604020202020204" pitchFamily="34" charset="0"/>
                <a:cs typeface="Arial" panose="020B0604020202020204" pitchFamily="34" charset="0"/>
              </a:rPr>
              <a:t>Sales (cash) discount terms might read, for example, ‘5/7, n/31’ (i.e. ‘ﬁve seven, net 31’). If Café Revive makes a $66 sale on credit with the terms 5/7, n/31 and the customer pays the invoice within seven days, the customer would pay $62.70 ($66 – [0.05 x $66]), and $3.30 would be the sales discount taken. On the worksheet:</a:t>
            </a:r>
          </a:p>
          <a:p>
            <a:pPr marL="0" indent="0">
              <a:buFont typeface="Arial" panose="020B0604020202020204" pitchFamily="34" charset="0"/>
              <a:buNone/>
            </a:pPr>
            <a:r>
              <a:rPr lang="en-AU" altLang="en-US" sz="2000">
                <a:latin typeface="Arial" panose="020B0604020202020204" pitchFamily="34" charset="0"/>
                <a:cs typeface="Arial" panose="020B0604020202020204" pitchFamily="34" charset="0"/>
              </a:rPr>
              <a:t>Cash +$62.70, Accounts Receivable -$66 and Expenses $3.30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F0CA9FE1-B83D-04DB-3DC5-9167BC338993}"/>
              </a:ext>
            </a:extLst>
          </p:cNvPr>
          <p:cNvSpPr>
            <a:spLocks noGrp="1" noChangeArrowheads="1"/>
          </p:cNvSpPr>
          <p:nvPr>
            <p:ph type="title"/>
          </p:nvPr>
        </p:nvSpPr>
        <p:spPr bwMode="auto">
          <a:xfrm>
            <a:off x="519113" y="495300"/>
            <a:ext cx="8229600" cy="630238"/>
          </a:xfrm>
        </p:spPr>
        <p:txBody>
          <a:bodyPr wrap="square" numCol="1" anchorCtr="0" compatLnSpc="1">
            <a:prstTxWarp prst="textNoShape">
              <a:avLst/>
            </a:prstTxWarp>
          </a:bodyPr>
          <a:lstStyle/>
          <a:p>
            <a:pPr fontAlgn="base">
              <a:spcAft>
                <a:spcPct val="0"/>
              </a:spcAft>
            </a:pPr>
            <a:r>
              <a:rPr lang="en-AU" altLang="en-US" sz="2800" cap="none">
                <a:solidFill>
                  <a:srgbClr val="948A54"/>
                </a:solidFill>
                <a:latin typeface="Arial" panose="020B0604020202020204" pitchFamily="34" charset="0"/>
                <a:ea typeface="MS PGothic" panose="020B0600070205080204" pitchFamily="34" charset="-128"/>
                <a:cs typeface="Arial" panose="020B0604020202020204" pitchFamily="34" charset="0"/>
              </a:rPr>
              <a:t>7.3 Defining and classifying revenues/income</a:t>
            </a:r>
            <a:br>
              <a:rPr lang="en-AU" altLang="en-US" sz="2800" cap="none">
                <a:solidFill>
                  <a:srgbClr val="948A54"/>
                </a:solidFill>
                <a:latin typeface="Arial" panose="020B0604020202020204" pitchFamily="34" charset="0"/>
                <a:ea typeface="MS PGothic" panose="020B0600070205080204" pitchFamily="34" charset="-128"/>
                <a:cs typeface="Arial" panose="020B0604020202020204" pitchFamily="34" charset="0"/>
              </a:rPr>
            </a:br>
            <a:endParaRPr lang="en-AU" altLang="en-US" sz="2800" cap="none">
              <a:solidFill>
                <a:srgbClr val="948A54"/>
              </a:solidFill>
              <a:latin typeface="Arial" panose="020B0604020202020204" pitchFamily="34" charset="0"/>
              <a:ea typeface="MS PGothic" panose="020B0600070205080204" pitchFamily="34" charset="-128"/>
              <a:cs typeface="Arial" panose="020B0604020202020204" pitchFamily="34" charset="0"/>
            </a:endParaRPr>
          </a:p>
        </p:txBody>
      </p:sp>
      <p:sp>
        <p:nvSpPr>
          <p:cNvPr id="23555" name="Content Placeholder 2">
            <a:extLst>
              <a:ext uri="{FF2B5EF4-FFF2-40B4-BE49-F238E27FC236}">
                <a16:creationId xmlns:a16="http://schemas.microsoft.com/office/drawing/2014/main" id="{A95C5754-4239-0F75-46BF-3E98732D3463}"/>
              </a:ext>
            </a:extLst>
          </p:cNvPr>
          <p:cNvSpPr>
            <a:spLocks noGrp="1"/>
          </p:cNvSpPr>
          <p:nvPr>
            <p:ph idx="1"/>
          </p:nvPr>
        </p:nvSpPr>
        <p:spPr>
          <a:xfrm>
            <a:off x="107950" y="979488"/>
            <a:ext cx="9036050" cy="5329237"/>
          </a:xfrm>
        </p:spPr>
        <p:txBody>
          <a:bodyPr/>
          <a:lstStyle/>
          <a:p>
            <a:pPr marL="0" indent="0">
              <a:buFont typeface="Arial" panose="020B0604020202020204" pitchFamily="34" charset="0"/>
              <a:buNone/>
            </a:pPr>
            <a:r>
              <a:rPr lang="en-AU" altLang="en-US" sz="2000" b="1">
                <a:latin typeface="Arial" panose="020B0604020202020204" pitchFamily="34" charset="0"/>
                <a:cs typeface="Arial" panose="020B0604020202020204" pitchFamily="34" charset="0"/>
              </a:rPr>
              <a:t>Sales returns and allowances</a:t>
            </a:r>
          </a:p>
          <a:p>
            <a:pPr marL="0" indent="0"/>
            <a:r>
              <a:rPr lang="en-AU" altLang="en-US" sz="2000">
                <a:latin typeface="Arial" panose="020B0604020202020204" pitchFamily="34" charset="0"/>
                <a:cs typeface="Arial" panose="020B0604020202020204" pitchFamily="34" charset="0"/>
              </a:rPr>
              <a:t>Jake McAdams pays cash for four coffee gift packs at $55 per box </a:t>
            </a:r>
          </a:p>
          <a:p>
            <a:pPr marL="0" indent="0"/>
            <a:r>
              <a:rPr lang="en-AU" altLang="en-US" sz="2000">
                <a:latin typeface="Arial" panose="020B0604020202020204" pitchFamily="34" charset="0"/>
                <a:cs typeface="Arial" panose="020B0604020202020204" pitchFamily="34" charset="0"/>
              </a:rPr>
              <a:t>Each gift pack has a base cost price of $26. Emily would record this transaction by increasing Café Revive’s ‘Cash’ account and ‘Sales revenue’ by $220 (4 x $55), decreasing ‘Inventory’ by $104 (4 x $26) and increasing ‘Cost of goods sold’ (an expense) by $104.</a:t>
            </a:r>
          </a:p>
          <a:p>
            <a:pPr marL="0" indent="0"/>
            <a:r>
              <a:rPr lang="en-AU" altLang="en-US" sz="2000" b="1">
                <a:latin typeface="Arial" panose="020B0604020202020204" pitchFamily="34" charset="0"/>
                <a:cs typeface="Arial" panose="020B0604020202020204" pitchFamily="34" charset="0"/>
              </a:rPr>
              <a:t>Return</a:t>
            </a:r>
            <a:r>
              <a:rPr lang="en-AU" altLang="en-US" sz="2000">
                <a:latin typeface="Arial" panose="020B0604020202020204" pitchFamily="34" charset="0"/>
                <a:cs typeface="Arial" panose="020B0604020202020204" pitchFamily="34" charset="0"/>
              </a:rPr>
              <a:t> – if Jake returns one coffee gift pack</a:t>
            </a:r>
          </a:p>
          <a:p>
            <a:pPr marL="0" indent="0"/>
            <a:r>
              <a:rPr lang="en-AU" altLang="en-US" sz="2000">
                <a:latin typeface="Arial" panose="020B0604020202020204" pitchFamily="34" charset="0"/>
                <a:cs typeface="Arial" panose="020B0604020202020204" pitchFamily="34" charset="0"/>
              </a:rPr>
              <a:t>Sales Return – 55, Cash -55 (Refund) Inventory + 26, Cost of Goods Sold - $26 (- *- = +) .  </a:t>
            </a:r>
          </a:p>
          <a:p>
            <a:pPr marL="0" indent="0"/>
            <a:r>
              <a:rPr lang="en-AU" altLang="en-US" sz="2000" b="1">
                <a:latin typeface="Arial" panose="020B0604020202020204" pitchFamily="34" charset="0"/>
                <a:cs typeface="Arial" panose="020B0604020202020204" pitchFamily="34" charset="0"/>
              </a:rPr>
              <a:t>Allowance</a:t>
            </a:r>
            <a:r>
              <a:rPr lang="en-AU" altLang="en-US" sz="2000">
                <a:latin typeface="Arial" panose="020B0604020202020204" pitchFamily="34" charset="0"/>
                <a:cs typeface="Arial" panose="020B0604020202020204" pitchFamily="34" charset="0"/>
              </a:rPr>
              <a:t> What would happen if, when Jake opens the gift packs later that day, he notices that one of them is damaged? Business agrees on $5 allowance</a:t>
            </a:r>
          </a:p>
          <a:p>
            <a:pPr marL="0" indent="0"/>
            <a:r>
              <a:rPr lang="en-AU" altLang="en-US" sz="2000">
                <a:latin typeface="Arial" panose="020B0604020202020204" pitchFamily="34" charset="0"/>
                <a:cs typeface="Arial" panose="020B0604020202020204" pitchFamily="34" charset="0"/>
              </a:rPr>
              <a:t>Sales allowance -$5, Cash -$ 5 (refund)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94898-099F-7AD8-0BD5-EAD9794DCDDA}"/>
              </a:ext>
            </a:extLst>
          </p:cNvPr>
          <p:cNvSpPr>
            <a:spLocks noGrp="1"/>
          </p:cNvSpPr>
          <p:nvPr>
            <p:ph type="title"/>
          </p:nvPr>
        </p:nvSpPr>
        <p:spPr>
          <a:xfrm>
            <a:off x="431800" y="244475"/>
            <a:ext cx="8229600" cy="884238"/>
          </a:xfrm>
        </p:spPr>
        <p:txBody>
          <a:bodyPr/>
          <a:lstStyle/>
          <a:p>
            <a:pPr>
              <a:defRPr/>
            </a:pPr>
            <a:r>
              <a:rPr lang="en-AU" sz="2800" cap="none"/>
              <a:t>7.3 Defining and classifying revenues/income</a:t>
            </a:r>
          </a:p>
        </p:txBody>
      </p:sp>
      <p:sp>
        <p:nvSpPr>
          <p:cNvPr id="24579" name="Content Placeholder 2">
            <a:extLst>
              <a:ext uri="{FF2B5EF4-FFF2-40B4-BE49-F238E27FC236}">
                <a16:creationId xmlns:a16="http://schemas.microsoft.com/office/drawing/2014/main" id="{A97F8704-1F62-0B1A-C245-99EDCF609C91}"/>
              </a:ext>
            </a:extLst>
          </p:cNvPr>
          <p:cNvSpPr>
            <a:spLocks noGrp="1"/>
          </p:cNvSpPr>
          <p:nvPr>
            <p:ph idx="1"/>
          </p:nvPr>
        </p:nvSpPr>
        <p:spPr>
          <a:xfrm>
            <a:off x="431800" y="1363663"/>
            <a:ext cx="8001000" cy="4297362"/>
          </a:xfrm>
        </p:spPr>
        <p:txBody>
          <a:bodyPr/>
          <a:lstStyle/>
          <a:p>
            <a:r>
              <a:rPr lang="en-AU" altLang="en-US" sz="2400">
                <a:latin typeface="Arial" panose="020B0604020202020204" pitchFamily="34" charset="0"/>
                <a:cs typeface="Arial" panose="020B0604020202020204" pitchFamily="34" charset="0"/>
              </a:rPr>
              <a:t>Net sales </a:t>
            </a:r>
          </a:p>
          <a:p>
            <a:r>
              <a:rPr lang="en-AU" altLang="en-US" sz="2400">
                <a:latin typeface="Arial" panose="020B0604020202020204" pitchFamily="34" charset="0"/>
                <a:cs typeface="Arial" panose="020B0604020202020204" pitchFamily="34" charset="0"/>
              </a:rPr>
              <a:t>Sales – Sales Returns – Sales Allowances = Net Sales</a:t>
            </a:r>
          </a:p>
          <a:p>
            <a:r>
              <a:rPr lang="en-AU" altLang="en-US" sz="2400">
                <a:latin typeface="Arial" panose="020B0604020202020204" pitchFamily="34" charset="0"/>
                <a:cs typeface="Arial" panose="020B0604020202020204" pitchFamily="34" charset="0"/>
              </a:rPr>
              <a:t>Revenue from other sources</a:t>
            </a:r>
          </a:p>
          <a:p>
            <a:pPr lvl="1"/>
            <a:r>
              <a:rPr lang="en-AU" altLang="en-US" sz="2000">
                <a:latin typeface="Arial" panose="020B0604020202020204" pitchFamily="34" charset="0"/>
                <a:cs typeface="Arial" panose="020B0604020202020204" pitchFamily="34" charset="0"/>
              </a:rPr>
              <a:t>Commission, interest, gain on sales etc. Should appear after Gross Profit otherwise will distort the Gross Profit %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E1BAE-1E78-19BE-916D-584F53FB2F69}"/>
              </a:ext>
            </a:extLst>
          </p:cNvPr>
          <p:cNvSpPr>
            <a:spLocks noGrp="1"/>
          </p:cNvSpPr>
          <p:nvPr>
            <p:ph type="title"/>
          </p:nvPr>
        </p:nvSpPr>
        <p:spPr>
          <a:xfrm>
            <a:off x="381000" y="23813"/>
            <a:ext cx="8229600" cy="884237"/>
          </a:xfrm>
        </p:spPr>
        <p:txBody>
          <a:bodyPr/>
          <a:lstStyle/>
          <a:p>
            <a:pPr>
              <a:defRPr/>
            </a:pPr>
            <a:r>
              <a:rPr lang="en-AU" sz="2800" cap="none"/>
              <a:t>7.4 Defining and classifying expenses</a:t>
            </a:r>
          </a:p>
        </p:txBody>
      </p:sp>
      <p:sp>
        <p:nvSpPr>
          <p:cNvPr id="25603" name="Content Placeholder 2">
            <a:extLst>
              <a:ext uri="{FF2B5EF4-FFF2-40B4-BE49-F238E27FC236}">
                <a16:creationId xmlns:a16="http://schemas.microsoft.com/office/drawing/2014/main" id="{365380EA-2029-E7B2-2170-0C46A864BFF2}"/>
              </a:ext>
            </a:extLst>
          </p:cNvPr>
          <p:cNvSpPr>
            <a:spLocks noGrp="1"/>
          </p:cNvSpPr>
          <p:nvPr>
            <p:ph idx="1"/>
          </p:nvPr>
        </p:nvSpPr>
        <p:spPr>
          <a:xfrm>
            <a:off x="179388" y="830263"/>
            <a:ext cx="8713787" cy="5478462"/>
          </a:xfrm>
        </p:spPr>
        <p:txBody>
          <a:bodyPr/>
          <a:lstStyle/>
          <a:p>
            <a:pPr marL="0" indent="0">
              <a:buFont typeface="Arial" panose="020B0604020202020204" pitchFamily="34" charset="0"/>
              <a:buNone/>
            </a:pPr>
            <a:r>
              <a:rPr lang="en-AU" altLang="en-US" sz="2400" b="1">
                <a:solidFill>
                  <a:srgbClr val="31859C"/>
                </a:solidFill>
                <a:latin typeface="Arial" panose="020B0604020202020204" pitchFamily="34" charset="0"/>
                <a:cs typeface="Arial" panose="020B0604020202020204" pitchFamily="34" charset="0"/>
              </a:rPr>
              <a:t>Cost of goods sold </a:t>
            </a:r>
            <a:r>
              <a:rPr lang="mr-IN" altLang="en-US" sz="2400">
                <a:latin typeface="Arial" panose="020B0604020202020204" pitchFamily="34" charset="0"/>
                <a:cs typeface="Arial" panose="020B0604020202020204" pitchFamily="34" charset="0"/>
              </a:rPr>
              <a:t>–</a:t>
            </a:r>
            <a:r>
              <a:rPr lang="en-AU" altLang="en-US" sz="2400">
                <a:latin typeface="Arial" panose="020B0604020202020204" pitchFamily="34" charset="0"/>
                <a:cs typeface="Arial" panose="020B0604020202020204" pitchFamily="34" charset="0"/>
              </a:rPr>
              <a:t> ‘You have to spend money on goods to make money’. </a:t>
            </a:r>
          </a:p>
          <a:p>
            <a:pPr marL="0" indent="0">
              <a:buFont typeface="Arial" panose="020B0604020202020204" pitchFamily="34" charset="0"/>
              <a:buNone/>
            </a:pPr>
            <a:r>
              <a:rPr lang="en-AU" altLang="en-US" sz="2400">
                <a:latin typeface="Arial" panose="020B0604020202020204" pitchFamily="34" charset="0"/>
                <a:cs typeface="Arial" panose="020B0604020202020204" pitchFamily="34" charset="0"/>
              </a:rPr>
              <a:t>A </a:t>
            </a:r>
            <a:r>
              <a:rPr lang="en-AU" altLang="en-US" sz="2400" b="1">
                <a:solidFill>
                  <a:srgbClr val="31859C"/>
                </a:solidFill>
                <a:latin typeface="Arial" panose="020B0604020202020204" pitchFamily="34" charset="0"/>
                <a:cs typeface="Arial" panose="020B0604020202020204" pitchFamily="34" charset="0"/>
              </a:rPr>
              <a:t>perpetual inventory system </a:t>
            </a:r>
            <a:r>
              <a:rPr lang="en-AU" altLang="en-US" sz="2400">
                <a:latin typeface="Arial" panose="020B0604020202020204" pitchFamily="34" charset="0"/>
                <a:cs typeface="Arial" panose="020B0604020202020204" pitchFamily="34" charset="0"/>
              </a:rPr>
              <a:t>keeps a continuous record of the cost of inventory on hand and the cost of inventory sold.</a:t>
            </a:r>
          </a:p>
          <a:p>
            <a:pPr marL="0" indent="0"/>
            <a:endParaRPr lang="en-AU" altLang="en-US" sz="2400">
              <a:latin typeface="Arial" panose="020B0604020202020204" pitchFamily="34" charset="0"/>
              <a:cs typeface="Arial" panose="020B0604020202020204" pitchFamily="34" charset="0"/>
            </a:endParaRPr>
          </a:p>
        </p:txBody>
      </p:sp>
      <p:pic>
        <p:nvPicPr>
          <p:cNvPr id="25604" name="Picture 3">
            <a:extLst>
              <a:ext uri="{FF2B5EF4-FFF2-40B4-BE49-F238E27FC236}">
                <a16:creationId xmlns:a16="http://schemas.microsoft.com/office/drawing/2014/main" id="{2BD81941-8D1C-A067-EC4D-5EAE0A7CBF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2533650"/>
            <a:ext cx="8964612" cy="344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036B5-703A-2041-A15D-F222A5A5856B}"/>
              </a:ext>
            </a:extLst>
          </p:cNvPr>
          <p:cNvSpPr>
            <a:spLocks noGrp="1"/>
          </p:cNvSpPr>
          <p:nvPr>
            <p:ph type="title"/>
          </p:nvPr>
        </p:nvSpPr>
        <p:spPr>
          <a:xfrm>
            <a:off x="495300" y="239713"/>
            <a:ext cx="8229600" cy="885825"/>
          </a:xfrm>
        </p:spPr>
        <p:txBody>
          <a:bodyPr/>
          <a:lstStyle/>
          <a:p>
            <a:pPr>
              <a:defRPr/>
            </a:pPr>
            <a:r>
              <a:rPr lang="en-AU" sz="2800" cap="none"/>
              <a:t>7.4 Defining and classifying expenses</a:t>
            </a:r>
            <a:br>
              <a:rPr lang="en-AU" sz="2800" cap="none"/>
            </a:br>
            <a:r>
              <a:rPr lang="en-AU" sz="2800" cap="none"/>
              <a:t>(Periodic Inventory System)</a:t>
            </a:r>
          </a:p>
        </p:txBody>
      </p:sp>
      <p:sp>
        <p:nvSpPr>
          <p:cNvPr id="26627" name="Content Placeholder 2">
            <a:extLst>
              <a:ext uri="{FF2B5EF4-FFF2-40B4-BE49-F238E27FC236}">
                <a16:creationId xmlns:a16="http://schemas.microsoft.com/office/drawing/2014/main" id="{84EEDD51-3A9C-CBBF-8EFA-1F37237688D4}"/>
              </a:ext>
            </a:extLst>
          </p:cNvPr>
          <p:cNvSpPr>
            <a:spLocks noGrp="1"/>
          </p:cNvSpPr>
          <p:nvPr>
            <p:ph idx="1"/>
          </p:nvPr>
        </p:nvSpPr>
        <p:spPr>
          <a:xfrm>
            <a:off x="250825" y="1341438"/>
            <a:ext cx="8353425" cy="3527425"/>
          </a:xfrm>
        </p:spPr>
        <p:txBody>
          <a:bodyPr/>
          <a:lstStyle/>
          <a:p>
            <a:pPr marL="0" indent="0">
              <a:buFont typeface="Arial" charset="0"/>
              <a:buNone/>
              <a:defRPr/>
            </a:pPr>
            <a:r>
              <a:rPr lang="en-AU" sz="2400" dirty="0">
                <a:latin typeface="Arial" charset="0"/>
                <a:ea typeface="ＭＳ Ｐゴシック" charset="0"/>
                <a:cs typeface="Arial" charset="0"/>
              </a:rPr>
              <a:t>When the business does not record the cost of the goods sold when each sales transaction takes place, it must calculate its cost of goods sold for an accounting period.</a:t>
            </a:r>
          </a:p>
          <a:p>
            <a:pPr marL="0" indent="0">
              <a:buFont typeface="Arial" charset="0"/>
              <a:buNone/>
              <a:defRPr/>
            </a:pPr>
            <a:r>
              <a:rPr lang="en-AU" sz="2400" dirty="0">
                <a:latin typeface="Arial" charset="0"/>
                <a:ea typeface="ＭＳ Ｐゴシック" charset="0"/>
                <a:cs typeface="Arial" charset="0"/>
              </a:rPr>
              <a:t>The physical inventory is counted and then each item is values to arrive at a dollar figure for cost of ending inventory</a:t>
            </a:r>
          </a:p>
          <a:p>
            <a:pPr>
              <a:buFont typeface="Arial" charset="0"/>
              <a:buChar char="•"/>
              <a:defRPr/>
            </a:pPr>
            <a:endParaRPr lang="en-AU" sz="2400" dirty="0">
              <a:latin typeface="Arial" charset="0"/>
              <a:ea typeface="ＭＳ Ｐゴシック" charset="0"/>
              <a:cs typeface="Arial" charset="0"/>
            </a:endParaRPr>
          </a:p>
          <a:p>
            <a:pPr>
              <a:buFont typeface="Arial" charset="0"/>
              <a:buChar char="•"/>
              <a:defRPr/>
            </a:pPr>
            <a:endParaRPr lang="en-AU" dirty="0">
              <a:latin typeface="Arial" charset="0"/>
              <a:ea typeface="ＭＳ Ｐゴシック" charset="0"/>
              <a:cs typeface="Arial" charset="0"/>
            </a:endParaRPr>
          </a:p>
        </p:txBody>
      </p:sp>
      <p:pic>
        <p:nvPicPr>
          <p:cNvPr id="26628" name="Picture 3">
            <a:extLst>
              <a:ext uri="{FF2B5EF4-FFF2-40B4-BE49-F238E27FC236}">
                <a16:creationId xmlns:a16="http://schemas.microsoft.com/office/drawing/2014/main" id="{8799D133-F140-D323-D26F-AC1284096D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6475" y="3644900"/>
            <a:ext cx="6843713" cy="175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F77CB-DB96-8AE4-7B27-55AF2A3C33E7}"/>
              </a:ext>
            </a:extLst>
          </p:cNvPr>
          <p:cNvSpPr>
            <a:spLocks noGrp="1"/>
          </p:cNvSpPr>
          <p:nvPr>
            <p:ph type="title"/>
          </p:nvPr>
        </p:nvSpPr>
        <p:spPr>
          <a:xfrm>
            <a:off x="457200" y="687388"/>
            <a:ext cx="8229600" cy="884237"/>
          </a:xfrm>
        </p:spPr>
        <p:txBody>
          <a:bodyPr/>
          <a:lstStyle/>
          <a:p>
            <a:pPr>
              <a:defRPr/>
            </a:pPr>
            <a:r>
              <a:rPr lang="en-NZ"/>
              <a:t>Measuring Inventory</a:t>
            </a:r>
          </a:p>
        </p:txBody>
      </p:sp>
      <p:sp>
        <p:nvSpPr>
          <p:cNvPr id="27651" name="Content Placeholder 2">
            <a:extLst>
              <a:ext uri="{FF2B5EF4-FFF2-40B4-BE49-F238E27FC236}">
                <a16:creationId xmlns:a16="http://schemas.microsoft.com/office/drawing/2014/main" id="{3AD109C4-3062-0BC1-4AE8-13EF3D961D0F}"/>
              </a:ext>
            </a:extLst>
          </p:cNvPr>
          <p:cNvSpPr>
            <a:spLocks noGrp="1"/>
          </p:cNvSpPr>
          <p:nvPr>
            <p:ph idx="1"/>
          </p:nvPr>
        </p:nvSpPr>
        <p:spPr/>
        <p:txBody>
          <a:bodyPr/>
          <a:lstStyle/>
          <a:p>
            <a:r>
              <a:rPr lang="en-NZ" altLang="en-US" sz="2400">
                <a:latin typeface="Arial" panose="020B0604020202020204" pitchFamily="34" charset="0"/>
                <a:cs typeface="Arial" panose="020B0604020202020204" pitchFamily="34" charset="0"/>
              </a:rPr>
              <a:t>Whether the perpetual method or the periodic method is used, the inventory which appears in the financial statements should follow the rule should be valued</a:t>
            </a:r>
          </a:p>
          <a:p>
            <a:r>
              <a:rPr lang="en-NZ" altLang="en-US" sz="2400">
                <a:latin typeface="Arial" panose="020B0604020202020204" pitchFamily="34" charset="0"/>
                <a:cs typeface="Arial" panose="020B0604020202020204" pitchFamily="34" charset="0"/>
              </a:rPr>
              <a:t>“Inventory shall be measured at the lower of cost and net realisable value”. </a:t>
            </a:r>
            <a:r>
              <a:rPr lang="en-NZ" altLang="en-US" sz="2400" i="1">
                <a:latin typeface="Arial" panose="020B0604020202020204" pitchFamily="34" charset="0"/>
                <a:cs typeface="Arial" panose="020B0604020202020204" pitchFamily="34" charset="0"/>
              </a:rPr>
              <a:t>NZIAS 2</a:t>
            </a:r>
          </a:p>
          <a:p>
            <a:r>
              <a:rPr lang="en-NZ" altLang="en-US" sz="2400">
                <a:latin typeface="Arial" panose="020B0604020202020204" pitchFamily="34" charset="0"/>
                <a:cs typeface="Arial" panose="020B0604020202020204" pitchFamily="34" charset="0"/>
              </a:rPr>
              <a:t>Net realisable value (NRV) is determined as “the estimated selling price in the ordinary course of business less the estimated costs of completion and the estimated costs necessary to make the sale” </a:t>
            </a:r>
            <a:r>
              <a:rPr lang="en-NZ" altLang="en-US" sz="2400" i="1">
                <a:latin typeface="Arial" panose="020B0604020202020204" pitchFamily="34" charset="0"/>
                <a:cs typeface="Arial" panose="020B0604020202020204" pitchFamily="34" charset="0"/>
              </a:rPr>
              <a:t>NZIAS 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A3565-A483-0534-028C-BEDBDBCF74F1}"/>
              </a:ext>
            </a:extLst>
          </p:cNvPr>
          <p:cNvSpPr>
            <a:spLocks noGrp="1"/>
          </p:cNvSpPr>
          <p:nvPr>
            <p:ph type="title"/>
          </p:nvPr>
        </p:nvSpPr>
        <p:spPr>
          <a:xfrm>
            <a:off x="457200" y="96838"/>
            <a:ext cx="8229600" cy="884237"/>
          </a:xfrm>
        </p:spPr>
        <p:txBody>
          <a:bodyPr/>
          <a:lstStyle/>
          <a:p>
            <a:pPr>
              <a:defRPr/>
            </a:pPr>
            <a:r>
              <a:rPr lang="en-AU" sz="2800" cap="none"/>
              <a:t>7.4 Defining and classifying expenses</a:t>
            </a:r>
          </a:p>
        </p:txBody>
      </p:sp>
      <p:sp>
        <p:nvSpPr>
          <p:cNvPr id="28675" name="Content Placeholder 2">
            <a:extLst>
              <a:ext uri="{FF2B5EF4-FFF2-40B4-BE49-F238E27FC236}">
                <a16:creationId xmlns:a16="http://schemas.microsoft.com/office/drawing/2014/main" id="{3951F0DD-2339-2342-A48E-1DD139EA3EA2}"/>
              </a:ext>
            </a:extLst>
          </p:cNvPr>
          <p:cNvSpPr>
            <a:spLocks noGrp="1"/>
          </p:cNvSpPr>
          <p:nvPr>
            <p:ph idx="1"/>
          </p:nvPr>
        </p:nvSpPr>
        <p:spPr>
          <a:xfrm>
            <a:off x="457200" y="1143000"/>
            <a:ext cx="8001000" cy="5094288"/>
          </a:xfrm>
        </p:spPr>
        <p:txBody>
          <a:bodyPr/>
          <a:lstStyle/>
          <a:p>
            <a:r>
              <a:rPr lang="en-AU" altLang="en-US" sz="2400">
                <a:latin typeface="Arial" panose="020B0604020202020204" pitchFamily="34" charset="0"/>
                <a:cs typeface="Arial" panose="020B0604020202020204" pitchFamily="34" charset="0"/>
              </a:rPr>
              <a:t>The term </a:t>
            </a:r>
            <a:r>
              <a:rPr lang="en-AU" altLang="en-US" sz="2400" b="1">
                <a:solidFill>
                  <a:srgbClr val="31859C"/>
                </a:solidFill>
                <a:latin typeface="Arial" panose="020B0604020202020204" pitchFamily="34" charset="0"/>
                <a:cs typeface="Arial" panose="020B0604020202020204" pitchFamily="34" charset="0"/>
              </a:rPr>
              <a:t>net purchases </a:t>
            </a:r>
            <a:r>
              <a:rPr lang="en-AU" altLang="en-US" sz="2400">
                <a:latin typeface="Arial" panose="020B0604020202020204" pitchFamily="34" charset="0"/>
                <a:cs typeface="Arial" panose="020B0604020202020204" pitchFamily="34" charset="0"/>
              </a:rPr>
              <a:t>is used because the amount of merchandise purchases (invoice cost and transportation-in) is adjusted (reduced) for purchases returns, allowances and discounts. </a:t>
            </a:r>
          </a:p>
          <a:p>
            <a:r>
              <a:rPr lang="en-AU" altLang="en-US" sz="2400">
                <a:latin typeface="Arial" panose="020B0604020202020204" pitchFamily="34" charset="0"/>
                <a:cs typeface="Arial" panose="020B0604020202020204" pitchFamily="34" charset="0"/>
              </a:rPr>
              <a:t>The business receives returns and allowances as well as giving them</a:t>
            </a:r>
          </a:p>
          <a:p>
            <a:endParaRPr lang="en-AU" altLang="en-US" sz="2400">
              <a:latin typeface="Arial" panose="020B0604020202020204" pitchFamily="34" charset="0"/>
              <a:cs typeface="Arial" panose="020B0604020202020204" pitchFamily="34" charset="0"/>
            </a:endParaRPr>
          </a:p>
          <a:p>
            <a:r>
              <a:rPr lang="en-AU" altLang="en-US" sz="2400">
                <a:latin typeface="Arial" panose="020B0604020202020204" pitchFamily="34" charset="0"/>
                <a:cs typeface="Arial" panose="020B0604020202020204" pitchFamily="34" charset="0"/>
              </a:rPr>
              <a:t>A business’s </a:t>
            </a:r>
            <a:r>
              <a:rPr lang="en-AU" altLang="en-US" sz="2400" b="1">
                <a:solidFill>
                  <a:srgbClr val="31859C"/>
                </a:solidFill>
                <a:latin typeface="Arial" panose="020B0604020202020204" pitchFamily="34" charset="0"/>
                <a:cs typeface="Arial" panose="020B0604020202020204" pitchFamily="34" charset="0"/>
              </a:rPr>
              <a:t>cost of ending inventory </a:t>
            </a:r>
            <a:r>
              <a:rPr lang="en-AU" altLang="en-US" sz="2400">
                <a:latin typeface="Arial" panose="020B0604020202020204" pitchFamily="34" charset="0"/>
                <a:cs typeface="Arial" panose="020B0604020202020204" pitchFamily="34" charset="0"/>
              </a:rPr>
              <a:t>is the dollar amount of merchandise on hand, based on a physical count at the end of the accounting period.</a:t>
            </a:r>
          </a:p>
          <a:p>
            <a:endParaRPr lang="en-AU" altLang="en-US">
              <a:latin typeface="Arial" panose="020B0604020202020204" pitchFamily="34" charset="0"/>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E1A82-D177-8ADE-B6D2-6260A78A0D17}"/>
              </a:ext>
            </a:extLst>
          </p:cNvPr>
          <p:cNvSpPr>
            <a:spLocks noGrp="1"/>
          </p:cNvSpPr>
          <p:nvPr>
            <p:ph type="title"/>
          </p:nvPr>
        </p:nvSpPr>
        <p:spPr>
          <a:xfrm>
            <a:off x="495300" y="347663"/>
            <a:ext cx="8229600" cy="560387"/>
          </a:xfrm>
        </p:spPr>
        <p:txBody>
          <a:bodyPr/>
          <a:lstStyle/>
          <a:p>
            <a:pPr>
              <a:defRPr/>
            </a:pPr>
            <a:r>
              <a:rPr lang="en-AU" sz="2800" cap="none"/>
              <a:t>7.4 Defining and classifying expenses</a:t>
            </a:r>
          </a:p>
        </p:txBody>
      </p:sp>
      <p:sp>
        <p:nvSpPr>
          <p:cNvPr id="29699" name="Content Placeholder 2">
            <a:extLst>
              <a:ext uri="{FF2B5EF4-FFF2-40B4-BE49-F238E27FC236}">
                <a16:creationId xmlns:a16="http://schemas.microsoft.com/office/drawing/2014/main" id="{547326B0-88EE-CD57-9BFF-08421328C5C9}"/>
              </a:ext>
            </a:extLst>
          </p:cNvPr>
          <p:cNvSpPr>
            <a:spLocks noGrp="1"/>
          </p:cNvSpPr>
          <p:nvPr>
            <p:ph idx="1"/>
          </p:nvPr>
        </p:nvSpPr>
        <p:spPr>
          <a:xfrm>
            <a:off x="495300" y="1052513"/>
            <a:ext cx="8469313" cy="5472112"/>
          </a:xfrm>
        </p:spPr>
        <p:txBody>
          <a:bodyPr/>
          <a:lstStyle/>
          <a:p>
            <a:r>
              <a:rPr lang="en-AU" altLang="en-US" sz="2400" b="1">
                <a:solidFill>
                  <a:srgbClr val="31859C"/>
                </a:solidFill>
                <a:latin typeface="Arial" panose="020B0604020202020204" pitchFamily="34" charset="0"/>
                <a:cs typeface="Arial" panose="020B0604020202020204" pitchFamily="34" charset="0"/>
              </a:rPr>
              <a:t>Gross proﬁt </a:t>
            </a:r>
            <a:r>
              <a:rPr lang="en-AU" altLang="en-US" sz="2400">
                <a:latin typeface="Arial" panose="020B0604020202020204" pitchFamily="34" charset="0"/>
                <a:cs typeface="Arial" panose="020B0604020202020204" pitchFamily="34" charset="0"/>
              </a:rPr>
              <a:t>is the amount of revenue that a business has ‘left over’ (after recovering the cost of the products it sold) to cover its operating expenses.</a:t>
            </a:r>
          </a:p>
          <a:p>
            <a:pPr>
              <a:buFont typeface="Arial" panose="020B0604020202020204" pitchFamily="34" charset="0"/>
              <a:buNone/>
            </a:pPr>
            <a:endParaRPr lang="en-AU" altLang="en-US" sz="2400">
              <a:latin typeface="Arial" panose="020B0604020202020204" pitchFamily="34" charset="0"/>
              <a:cs typeface="Arial" panose="020B0604020202020204" pitchFamily="34" charset="0"/>
            </a:endParaRPr>
          </a:p>
          <a:p>
            <a:r>
              <a:rPr lang="en-AU" altLang="en-US" sz="2400">
                <a:latin typeface="Arial" panose="020B0604020202020204" pitchFamily="34" charset="0"/>
                <a:cs typeface="Arial" panose="020B0604020202020204" pitchFamily="34" charset="0"/>
              </a:rPr>
              <a:t>Café Revive subtracts its $6,240 cost of goods sold for coffee gift packs from its $12,000 sales revenue (net) for coffee gift packs to get its $5,760 gross proﬁt, as we showed in Case Exhibit 7.2.</a:t>
            </a:r>
          </a:p>
          <a:p>
            <a:pPr>
              <a:buFont typeface="Arial" panose="020B0604020202020204" pitchFamily="34" charset="0"/>
              <a:buNone/>
            </a:pPr>
            <a:endParaRPr lang="en-AU" altLang="en-US" sz="2400">
              <a:latin typeface="Arial" panose="020B0604020202020204" pitchFamily="34" charset="0"/>
              <a:cs typeface="Arial" panose="020B0604020202020204" pitchFamily="34" charset="0"/>
            </a:endParaRPr>
          </a:p>
          <a:p>
            <a:r>
              <a:rPr lang="en-AU" altLang="en-US" sz="2400" b="1">
                <a:solidFill>
                  <a:srgbClr val="31859C"/>
                </a:solidFill>
                <a:latin typeface="Arial" panose="020B0604020202020204" pitchFamily="34" charset="0"/>
                <a:cs typeface="Arial" panose="020B0604020202020204" pitchFamily="34" charset="0"/>
              </a:rPr>
              <a:t>Operating expenses </a:t>
            </a:r>
            <a:r>
              <a:rPr lang="en-AU" altLang="en-US" sz="2400">
                <a:latin typeface="Arial" panose="020B0604020202020204" pitchFamily="34" charset="0"/>
                <a:cs typeface="Arial" panose="020B0604020202020204" pitchFamily="34" charset="0"/>
              </a:rPr>
              <a:t>are the expenses (other than cost of goods sold) that a business incurs in its day-to-day operations.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A19F5-860C-93A5-7C4E-604CD0C8BC61}"/>
              </a:ext>
            </a:extLst>
          </p:cNvPr>
          <p:cNvSpPr>
            <a:spLocks noGrp="1"/>
          </p:cNvSpPr>
          <p:nvPr>
            <p:ph type="title"/>
          </p:nvPr>
        </p:nvSpPr>
        <p:spPr>
          <a:xfrm>
            <a:off x="406400" y="-196850"/>
            <a:ext cx="8229600" cy="884238"/>
          </a:xfrm>
        </p:spPr>
        <p:txBody>
          <a:bodyPr/>
          <a:lstStyle/>
          <a:p>
            <a:pPr>
              <a:defRPr/>
            </a:pPr>
            <a:r>
              <a:rPr lang="en-AU" sz="2800" cap="none"/>
              <a:t>7.4 Defining and classifying expenses</a:t>
            </a:r>
          </a:p>
        </p:txBody>
      </p:sp>
      <p:pic>
        <p:nvPicPr>
          <p:cNvPr id="30723" name="Content Placeholder 3">
            <a:extLst>
              <a:ext uri="{FF2B5EF4-FFF2-40B4-BE49-F238E27FC236}">
                <a16:creationId xmlns:a16="http://schemas.microsoft.com/office/drawing/2014/main" id="{DB15A8D3-F4F7-F963-E0D4-2143EEFDE56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71550" y="423863"/>
            <a:ext cx="5548313" cy="5741987"/>
          </a:xfrm>
        </p:spPr>
      </p:pic>
      <p:sp>
        <p:nvSpPr>
          <p:cNvPr id="30724" name="Rectangle 2">
            <a:extLst>
              <a:ext uri="{FF2B5EF4-FFF2-40B4-BE49-F238E27FC236}">
                <a16:creationId xmlns:a16="http://schemas.microsoft.com/office/drawing/2014/main" id="{D8853904-90D5-66E8-5EB2-2FEDD2EE3981}"/>
              </a:ext>
            </a:extLst>
          </p:cNvPr>
          <p:cNvSpPr>
            <a:spLocks noChangeArrowheads="1"/>
          </p:cNvSpPr>
          <p:nvPr/>
        </p:nvSpPr>
        <p:spPr bwMode="auto">
          <a:xfrm>
            <a:off x="6516688" y="2276475"/>
            <a:ext cx="180022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MS PGothic" panose="020B0600070205080204" pitchFamily="34" charset="-128"/>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9pPr>
          </a:lstStyle>
          <a:p>
            <a:pPr>
              <a:spcBef>
                <a:spcPct val="0"/>
              </a:spcBef>
              <a:spcAft>
                <a:spcPts val="3000"/>
              </a:spcAft>
            </a:pPr>
            <a:r>
              <a:rPr lang="en-AU" altLang="en-US" sz="1800" i="1">
                <a:latin typeface="Arial Narrow" panose="020B0606020202030204" pitchFamily="34" charset="0"/>
              </a:rPr>
              <a:t>Note. It is not mandatory that a business classify its operating expenses in any particular way.  This is a simple method of classification given by many textbooks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9D862-EDA7-DDC4-0341-33D7F5C58E22}"/>
              </a:ext>
            </a:extLst>
          </p:cNvPr>
          <p:cNvSpPr>
            <a:spLocks noGrp="1"/>
          </p:cNvSpPr>
          <p:nvPr>
            <p:ph type="title"/>
          </p:nvPr>
        </p:nvSpPr>
        <p:spPr>
          <a:xfrm>
            <a:off x="495300" y="60325"/>
            <a:ext cx="8229600" cy="884238"/>
          </a:xfrm>
        </p:spPr>
        <p:txBody>
          <a:bodyPr/>
          <a:lstStyle/>
          <a:p>
            <a:pPr>
              <a:defRPr/>
            </a:pPr>
            <a:r>
              <a:rPr lang="en-AU" sz="2800" cap="none"/>
              <a:t>7.5 Evaluating the income statement using ratios</a:t>
            </a:r>
          </a:p>
        </p:txBody>
      </p:sp>
      <p:sp>
        <p:nvSpPr>
          <p:cNvPr id="31747" name="Content Placeholder 2">
            <a:extLst>
              <a:ext uri="{FF2B5EF4-FFF2-40B4-BE49-F238E27FC236}">
                <a16:creationId xmlns:a16="http://schemas.microsoft.com/office/drawing/2014/main" id="{D38EF3A5-CA5B-3292-4939-1C665410B668}"/>
              </a:ext>
            </a:extLst>
          </p:cNvPr>
          <p:cNvSpPr>
            <a:spLocks noGrp="1"/>
          </p:cNvSpPr>
          <p:nvPr>
            <p:ph idx="1"/>
          </p:nvPr>
        </p:nvSpPr>
        <p:spPr>
          <a:xfrm>
            <a:off x="495300" y="944563"/>
            <a:ext cx="8001000" cy="4632325"/>
          </a:xfrm>
        </p:spPr>
        <p:txBody>
          <a:bodyPr/>
          <a:lstStyle/>
          <a:p>
            <a:r>
              <a:rPr lang="en-AU" altLang="en-US" sz="2400">
                <a:latin typeface="Arial" panose="020B0604020202020204" pitchFamily="34" charset="0"/>
                <a:cs typeface="Arial" panose="020B0604020202020204" pitchFamily="34" charset="0"/>
              </a:rPr>
              <a:t>Accounting information helps managers plan, operate and evaluate business activities. </a:t>
            </a:r>
          </a:p>
          <a:p>
            <a:r>
              <a:rPr lang="en-AU" altLang="en-US" sz="2400">
                <a:latin typeface="Arial" panose="020B0604020202020204" pitchFamily="34" charset="0"/>
                <a:cs typeface="Arial" panose="020B0604020202020204" pitchFamily="34" charset="0"/>
              </a:rPr>
              <a:t>Managers use accounting information on a day-to-day basis to help them make decisions. </a:t>
            </a:r>
          </a:p>
          <a:p>
            <a:r>
              <a:rPr lang="en-AU" altLang="en-US" sz="2400">
                <a:latin typeface="Arial" panose="020B0604020202020204" pitchFamily="34" charset="0"/>
                <a:cs typeface="Arial" panose="020B0604020202020204" pitchFamily="34" charset="0"/>
              </a:rPr>
              <a:t>If you are a creditor, a business’s ﬁnancial statements help you decide whether to loan money to the business and, if so, under what loan arrangements.</a:t>
            </a:r>
          </a:p>
          <a:p>
            <a:r>
              <a:rPr lang="en-AU" altLang="en-US" sz="2400">
                <a:latin typeface="Arial" panose="020B0604020202020204" pitchFamily="34" charset="0"/>
                <a:cs typeface="Arial" panose="020B0604020202020204" pitchFamily="34" charset="0"/>
              </a:rPr>
              <a:t>Investors use the income statement to help judge their return on investment and creditors use it to help make loan decisions. </a:t>
            </a:r>
          </a:p>
          <a:p>
            <a:r>
              <a:rPr lang="en-AU" altLang="en-US" sz="2400">
                <a:latin typeface="Arial" panose="020B0604020202020204" pitchFamily="34" charset="0"/>
                <a:cs typeface="Arial" panose="020B0604020202020204" pitchFamily="34" charset="0"/>
              </a:rPr>
              <a:t>Financial statement users evaluate a business’s risk, operating capability and ﬁnancial ﬂexibility.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6FEBD-6352-F83A-561B-199577BBD5EA}"/>
              </a:ext>
            </a:extLst>
          </p:cNvPr>
          <p:cNvSpPr>
            <a:spLocks noGrp="1"/>
          </p:cNvSpPr>
          <p:nvPr>
            <p:ph type="title"/>
          </p:nvPr>
        </p:nvSpPr>
        <p:spPr>
          <a:xfrm>
            <a:off x="495300" y="44450"/>
            <a:ext cx="8229600" cy="884238"/>
          </a:xfrm>
        </p:spPr>
        <p:txBody>
          <a:bodyPr/>
          <a:lstStyle/>
          <a:p>
            <a:pPr>
              <a:defRPr/>
            </a:pPr>
            <a:r>
              <a:rPr lang="en-AU" sz="2800" cap="none"/>
              <a:t>7.5 Evaluating the income statement using ratios</a:t>
            </a:r>
          </a:p>
        </p:txBody>
      </p:sp>
      <p:sp>
        <p:nvSpPr>
          <p:cNvPr id="32771" name="Content Placeholder 2">
            <a:extLst>
              <a:ext uri="{FF2B5EF4-FFF2-40B4-BE49-F238E27FC236}">
                <a16:creationId xmlns:a16="http://schemas.microsoft.com/office/drawing/2014/main" id="{A1F1B8B9-CD11-875D-F68C-3CE2A26DD49B}"/>
              </a:ext>
            </a:extLst>
          </p:cNvPr>
          <p:cNvSpPr>
            <a:spLocks noGrp="1"/>
          </p:cNvSpPr>
          <p:nvPr>
            <p:ph idx="1"/>
          </p:nvPr>
        </p:nvSpPr>
        <p:spPr>
          <a:xfrm>
            <a:off x="492125" y="933450"/>
            <a:ext cx="8232775" cy="4819650"/>
          </a:xfrm>
        </p:spPr>
        <p:txBody>
          <a:bodyPr/>
          <a:lstStyle/>
          <a:p>
            <a:pPr marL="0" indent="0">
              <a:buFont typeface="Arial" panose="020B0604020202020204" pitchFamily="34" charset="0"/>
              <a:buNone/>
            </a:pPr>
            <a:r>
              <a:rPr lang="en-AU" altLang="en-US" sz="2200" b="1">
                <a:solidFill>
                  <a:srgbClr val="31859C"/>
                </a:solidFill>
                <a:latin typeface="Arial" panose="020B0604020202020204" pitchFamily="34" charset="0"/>
                <a:cs typeface="Arial" panose="020B0604020202020204" pitchFamily="34" charset="0"/>
              </a:rPr>
              <a:t>Ratios - Ratio analysis </a:t>
            </a:r>
            <a:r>
              <a:rPr lang="en-AU" altLang="en-US" sz="2200">
                <a:latin typeface="Arial" panose="020B0604020202020204" pitchFamily="34" charset="0"/>
                <a:cs typeface="Arial" panose="020B0604020202020204" pitchFamily="34" charset="0"/>
              </a:rPr>
              <a:t>consists of calculations in which an item on the business’s ﬁnancial statements is divided by another related item. </a:t>
            </a:r>
          </a:p>
          <a:p>
            <a:pPr marL="0" indent="0">
              <a:buFont typeface="Arial" panose="020B0604020202020204" pitchFamily="34" charset="0"/>
              <a:buNone/>
            </a:pPr>
            <a:endParaRPr lang="en-AU" altLang="en-US" sz="2200">
              <a:latin typeface="Arial" panose="020B0604020202020204" pitchFamily="34" charset="0"/>
              <a:cs typeface="Arial" panose="020B0604020202020204" pitchFamily="34" charset="0"/>
            </a:endParaRPr>
          </a:p>
          <a:p>
            <a:pPr marL="0" indent="0">
              <a:buFont typeface="Arial" panose="020B0604020202020204" pitchFamily="34" charset="0"/>
              <a:buNone/>
            </a:pPr>
            <a:r>
              <a:rPr lang="en-AU" altLang="en-US" sz="2000" b="1">
                <a:solidFill>
                  <a:srgbClr val="31859C"/>
                </a:solidFill>
                <a:latin typeface="Arial" panose="020B0604020202020204" pitchFamily="34" charset="0"/>
                <a:cs typeface="Arial" panose="020B0604020202020204" pitchFamily="34" charset="0"/>
              </a:rPr>
              <a:t>Profit margin </a:t>
            </a:r>
            <a:r>
              <a:rPr lang="en-AU" altLang="en-US" sz="2000">
                <a:latin typeface="Arial" panose="020B0604020202020204" pitchFamily="34" charset="0"/>
                <a:cs typeface="Arial" panose="020B0604020202020204" pitchFamily="34" charset="0"/>
              </a:rPr>
              <a:t>= Net income/Net sales</a:t>
            </a:r>
          </a:p>
          <a:p>
            <a:pPr marL="0" indent="0">
              <a:buFont typeface="Arial" panose="020B0604020202020204" pitchFamily="34" charset="0"/>
              <a:buNone/>
            </a:pPr>
            <a:r>
              <a:rPr lang="en-AU" altLang="en-US" sz="2000">
                <a:latin typeface="Arial" panose="020B0604020202020204" pitchFamily="34" charset="0"/>
                <a:cs typeface="Arial" panose="020B0604020202020204" pitchFamily="34" charset="0"/>
              </a:rPr>
              <a:t>=4325/16880 = 25.62% </a:t>
            </a:r>
          </a:p>
          <a:p>
            <a:pPr marL="0" indent="0">
              <a:buFont typeface="Arial" panose="020B0604020202020204" pitchFamily="34" charset="0"/>
              <a:buNone/>
            </a:pPr>
            <a:r>
              <a:rPr lang="en-AU" altLang="en-US" sz="2000">
                <a:latin typeface="Arial" panose="020B0604020202020204" pitchFamily="34" charset="0"/>
                <a:cs typeface="Arial" panose="020B0604020202020204" pitchFamily="34" charset="0"/>
              </a:rPr>
              <a:t>This means that, on average, 25.62 cents of every sales dollar is proﬁt (net income) for Café Revive based on Case Exhibit 7.2.</a:t>
            </a:r>
          </a:p>
          <a:p>
            <a:pPr marL="0" indent="0">
              <a:buFont typeface="Arial" panose="020B0604020202020204" pitchFamily="34" charset="0"/>
              <a:buNone/>
            </a:pPr>
            <a:endParaRPr lang="en-AU" altLang="en-US" sz="2000">
              <a:latin typeface="Arial" panose="020B0604020202020204" pitchFamily="34" charset="0"/>
              <a:cs typeface="Arial" panose="020B0604020202020204" pitchFamily="34" charset="0"/>
            </a:endParaRPr>
          </a:p>
          <a:p>
            <a:pPr marL="0" indent="0">
              <a:buFont typeface="Arial" panose="020B0604020202020204" pitchFamily="34" charset="0"/>
              <a:buNone/>
            </a:pPr>
            <a:r>
              <a:rPr lang="en-AU" altLang="en-US" sz="2000" b="1">
                <a:solidFill>
                  <a:srgbClr val="31859C"/>
                </a:solidFill>
                <a:latin typeface="Arial" panose="020B0604020202020204" pitchFamily="34" charset="0"/>
                <a:cs typeface="Arial" panose="020B0604020202020204" pitchFamily="34" charset="0"/>
              </a:rPr>
              <a:t>Gross proﬁt percentage </a:t>
            </a:r>
            <a:r>
              <a:rPr lang="en-AU" altLang="en-US" sz="2000">
                <a:latin typeface="Arial" panose="020B0604020202020204" pitchFamily="34" charset="0"/>
                <a:cs typeface="Arial" panose="020B0604020202020204" pitchFamily="34" charset="0"/>
              </a:rPr>
              <a:t>= Gross profits/Net sales</a:t>
            </a:r>
          </a:p>
          <a:p>
            <a:pPr marL="0" indent="0">
              <a:buFont typeface="Arial" panose="020B0604020202020204" pitchFamily="34" charset="0"/>
              <a:buNone/>
            </a:pPr>
            <a:r>
              <a:rPr lang="en-AU" altLang="en-US" sz="2000">
                <a:latin typeface="Arial" panose="020B0604020202020204" pitchFamily="34" charset="0"/>
                <a:cs typeface="Arial" panose="020B0604020202020204" pitchFamily="34" charset="0"/>
              </a:rPr>
              <a:t>= 5760 /12000 = 48% </a:t>
            </a:r>
          </a:p>
          <a:p>
            <a:pPr marL="0" indent="0">
              <a:buFont typeface="Arial" panose="020B0604020202020204" pitchFamily="34" charset="0"/>
              <a:buNone/>
            </a:pPr>
            <a:r>
              <a:rPr lang="en-AU" altLang="en-US" sz="2000">
                <a:latin typeface="Arial" panose="020B0604020202020204" pitchFamily="34" charset="0"/>
                <a:cs typeface="Arial" panose="020B0604020202020204" pitchFamily="34" charset="0"/>
              </a:rPr>
              <a:t>On average, 48 cents of every sales dollar (after the cost of goods sold is subtracted) is left to cover operating expenses and other expenses and to increase Café Revive’s net income.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9FF6E-F109-57DE-6426-B227DF852745}"/>
              </a:ext>
            </a:extLst>
          </p:cNvPr>
          <p:cNvSpPr>
            <a:spLocks noGrp="1"/>
          </p:cNvSpPr>
          <p:nvPr>
            <p:ph type="title"/>
          </p:nvPr>
        </p:nvSpPr>
        <p:spPr>
          <a:xfrm>
            <a:off x="457200" y="687388"/>
            <a:ext cx="8229600" cy="884237"/>
          </a:xfrm>
        </p:spPr>
        <p:txBody>
          <a:bodyPr/>
          <a:lstStyle/>
          <a:p>
            <a:pPr>
              <a:defRPr/>
            </a:pPr>
            <a:r>
              <a:rPr lang="en-AU"/>
              <a:t>Gross Profit percentage</a:t>
            </a:r>
            <a:endParaRPr lang="en-NZ"/>
          </a:p>
        </p:txBody>
      </p:sp>
      <p:sp>
        <p:nvSpPr>
          <p:cNvPr id="33795" name="Content Placeholder 2">
            <a:extLst>
              <a:ext uri="{FF2B5EF4-FFF2-40B4-BE49-F238E27FC236}">
                <a16:creationId xmlns:a16="http://schemas.microsoft.com/office/drawing/2014/main" id="{CAE71685-6536-CD50-986D-E5FEDEE20CEB}"/>
              </a:ext>
            </a:extLst>
          </p:cNvPr>
          <p:cNvSpPr>
            <a:spLocks noGrp="1"/>
          </p:cNvSpPr>
          <p:nvPr>
            <p:ph idx="1"/>
          </p:nvPr>
        </p:nvSpPr>
        <p:spPr>
          <a:xfrm>
            <a:off x="609600" y="1587500"/>
            <a:ext cx="7850188" cy="3713163"/>
          </a:xfrm>
        </p:spPr>
        <p:txBody>
          <a:bodyPr/>
          <a:lstStyle/>
          <a:p>
            <a:r>
              <a:rPr lang="en-AU" altLang="en-US" sz="2400">
                <a:latin typeface="Arial" panose="020B0604020202020204" pitchFamily="34" charset="0"/>
                <a:cs typeface="Arial" panose="020B0604020202020204" pitchFamily="34" charset="0"/>
              </a:rPr>
              <a:t>= Gross Profit / Net Sales</a:t>
            </a:r>
          </a:p>
          <a:p>
            <a:r>
              <a:rPr lang="en-AU" altLang="en-US" sz="2400">
                <a:latin typeface="Arial" panose="020B0604020202020204" pitchFamily="34" charset="0"/>
                <a:cs typeface="Arial" panose="020B0604020202020204" pitchFamily="34" charset="0"/>
              </a:rPr>
              <a:t>What proportion of sales is left to cover overheads and provide a profit?</a:t>
            </a:r>
          </a:p>
          <a:p>
            <a:r>
              <a:rPr lang="en-AU" altLang="en-US" sz="2400">
                <a:latin typeface="Arial" panose="020B0604020202020204" pitchFamily="34" charset="0"/>
                <a:cs typeface="Arial" panose="020B0604020202020204" pitchFamily="34" charset="0"/>
              </a:rPr>
              <a:t>How does it compare with previous years and / or similar businesses? </a:t>
            </a:r>
          </a:p>
          <a:p>
            <a:r>
              <a:rPr lang="en-AU" altLang="en-US" sz="2400">
                <a:latin typeface="Arial" panose="020B0604020202020204" pitchFamily="34" charset="0"/>
                <a:cs typeface="Arial" panose="020B0604020202020204" pitchFamily="34" charset="0"/>
              </a:rPr>
              <a:t>A  minor change in the GP % can have a large impact on net profit</a:t>
            </a:r>
          </a:p>
          <a:p>
            <a:r>
              <a:rPr lang="en-AU" altLang="en-US" sz="2400">
                <a:latin typeface="Arial" panose="020B0604020202020204" pitchFamily="34" charset="0"/>
                <a:cs typeface="Arial" panose="020B0604020202020204" pitchFamily="34" charset="0"/>
              </a:rPr>
              <a:t>If a decrease in GP % creates higher sales then it might lead to a higher gross profit in dollar terms </a:t>
            </a:r>
            <a:endParaRPr lang="en-NZ" altLang="en-US" sz="2400">
              <a:latin typeface="Arial" panose="020B0604020202020204" pitchFamily="34" charset="0"/>
              <a:cs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60708-BC8F-540C-0EE3-AAD8079B3D42}"/>
              </a:ext>
            </a:extLst>
          </p:cNvPr>
          <p:cNvSpPr>
            <a:spLocks noGrp="1"/>
          </p:cNvSpPr>
          <p:nvPr>
            <p:ph type="title"/>
          </p:nvPr>
        </p:nvSpPr>
        <p:spPr>
          <a:xfrm>
            <a:off x="496888" y="60325"/>
            <a:ext cx="8229600" cy="884238"/>
          </a:xfrm>
        </p:spPr>
        <p:txBody>
          <a:bodyPr/>
          <a:lstStyle/>
          <a:p>
            <a:pPr>
              <a:defRPr/>
            </a:pPr>
            <a:r>
              <a:rPr lang="en-AU" sz="2800" cap="none"/>
              <a:t>7.5 Evaluating the income statement using ratios</a:t>
            </a:r>
          </a:p>
        </p:txBody>
      </p:sp>
      <p:sp>
        <p:nvSpPr>
          <p:cNvPr id="34819" name="Content Placeholder 2">
            <a:extLst>
              <a:ext uri="{FF2B5EF4-FFF2-40B4-BE49-F238E27FC236}">
                <a16:creationId xmlns:a16="http://schemas.microsoft.com/office/drawing/2014/main" id="{4D5E4548-3E21-F716-0F06-2527527522A0}"/>
              </a:ext>
            </a:extLst>
          </p:cNvPr>
          <p:cNvSpPr>
            <a:spLocks noGrp="1"/>
          </p:cNvSpPr>
          <p:nvPr>
            <p:ph idx="1"/>
          </p:nvPr>
        </p:nvSpPr>
        <p:spPr>
          <a:xfrm>
            <a:off x="495300" y="944563"/>
            <a:ext cx="8001000" cy="4632325"/>
          </a:xfrm>
        </p:spPr>
        <p:txBody>
          <a:bodyPr/>
          <a:lstStyle/>
          <a:p>
            <a:pPr marL="0" indent="0">
              <a:buFont typeface="Arial" panose="020B0604020202020204" pitchFamily="34" charset="0"/>
              <a:buNone/>
            </a:pPr>
            <a:r>
              <a:rPr lang="en-AU" altLang="en-US" sz="2400" b="1">
                <a:latin typeface="Arial" panose="020B0604020202020204" pitchFamily="34" charset="0"/>
                <a:cs typeface="Arial" panose="020B0604020202020204" pitchFamily="34" charset="0"/>
              </a:rPr>
              <a:t>Proﬁtability ratios of actual businesses</a:t>
            </a:r>
          </a:p>
          <a:p>
            <a:pPr marL="0" indent="0">
              <a:buFont typeface="Arial" panose="020B0604020202020204" pitchFamily="34" charset="0"/>
              <a:buNone/>
            </a:pPr>
            <a:r>
              <a:rPr lang="en-AU" altLang="en-US">
                <a:latin typeface="Arial" panose="020B0604020202020204" pitchFamily="34" charset="0"/>
                <a:cs typeface="Arial" panose="020B0604020202020204" pitchFamily="34" charset="0"/>
              </a:rPr>
              <a:t> </a:t>
            </a:r>
          </a:p>
          <a:p>
            <a:pPr marL="0" indent="0"/>
            <a:endParaRPr lang="en-AU" altLang="en-US">
              <a:latin typeface="Arial" panose="020B0604020202020204" pitchFamily="34" charset="0"/>
              <a:cs typeface="Arial" panose="020B0604020202020204" pitchFamily="34" charset="0"/>
            </a:endParaRPr>
          </a:p>
        </p:txBody>
      </p:sp>
      <p:graphicFrame>
        <p:nvGraphicFramePr>
          <p:cNvPr id="5" name="Table 5">
            <a:extLst>
              <a:ext uri="{FF2B5EF4-FFF2-40B4-BE49-F238E27FC236}">
                <a16:creationId xmlns:a16="http://schemas.microsoft.com/office/drawing/2014/main" id="{96431C0E-5A15-0836-E491-D05767181915}"/>
              </a:ext>
            </a:extLst>
          </p:cNvPr>
          <p:cNvGraphicFramePr>
            <a:graphicFrameLocks noGrp="1"/>
          </p:cNvGraphicFramePr>
          <p:nvPr/>
        </p:nvGraphicFramePr>
        <p:xfrm>
          <a:off x="468313" y="1571625"/>
          <a:ext cx="8324850" cy="1928813"/>
        </p:xfrm>
        <a:graphic>
          <a:graphicData uri="http://schemas.openxmlformats.org/drawingml/2006/table">
            <a:tbl>
              <a:tblPr firstRow="1" bandRow="1">
                <a:tableStyleId>{5C22544A-7EE6-4342-B048-85BDC9FD1C3A}</a:tableStyleId>
              </a:tblPr>
              <a:tblGrid>
                <a:gridCol w="2774950">
                  <a:extLst>
                    <a:ext uri="{9D8B030D-6E8A-4147-A177-3AD203B41FA5}">
                      <a16:colId xmlns:a16="http://schemas.microsoft.com/office/drawing/2014/main" val="20000"/>
                    </a:ext>
                  </a:extLst>
                </a:gridCol>
                <a:gridCol w="2774950">
                  <a:extLst>
                    <a:ext uri="{9D8B030D-6E8A-4147-A177-3AD203B41FA5}">
                      <a16:colId xmlns:a16="http://schemas.microsoft.com/office/drawing/2014/main" val="20001"/>
                    </a:ext>
                  </a:extLst>
                </a:gridCol>
                <a:gridCol w="2774950">
                  <a:extLst>
                    <a:ext uri="{9D8B030D-6E8A-4147-A177-3AD203B41FA5}">
                      <a16:colId xmlns:a16="http://schemas.microsoft.com/office/drawing/2014/main" val="20002"/>
                    </a:ext>
                  </a:extLst>
                </a:gridCol>
              </a:tblGrid>
              <a:tr h="459317">
                <a:tc>
                  <a:txBody>
                    <a:bodyPr/>
                    <a:lstStyle/>
                    <a:p>
                      <a:r>
                        <a:rPr lang="en-AU" sz="1800" dirty="0"/>
                        <a:t>Ratios</a:t>
                      </a:r>
                    </a:p>
                  </a:txBody>
                  <a:tcPr marL="91436" marR="91436" marT="45678" marB="45678"/>
                </a:tc>
                <a:tc>
                  <a:txBody>
                    <a:bodyPr/>
                    <a:lstStyle/>
                    <a:p>
                      <a:r>
                        <a:rPr lang="en-AU" sz="1800" dirty="0"/>
                        <a:t>Super retail group</a:t>
                      </a:r>
                    </a:p>
                  </a:txBody>
                  <a:tcPr marL="91436" marR="91436" marT="45678" marB="45678"/>
                </a:tc>
                <a:tc>
                  <a:txBody>
                    <a:bodyPr/>
                    <a:lstStyle/>
                    <a:p>
                      <a:r>
                        <a:rPr lang="en-AU" sz="1800" dirty="0"/>
                        <a:t>Woolworths</a:t>
                      </a:r>
                    </a:p>
                  </a:txBody>
                  <a:tcPr marL="91436" marR="91436" marT="45678" marB="45678"/>
                </a:tc>
                <a:extLst>
                  <a:ext uri="{0D108BD9-81ED-4DB2-BD59-A6C34878D82A}">
                    <a16:rowId xmlns:a16="http://schemas.microsoft.com/office/drawing/2014/main" val="10000"/>
                  </a:ext>
                </a:extLst>
              </a:tr>
              <a:tr h="676266">
                <a:tc>
                  <a:txBody>
                    <a:bodyPr/>
                    <a:lstStyle/>
                    <a:p>
                      <a:r>
                        <a:rPr lang="en-AU" sz="1800" dirty="0"/>
                        <a:t>Profit margin percentage</a:t>
                      </a:r>
                    </a:p>
                  </a:txBody>
                  <a:tcPr marL="91436" marR="91436" marT="45678" marB="45678"/>
                </a:tc>
                <a:tc>
                  <a:txBody>
                    <a:bodyPr/>
                    <a:lstStyle/>
                    <a:p>
                      <a:r>
                        <a:rPr lang="en-AU" sz="1800" dirty="0"/>
                        <a:t>4.94%</a:t>
                      </a:r>
                    </a:p>
                  </a:txBody>
                  <a:tcPr marL="91436" marR="91436" marT="45678" marB="45678"/>
                </a:tc>
                <a:tc>
                  <a:txBody>
                    <a:bodyPr/>
                    <a:lstStyle/>
                    <a:p>
                      <a:r>
                        <a:rPr lang="en-AU" sz="1800" dirty="0"/>
                        <a:t>3.15%</a:t>
                      </a:r>
                    </a:p>
                  </a:txBody>
                  <a:tcPr marL="91436" marR="91436" marT="45678" marB="45678"/>
                </a:tc>
                <a:extLst>
                  <a:ext uri="{0D108BD9-81ED-4DB2-BD59-A6C34878D82A}">
                    <a16:rowId xmlns:a16="http://schemas.microsoft.com/office/drawing/2014/main" val="10001"/>
                  </a:ext>
                </a:extLst>
              </a:tr>
              <a:tr h="793231">
                <a:tc>
                  <a:txBody>
                    <a:bodyPr/>
                    <a:lstStyle/>
                    <a:p>
                      <a:r>
                        <a:rPr lang="en-AU" sz="1800" dirty="0"/>
                        <a:t>Gross profit percentage</a:t>
                      </a:r>
                    </a:p>
                  </a:txBody>
                  <a:tcPr marL="91436" marR="91436" marT="45678" marB="45678"/>
                </a:tc>
                <a:tc>
                  <a:txBody>
                    <a:bodyPr/>
                    <a:lstStyle/>
                    <a:p>
                      <a:r>
                        <a:rPr lang="en-AU" sz="1800" dirty="0"/>
                        <a:t>45.22%</a:t>
                      </a:r>
                    </a:p>
                  </a:txBody>
                  <a:tcPr marL="91436" marR="91436" marT="45678" marB="45678"/>
                </a:tc>
                <a:tc>
                  <a:txBody>
                    <a:bodyPr/>
                    <a:lstStyle/>
                    <a:p>
                      <a:r>
                        <a:rPr lang="en-AU" sz="1800" dirty="0"/>
                        <a:t>29.33%</a:t>
                      </a:r>
                    </a:p>
                  </a:txBody>
                  <a:tcPr marL="91436" marR="91436" marT="45678" marB="45678"/>
                </a:tc>
                <a:extLst>
                  <a:ext uri="{0D108BD9-81ED-4DB2-BD59-A6C34878D82A}">
                    <a16:rowId xmlns:a16="http://schemas.microsoft.com/office/drawing/2014/main" val="10002"/>
                  </a:ext>
                </a:extLst>
              </a:tr>
            </a:tbl>
          </a:graphicData>
        </a:graphic>
      </p:graphicFrame>
      <p:sp>
        <p:nvSpPr>
          <p:cNvPr id="34838" name="Rectangle 6">
            <a:extLst>
              <a:ext uri="{FF2B5EF4-FFF2-40B4-BE49-F238E27FC236}">
                <a16:creationId xmlns:a16="http://schemas.microsoft.com/office/drawing/2014/main" id="{58DFA8A9-6555-E3CE-07C5-76ECBAC2DEE9}"/>
              </a:ext>
            </a:extLst>
          </p:cNvPr>
          <p:cNvSpPr>
            <a:spLocks noChangeArrowheads="1"/>
          </p:cNvSpPr>
          <p:nvPr/>
        </p:nvSpPr>
        <p:spPr bwMode="auto">
          <a:xfrm>
            <a:off x="460375" y="3570288"/>
            <a:ext cx="8172450" cy="273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MS PGothic" panose="020B0600070205080204" pitchFamily="34" charset="-128"/>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9pPr>
          </a:lstStyle>
          <a:p>
            <a:pPr>
              <a:spcBef>
                <a:spcPct val="0"/>
              </a:spcBef>
              <a:buFontTx/>
              <a:buNone/>
            </a:pPr>
            <a:r>
              <a:rPr lang="en-AU" altLang="en-US" sz="2200"/>
              <a:t>Super Retail Group had a higher gross proﬁt percentage and a higher proﬁt margin percentage than Woolworths. </a:t>
            </a:r>
          </a:p>
          <a:p>
            <a:pPr>
              <a:spcBef>
                <a:spcPct val="0"/>
              </a:spcBef>
              <a:buFontTx/>
              <a:buNone/>
            </a:pPr>
            <a:endParaRPr lang="en-AU" altLang="en-US" sz="2200"/>
          </a:p>
          <a:p>
            <a:pPr>
              <a:spcBef>
                <a:spcPct val="0"/>
              </a:spcBef>
              <a:buFontTx/>
              <a:buNone/>
            </a:pPr>
            <a:r>
              <a:rPr lang="en-AU" altLang="en-US" sz="2200"/>
              <a:t>Based on a comparison of these ratios, we can say that Super Retail Group was more efﬁcient than Woolworths in controlling both the costs of merchandise and the costs of operating expenses.</a:t>
            </a:r>
          </a:p>
          <a:p>
            <a:pPr>
              <a:spcBef>
                <a:spcPct val="0"/>
              </a:spcBef>
              <a:buFontTx/>
              <a:buNone/>
            </a:pPr>
            <a:endParaRPr lang="en-AU" altLang="en-US" sz="1800">
              <a:latin typeface="Calibri" panose="020F050202020403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29141-EA9E-A07D-0DD9-226416C206EC}"/>
              </a:ext>
            </a:extLst>
          </p:cNvPr>
          <p:cNvSpPr>
            <a:spLocks noGrp="1"/>
          </p:cNvSpPr>
          <p:nvPr>
            <p:ph type="title"/>
          </p:nvPr>
        </p:nvSpPr>
        <p:spPr>
          <a:xfrm>
            <a:off x="495300" y="312738"/>
            <a:ext cx="8229600" cy="884237"/>
          </a:xfrm>
        </p:spPr>
        <p:txBody>
          <a:bodyPr/>
          <a:lstStyle/>
          <a:p>
            <a:pPr>
              <a:defRPr/>
            </a:pPr>
            <a:r>
              <a:rPr lang="en-AU" sz="2800" cap="none"/>
              <a:t>7.5 Evaluating the income statement using ratios</a:t>
            </a:r>
          </a:p>
        </p:txBody>
      </p:sp>
      <p:sp>
        <p:nvSpPr>
          <p:cNvPr id="35843" name="Content Placeholder 2">
            <a:extLst>
              <a:ext uri="{FF2B5EF4-FFF2-40B4-BE49-F238E27FC236}">
                <a16:creationId xmlns:a16="http://schemas.microsoft.com/office/drawing/2014/main" id="{1586D0D4-0FC4-3F6D-9EFF-ABB1FBFD7FA9}"/>
              </a:ext>
            </a:extLst>
          </p:cNvPr>
          <p:cNvSpPr>
            <a:spLocks noGrp="1"/>
          </p:cNvSpPr>
          <p:nvPr>
            <p:ph idx="1"/>
          </p:nvPr>
        </p:nvSpPr>
        <p:spPr>
          <a:xfrm>
            <a:off x="609600" y="1449388"/>
            <a:ext cx="8001000" cy="5003800"/>
          </a:xfrm>
        </p:spPr>
        <p:txBody>
          <a:bodyPr/>
          <a:lstStyle/>
          <a:p>
            <a:pPr marL="0" indent="0">
              <a:buFont typeface="Arial" panose="020B0604020202020204" pitchFamily="34" charset="0"/>
              <a:buNone/>
            </a:pPr>
            <a:r>
              <a:rPr lang="en-AU" altLang="en-US" sz="2400" b="1">
                <a:latin typeface="Arial" panose="020B0604020202020204" pitchFamily="34" charset="0"/>
                <a:cs typeface="Arial" panose="020B0604020202020204" pitchFamily="34" charset="0"/>
              </a:rPr>
              <a:t>Statement of comprehensive income</a:t>
            </a:r>
            <a:endParaRPr lang="en-AU" altLang="en-US" sz="2400">
              <a:latin typeface="Arial" panose="020B0604020202020204" pitchFamily="34" charset="0"/>
              <a:cs typeface="Arial" panose="020B0604020202020204" pitchFamily="34" charset="0"/>
            </a:endParaRPr>
          </a:p>
          <a:p>
            <a:pPr marL="0" indent="0">
              <a:buFont typeface="Arial" panose="020B0604020202020204" pitchFamily="34" charset="0"/>
              <a:buNone/>
            </a:pPr>
            <a:r>
              <a:rPr lang="en-AU" altLang="en-US" sz="2400">
                <a:latin typeface="Arial" panose="020B0604020202020204" pitchFamily="34" charset="0"/>
                <a:cs typeface="Arial" panose="020B0604020202020204" pitchFamily="34" charset="0"/>
              </a:rPr>
              <a:t>In addition to the income statement, the </a:t>
            </a:r>
            <a:r>
              <a:rPr lang="en-AU" altLang="en-US" sz="2400">
                <a:solidFill>
                  <a:srgbClr val="0070C0"/>
                </a:solidFill>
                <a:latin typeface="Arial" panose="020B0604020202020204" pitchFamily="34" charset="0"/>
                <a:cs typeface="Arial" panose="020B0604020202020204" pitchFamily="34" charset="0"/>
              </a:rPr>
              <a:t>New Zealand International Accounting Standard - NZIAS 1 Presentation of Financial Statements </a:t>
            </a:r>
            <a:r>
              <a:rPr lang="en-AU" altLang="en-US" sz="2400">
                <a:latin typeface="Arial" panose="020B0604020202020204" pitchFamily="34" charset="0"/>
                <a:cs typeface="Arial" panose="020B0604020202020204" pitchFamily="34" charset="0"/>
              </a:rPr>
              <a:t>requires that entities present a statement of comprehensive income, which is effectively the income statement plus all other comprehensive income.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3C9EA-A653-5593-30AA-016B54C3D501}"/>
              </a:ext>
            </a:extLst>
          </p:cNvPr>
          <p:cNvSpPr>
            <a:spLocks noGrp="1"/>
          </p:cNvSpPr>
          <p:nvPr>
            <p:ph type="title"/>
          </p:nvPr>
        </p:nvSpPr>
        <p:spPr>
          <a:xfrm>
            <a:off x="476250" y="-47625"/>
            <a:ext cx="8229600" cy="884238"/>
          </a:xfrm>
        </p:spPr>
        <p:txBody>
          <a:bodyPr/>
          <a:lstStyle/>
          <a:p>
            <a:pPr>
              <a:defRPr/>
            </a:pPr>
            <a:r>
              <a:rPr lang="en-AU" sz="2800" cap="none"/>
              <a:t>7.5 Evaluating the income statement using ratios</a:t>
            </a:r>
          </a:p>
        </p:txBody>
      </p:sp>
      <p:pic>
        <p:nvPicPr>
          <p:cNvPr id="36867" name="Content Placeholder 3">
            <a:extLst>
              <a:ext uri="{FF2B5EF4-FFF2-40B4-BE49-F238E27FC236}">
                <a16:creationId xmlns:a16="http://schemas.microsoft.com/office/drawing/2014/main" id="{6E5E1322-6A67-31DB-A4E5-6C02F567936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890838" y="1311275"/>
            <a:ext cx="6253162" cy="4681538"/>
          </a:xfrm>
        </p:spPr>
      </p:pic>
      <p:sp>
        <p:nvSpPr>
          <p:cNvPr id="36868" name="Rectangle 4">
            <a:extLst>
              <a:ext uri="{FF2B5EF4-FFF2-40B4-BE49-F238E27FC236}">
                <a16:creationId xmlns:a16="http://schemas.microsoft.com/office/drawing/2014/main" id="{784D9E54-A2C3-1D4A-399A-2482C7F3A463}"/>
              </a:ext>
            </a:extLst>
          </p:cNvPr>
          <p:cNvSpPr>
            <a:spLocks noChangeArrowheads="1"/>
          </p:cNvSpPr>
          <p:nvPr/>
        </p:nvSpPr>
        <p:spPr bwMode="auto">
          <a:xfrm>
            <a:off x="2987675" y="665163"/>
            <a:ext cx="60483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MS PGothic" panose="020B0600070205080204" pitchFamily="34" charset="-128"/>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9pPr>
          </a:lstStyle>
          <a:p>
            <a:pPr>
              <a:spcBef>
                <a:spcPct val="0"/>
              </a:spcBef>
              <a:buFontTx/>
              <a:buNone/>
            </a:pPr>
            <a:r>
              <a:rPr lang="en-AU" altLang="en-US" sz="1800" b="1"/>
              <a:t>Example 1 Income statement and statement of comprehensive income in one statement</a:t>
            </a:r>
          </a:p>
        </p:txBody>
      </p:sp>
      <p:sp>
        <p:nvSpPr>
          <p:cNvPr id="34821" name="Rectangle 5">
            <a:extLst>
              <a:ext uri="{FF2B5EF4-FFF2-40B4-BE49-F238E27FC236}">
                <a16:creationId xmlns:a16="http://schemas.microsoft.com/office/drawing/2014/main" id="{E23DACB0-AA0A-2EB1-1DC9-59391BFF3E4A}"/>
              </a:ext>
            </a:extLst>
          </p:cNvPr>
          <p:cNvSpPr>
            <a:spLocks noChangeArrowheads="1"/>
          </p:cNvSpPr>
          <p:nvPr/>
        </p:nvSpPr>
        <p:spPr bwMode="auto">
          <a:xfrm>
            <a:off x="200025" y="1412875"/>
            <a:ext cx="2571750" cy="3138488"/>
          </a:xfrm>
          <a:prstGeom prst="rect">
            <a:avLst/>
          </a:prstGeom>
          <a:noFill/>
          <a:ln>
            <a:noFill/>
          </a:ln>
        </p:spPr>
        <p:txBody>
          <a:bodyPr>
            <a:spAutoFit/>
          </a:bodyPr>
          <a:lstStyle/>
          <a:p>
            <a:pPr>
              <a:defRPr/>
            </a:pPr>
            <a:r>
              <a:rPr lang="en-AU" sz="2200" dirty="0">
                <a:latin typeface="Calibri" charset="0"/>
                <a:ea typeface="ＭＳ Ｐゴシック" charset="0"/>
                <a:cs typeface="Arial" charset="0"/>
              </a:rPr>
              <a:t>Entities can choose to present either: </a:t>
            </a:r>
          </a:p>
          <a:p>
            <a:pPr marL="342900" indent="-342900">
              <a:buFont typeface="Arial"/>
              <a:buChar char="•"/>
              <a:defRPr/>
            </a:pPr>
            <a:r>
              <a:rPr lang="en-AU" sz="2200" dirty="0">
                <a:latin typeface="Calibri" charset="0"/>
                <a:ea typeface="ＭＳ Ｐゴシック" charset="0"/>
                <a:cs typeface="Arial" charset="0"/>
              </a:rPr>
              <a:t>a single income statement and statement of other comprehensive income </a:t>
            </a:r>
          </a:p>
          <a:p>
            <a:pPr marL="342900" indent="-342900">
              <a:buFont typeface="Arial"/>
              <a:buChar char="•"/>
              <a:defRPr/>
            </a:pPr>
            <a:r>
              <a:rPr lang="en-AU" sz="2200" dirty="0">
                <a:latin typeface="Calibri" charset="0"/>
                <a:ea typeface="ＭＳ Ｐゴシック" charset="0"/>
                <a:cs typeface="Arial" charset="0"/>
              </a:rPr>
              <a:t>two statements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A2D618CD-B0AE-92BC-D768-763B0222F6EC}"/>
              </a:ext>
            </a:extLst>
          </p:cNvPr>
          <p:cNvSpPr>
            <a:spLocks noGrp="1" noChangeArrowheads="1"/>
          </p:cNvSpPr>
          <p:nvPr>
            <p:ph type="title"/>
          </p:nvPr>
        </p:nvSpPr>
        <p:spPr bwMode="auto">
          <a:xfrm>
            <a:off x="0" y="23813"/>
            <a:ext cx="9144000" cy="884237"/>
          </a:xfrm>
        </p:spPr>
        <p:txBody>
          <a:bodyPr wrap="square" numCol="1" anchorCtr="0" compatLnSpc="1">
            <a:prstTxWarp prst="textNoShape">
              <a:avLst/>
            </a:prstTxWarp>
          </a:bodyPr>
          <a:lstStyle/>
          <a:p>
            <a:pPr fontAlgn="base">
              <a:spcAft>
                <a:spcPct val="0"/>
              </a:spcAft>
            </a:pPr>
            <a:r>
              <a:rPr lang="en-AU" altLang="en-US" sz="2800" cap="none">
                <a:solidFill>
                  <a:srgbClr val="948A54"/>
                </a:solidFill>
                <a:latin typeface="Arial" panose="020B0604020202020204" pitchFamily="34" charset="0"/>
                <a:ea typeface="MS PGothic" panose="020B0600070205080204" pitchFamily="34" charset="-128"/>
                <a:cs typeface="Arial" panose="020B0604020202020204" pitchFamily="34" charset="0"/>
              </a:rPr>
              <a:t>7.6 Linking profit to owner’s equity </a:t>
            </a:r>
            <a:br>
              <a:rPr lang="en-AU" altLang="en-US" sz="2800" cap="none">
                <a:solidFill>
                  <a:srgbClr val="948A54"/>
                </a:solidFill>
                <a:latin typeface="Arial" panose="020B0604020202020204" pitchFamily="34" charset="0"/>
                <a:ea typeface="MS PGothic" panose="020B0600070205080204" pitchFamily="34" charset="-128"/>
                <a:cs typeface="Arial" panose="020B0604020202020204" pitchFamily="34" charset="0"/>
              </a:rPr>
            </a:br>
            <a:r>
              <a:rPr lang="en-AU" altLang="en-US" sz="2800" cap="none">
                <a:solidFill>
                  <a:srgbClr val="948A54"/>
                </a:solidFill>
                <a:latin typeface="Arial" panose="020B0604020202020204" pitchFamily="34" charset="0"/>
                <a:ea typeface="MS PGothic" panose="020B0600070205080204" pitchFamily="34" charset="-128"/>
                <a:cs typeface="Arial" panose="020B0604020202020204" pitchFamily="34" charset="0"/>
              </a:rPr>
              <a:t>and closing the accounts</a:t>
            </a:r>
          </a:p>
        </p:txBody>
      </p:sp>
      <p:pic>
        <p:nvPicPr>
          <p:cNvPr id="37891" name="Content Placeholder 3">
            <a:extLst>
              <a:ext uri="{FF2B5EF4-FFF2-40B4-BE49-F238E27FC236}">
                <a16:creationId xmlns:a16="http://schemas.microsoft.com/office/drawing/2014/main" id="{2A1FBA4C-F9B1-FC91-F438-4A4F5D49582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168525" y="1412875"/>
            <a:ext cx="5356225" cy="4710113"/>
          </a:xfrm>
        </p:spPr>
      </p:pic>
      <p:sp>
        <p:nvSpPr>
          <p:cNvPr id="37892" name="Rectangle 4">
            <a:extLst>
              <a:ext uri="{FF2B5EF4-FFF2-40B4-BE49-F238E27FC236}">
                <a16:creationId xmlns:a16="http://schemas.microsoft.com/office/drawing/2014/main" id="{D566E32F-60FF-0F0A-A51D-CFB7B01B7F0F}"/>
              </a:ext>
            </a:extLst>
          </p:cNvPr>
          <p:cNvSpPr>
            <a:spLocks noChangeArrowheads="1"/>
          </p:cNvSpPr>
          <p:nvPr/>
        </p:nvSpPr>
        <p:spPr bwMode="auto">
          <a:xfrm>
            <a:off x="182563" y="838200"/>
            <a:ext cx="88550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MS PGothic" panose="020B0600070205080204" pitchFamily="34" charset="-128"/>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9pPr>
          </a:lstStyle>
          <a:p>
            <a:pPr>
              <a:spcBef>
                <a:spcPct val="0"/>
              </a:spcBef>
              <a:buFontTx/>
              <a:buNone/>
            </a:pPr>
            <a:r>
              <a:rPr lang="en-AU" altLang="en-US" sz="1800" b="1"/>
              <a:t>Example 2 Income statement and statement of comprehensive income in separate statements.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8401C2A0-72B3-5BC6-7BC1-8598EEDF6362}"/>
              </a:ext>
            </a:extLst>
          </p:cNvPr>
          <p:cNvSpPr>
            <a:spLocks noGrp="1" noChangeArrowheads="1"/>
          </p:cNvSpPr>
          <p:nvPr>
            <p:ph type="title"/>
          </p:nvPr>
        </p:nvSpPr>
        <p:spPr bwMode="auto">
          <a:xfrm>
            <a:off x="1258888" y="454025"/>
            <a:ext cx="6508750" cy="671513"/>
          </a:xfrm>
        </p:spPr>
        <p:txBody>
          <a:bodyPr wrap="square" numCol="1" anchorCtr="0" compatLnSpc="1">
            <a:prstTxWarp prst="textNoShape">
              <a:avLst/>
            </a:prstTxWarp>
          </a:bodyPr>
          <a:lstStyle/>
          <a:p>
            <a:pPr fontAlgn="base">
              <a:spcAft>
                <a:spcPct val="0"/>
              </a:spcAft>
            </a:pPr>
            <a:r>
              <a:rPr lang="en-AU" altLang="en-US" sz="2800" cap="none">
                <a:solidFill>
                  <a:srgbClr val="948A54"/>
                </a:solidFill>
                <a:latin typeface="Arial" panose="020B0604020202020204" pitchFamily="34" charset="0"/>
                <a:ea typeface="MS PGothic" panose="020B0600070205080204" pitchFamily="34" charset="-128"/>
                <a:cs typeface="Arial" panose="020B0604020202020204" pitchFamily="34" charset="0"/>
              </a:rPr>
              <a:t>7.6 Linking profit to owner’s equity and closing the accounts</a:t>
            </a:r>
          </a:p>
        </p:txBody>
      </p:sp>
      <p:sp>
        <p:nvSpPr>
          <p:cNvPr id="39939" name="Content Placeholder 2">
            <a:extLst>
              <a:ext uri="{FF2B5EF4-FFF2-40B4-BE49-F238E27FC236}">
                <a16:creationId xmlns:a16="http://schemas.microsoft.com/office/drawing/2014/main" id="{41D5F8AC-BD7E-E8C4-F14F-08D010613286}"/>
              </a:ext>
            </a:extLst>
          </p:cNvPr>
          <p:cNvSpPr>
            <a:spLocks noGrp="1"/>
          </p:cNvSpPr>
          <p:nvPr>
            <p:ph idx="1"/>
          </p:nvPr>
        </p:nvSpPr>
        <p:spPr>
          <a:xfrm>
            <a:off x="439738" y="1508125"/>
            <a:ext cx="8001000" cy="4873625"/>
          </a:xfrm>
        </p:spPr>
        <p:txBody>
          <a:bodyPr/>
          <a:lstStyle/>
          <a:p>
            <a:r>
              <a:rPr lang="en-AU" altLang="en-US" sz="2400">
                <a:latin typeface="Arial" panose="020B0604020202020204" pitchFamily="34" charset="0"/>
                <a:cs typeface="Arial" panose="020B0604020202020204" pitchFamily="34" charset="0"/>
              </a:rPr>
              <a:t>A business owner’s equity is affected by the owner’s investments and withdrawals, as well as by the business’s revenue and expense transactions.</a:t>
            </a:r>
          </a:p>
          <a:p>
            <a:endParaRPr lang="en-AU" altLang="en-US" sz="2400">
              <a:latin typeface="Arial" panose="020B0604020202020204" pitchFamily="34" charset="0"/>
              <a:cs typeface="Arial" panose="020B0604020202020204" pitchFamily="34" charset="0"/>
            </a:endParaRPr>
          </a:p>
          <a:p>
            <a:r>
              <a:rPr lang="en-AU" altLang="en-US" sz="2400">
                <a:latin typeface="Arial" panose="020B0604020202020204" pitchFamily="34" charset="0"/>
                <a:cs typeface="Arial" panose="020B0604020202020204" pitchFamily="34" charset="0"/>
              </a:rPr>
              <a:t>Withdrawals are recorded as reductions of the owner’s capital account because they are disinvestments of assets by the owner.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ACEFB204-65DF-6B64-E867-10157DDB0315}"/>
              </a:ext>
            </a:extLst>
          </p:cNvPr>
          <p:cNvSpPr>
            <a:spLocks noGrp="1" noChangeArrowheads="1"/>
          </p:cNvSpPr>
          <p:nvPr>
            <p:ph type="title"/>
          </p:nvPr>
        </p:nvSpPr>
        <p:spPr bwMode="auto">
          <a:xfrm>
            <a:off x="107950" y="60325"/>
            <a:ext cx="8928100" cy="884238"/>
          </a:xfrm>
        </p:spPr>
        <p:txBody>
          <a:bodyPr wrap="square" numCol="1" anchorCtr="0" compatLnSpc="1">
            <a:prstTxWarp prst="textNoShape">
              <a:avLst/>
            </a:prstTxWarp>
          </a:bodyPr>
          <a:lstStyle/>
          <a:p>
            <a:pPr fontAlgn="base">
              <a:spcAft>
                <a:spcPct val="0"/>
              </a:spcAft>
            </a:pPr>
            <a:r>
              <a:rPr lang="en-AU" altLang="en-US" sz="2800" cap="none">
                <a:solidFill>
                  <a:srgbClr val="948A54"/>
                </a:solidFill>
                <a:latin typeface="Arial" panose="020B0604020202020204" pitchFamily="34" charset="0"/>
                <a:ea typeface="MS PGothic" panose="020B0600070205080204" pitchFamily="34" charset="-128"/>
                <a:cs typeface="Arial" panose="020B0604020202020204" pitchFamily="34" charset="0"/>
              </a:rPr>
              <a:t>7.6 Linking profit to owner’s equity </a:t>
            </a:r>
            <a:br>
              <a:rPr lang="en-AU" altLang="en-US" sz="2800" cap="none">
                <a:solidFill>
                  <a:srgbClr val="948A54"/>
                </a:solidFill>
                <a:latin typeface="Arial" panose="020B0604020202020204" pitchFamily="34" charset="0"/>
                <a:ea typeface="MS PGothic" panose="020B0600070205080204" pitchFamily="34" charset="-128"/>
                <a:cs typeface="Arial" panose="020B0604020202020204" pitchFamily="34" charset="0"/>
              </a:rPr>
            </a:br>
            <a:r>
              <a:rPr lang="en-AU" altLang="en-US" sz="2800" cap="none">
                <a:solidFill>
                  <a:srgbClr val="948A54"/>
                </a:solidFill>
                <a:latin typeface="Arial" panose="020B0604020202020204" pitchFamily="34" charset="0"/>
                <a:ea typeface="MS PGothic" panose="020B0600070205080204" pitchFamily="34" charset="-128"/>
                <a:cs typeface="Arial" panose="020B0604020202020204" pitchFamily="34" charset="0"/>
              </a:rPr>
              <a:t>and closing the accounts</a:t>
            </a:r>
          </a:p>
        </p:txBody>
      </p:sp>
      <p:sp>
        <p:nvSpPr>
          <p:cNvPr id="40963" name="Content Placeholder 2">
            <a:extLst>
              <a:ext uri="{FF2B5EF4-FFF2-40B4-BE49-F238E27FC236}">
                <a16:creationId xmlns:a16="http://schemas.microsoft.com/office/drawing/2014/main" id="{941D80F0-73C3-15D6-2EE1-E88222A6FD13}"/>
              </a:ext>
            </a:extLst>
          </p:cNvPr>
          <p:cNvSpPr>
            <a:spLocks noGrp="1"/>
          </p:cNvSpPr>
          <p:nvPr>
            <p:ph idx="1"/>
          </p:nvPr>
        </p:nvSpPr>
        <p:spPr>
          <a:xfrm>
            <a:off x="250825" y="3429000"/>
            <a:ext cx="7850188" cy="360363"/>
          </a:xfrm>
        </p:spPr>
        <p:txBody>
          <a:bodyPr/>
          <a:lstStyle/>
          <a:p>
            <a:pPr marL="0" indent="0">
              <a:buFont typeface="Arial" panose="020B0604020202020204" pitchFamily="34" charset="0"/>
              <a:buNone/>
            </a:pPr>
            <a:r>
              <a:rPr lang="en-AU" altLang="en-US" sz="1800" b="1">
                <a:latin typeface="Arial" panose="020B0604020202020204" pitchFamily="34" charset="0"/>
                <a:cs typeface="Arial" panose="020B0604020202020204" pitchFamily="34" charset="0"/>
              </a:rPr>
              <a:t>Case Exhibit 7.5 Café Revive’s statement of changes in owner’s equity</a:t>
            </a:r>
          </a:p>
          <a:p>
            <a:pPr marL="0" indent="0"/>
            <a:endParaRPr lang="en-AU" altLang="en-US" sz="1800" b="1">
              <a:latin typeface="Arial" panose="020B0604020202020204" pitchFamily="34" charset="0"/>
              <a:cs typeface="Arial" panose="020B0604020202020204" pitchFamily="34" charset="0"/>
            </a:endParaRPr>
          </a:p>
        </p:txBody>
      </p:sp>
      <p:pic>
        <p:nvPicPr>
          <p:cNvPr id="40964" name="Picture 3">
            <a:extLst>
              <a:ext uri="{FF2B5EF4-FFF2-40B4-BE49-F238E27FC236}">
                <a16:creationId xmlns:a16="http://schemas.microsoft.com/office/drawing/2014/main" id="{07E32EA3-4DD0-1373-ABD4-7F0FCF5A4B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3789363"/>
            <a:ext cx="5910263" cy="236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Rectangle 4">
            <a:extLst>
              <a:ext uri="{FF2B5EF4-FFF2-40B4-BE49-F238E27FC236}">
                <a16:creationId xmlns:a16="http://schemas.microsoft.com/office/drawing/2014/main" id="{FFDFAA56-7735-868A-C153-966E12826091}"/>
              </a:ext>
            </a:extLst>
          </p:cNvPr>
          <p:cNvSpPr>
            <a:spLocks noChangeArrowheads="1"/>
          </p:cNvSpPr>
          <p:nvPr/>
        </p:nvSpPr>
        <p:spPr bwMode="auto">
          <a:xfrm>
            <a:off x="323850" y="1157288"/>
            <a:ext cx="8496300" cy="241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MS PGothic" panose="020B0600070205080204" pitchFamily="34" charset="-128"/>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cs typeface="Arial" panose="020B0604020202020204" pitchFamily="34" charset="0"/>
              </a:defRPr>
            </a:lvl9pPr>
          </a:lstStyle>
          <a:p>
            <a:pPr>
              <a:spcBef>
                <a:spcPct val="0"/>
              </a:spcBef>
              <a:buFontTx/>
              <a:buNone/>
            </a:pPr>
            <a:r>
              <a:rPr lang="en-AU" altLang="en-US" sz="1900"/>
              <a:t>The $22 000 beginning amount of owner’s capital comes from the ‘E Della, capital’ account (shown in Case Exhibit 4.6 in Chapter 4). Emily made no additional investments during the accounting period, so the next item is net income. The $4325 net income comes from the income statement in Case Exhibit 7.2. The $250 of withdrawals comes from the ‘E Della, capital’ account in Café Revive’s accounting records. The $26 075 ending amount for ‘E Della, capital’ is the amount to be reported as owner’s equity. </a:t>
            </a:r>
          </a:p>
          <a:p>
            <a:pPr>
              <a:spcBef>
                <a:spcPct val="0"/>
              </a:spcBef>
              <a:buFontTx/>
              <a:buNone/>
            </a:pPr>
            <a:endParaRPr lang="en-AU" altLang="en-US" sz="1800" b="1">
              <a:latin typeface="Calibri" panose="020F050202020403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75F1CA13-1A26-12EE-EC63-E822F4B1C07B}"/>
              </a:ext>
            </a:extLst>
          </p:cNvPr>
          <p:cNvSpPr>
            <a:spLocks noGrp="1" noChangeArrowheads="1"/>
          </p:cNvSpPr>
          <p:nvPr>
            <p:ph type="title"/>
          </p:nvPr>
        </p:nvSpPr>
        <p:spPr bwMode="auto">
          <a:xfrm>
            <a:off x="1116013" y="188913"/>
            <a:ext cx="6854825" cy="884237"/>
          </a:xfrm>
        </p:spPr>
        <p:txBody>
          <a:bodyPr wrap="square" numCol="1" anchorCtr="0" compatLnSpc="1">
            <a:prstTxWarp prst="textNoShape">
              <a:avLst/>
            </a:prstTxWarp>
          </a:bodyPr>
          <a:lstStyle/>
          <a:p>
            <a:pPr fontAlgn="base">
              <a:spcAft>
                <a:spcPct val="0"/>
              </a:spcAft>
            </a:pPr>
            <a:r>
              <a:rPr lang="en-AU" altLang="en-US" sz="2800" cap="none">
                <a:solidFill>
                  <a:srgbClr val="948A54"/>
                </a:solidFill>
                <a:latin typeface="Arial" panose="020B0604020202020204" pitchFamily="34" charset="0"/>
                <a:ea typeface="MS PGothic" panose="020B0600070205080204" pitchFamily="34" charset="-128"/>
                <a:cs typeface="Arial" panose="020B0604020202020204" pitchFamily="34" charset="0"/>
              </a:rPr>
              <a:t>7.6 Linking profit to owner’s equity and closing the accounts</a:t>
            </a:r>
          </a:p>
        </p:txBody>
      </p:sp>
      <p:sp>
        <p:nvSpPr>
          <p:cNvPr id="41987" name="Content Placeholder 2">
            <a:extLst>
              <a:ext uri="{FF2B5EF4-FFF2-40B4-BE49-F238E27FC236}">
                <a16:creationId xmlns:a16="http://schemas.microsoft.com/office/drawing/2014/main" id="{5C304D14-7F24-0E11-B966-545E2233516C}"/>
              </a:ext>
            </a:extLst>
          </p:cNvPr>
          <p:cNvSpPr>
            <a:spLocks noGrp="1"/>
          </p:cNvSpPr>
          <p:nvPr>
            <p:ph idx="1"/>
          </p:nvPr>
        </p:nvSpPr>
        <p:spPr>
          <a:xfrm>
            <a:off x="495300" y="1220788"/>
            <a:ext cx="8001000" cy="4800600"/>
          </a:xfrm>
        </p:spPr>
        <p:txBody>
          <a:bodyPr/>
          <a:lstStyle/>
          <a:p>
            <a:pPr marL="0" indent="0">
              <a:buFont typeface="Arial" panose="020B0604020202020204" pitchFamily="34" charset="0"/>
              <a:buNone/>
            </a:pPr>
            <a:r>
              <a:rPr lang="en-AU" altLang="en-US" sz="2200">
                <a:latin typeface="Arial" panose="020B0604020202020204" pitchFamily="34" charset="0"/>
                <a:cs typeface="Arial" panose="020B0604020202020204" pitchFamily="34" charset="0"/>
              </a:rPr>
              <a:t>A business uses </a:t>
            </a:r>
            <a:r>
              <a:rPr lang="en-AU" altLang="en-US" sz="2200" b="1">
                <a:solidFill>
                  <a:srgbClr val="31859C"/>
                </a:solidFill>
                <a:latin typeface="Arial" panose="020B0604020202020204" pitchFamily="34" charset="0"/>
                <a:cs typeface="Arial" panose="020B0604020202020204" pitchFamily="34" charset="0"/>
              </a:rPr>
              <a:t>closing entries </a:t>
            </a:r>
            <a:r>
              <a:rPr lang="en-AU" altLang="en-US" sz="2200">
                <a:latin typeface="Arial" panose="020B0604020202020204" pitchFamily="34" charset="0"/>
                <a:cs typeface="Arial" panose="020B0604020202020204" pitchFamily="34" charset="0"/>
              </a:rPr>
              <a:t>so that when a new accounting period starts: </a:t>
            </a:r>
          </a:p>
          <a:p>
            <a:pPr marL="0" indent="0">
              <a:buFont typeface="Calibri" panose="020F0502020204030204" pitchFamily="34" charset="0"/>
              <a:buAutoNum type="arabicPeriod"/>
            </a:pPr>
            <a:r>
              <a:rPr lang="en-AU" altLang="en-US" sz="2000">
                <a:latin typeface="Arial" panose="020B0604020202020204" pitchFamily="34" charset="0"/>
                <a:cs typeface="Arial" panose="020B0604020202020204" pitchFamily="34" charset="0"/>
              </a:rPr>
              <a:t>the revenue and expense accounts (temporary accounts) have zero balances, and no longer contain the amounts of any transactions from previous periods</a:t>
            </a:r>
          </a:p>
          <a:p>
            <a:pPr marL="0" indent="0">
              <a:buFont typeface="Calibri" panose="020F0502020204030204" pitchFamily="34" charset="0"/>
              <a:buAutoNum type="arabicPeriod"/>
            </a:pPr>
            <a:r>
              <a:rPr lang="en-AU" altLang="en-US" sz="2000">
                <a:latin typeface="Arial" panose="020B0604020202020204" pitchFamily="34" charset="0"/>
                <a:cs typeface="Arial" panose="020B0604020202020204" pitchFamily="34" charset="0"/>
              </a:rPr>
              <a:t>the accounting system keeps the revenue and expense transactions of the current period separate from the revenue and expense transactions of other periods</a:t>
            </a:r>
          </a:p>
          <a:p>
            <a:pPr marL="0" indent="0">
              <a:buFont typeface="Calibri" panose="020F0502020204030204" pitchFamily="34" charset="0"/>
              <a:buAutoNum type="arabicPeriod"/>
            </a:pPr>
            <a:r>
              <a:rPr lang="en-AU" altLang="en-US" sz="2000">
                <a:latin typeface="Arial" panose="020B0604020202020204" pitchFamily="34" charset="0"/>
                <a:cs typeface="Arial" panose="020B0604020202020204" pitchFamily="34" charset="0"/>
              </a:rPr>
              <a:t>the permanent (balance sheet) accounts are up-to-date (i.e. net income has been added to the previous balance of the owner’s capital account). </a:t>
            </a:r>
          </a:p>
          <a:p>
            <a:pPr marL="0" indent="0">
              <a:buFont typeface="Calibri" panose="020F0502020204030204" pitchFamily="34" charset="0"/>
              <a:buAutoNum type="arabicPeriod"/>
            </a:pPr>
            <a:r>
              <a:rPr lang="en-AU" altLang="en-US" sz="2000">
                <a:latin typeface="Arial" panose="020B0604020202020204" pitchFamily="34" charset="0"/>
                <a:cs typeface="Arial" panose="020B0604020202020204" pitchFamily="34" charset="0"/>
              </a:rPr>
              <a:t>Making closing entries is not part of this course but it is good to be aware of them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424A8681-51DD-F417-8668-8B6FDA050487}"/>
              </a:ext>
            </a:extLst>
          </p:cNvPr>
          <p:cNvSpPr>
            <a:spLocks noGrp="1" noChangeArrowheads="1"/>
          </p:cNvSpPr>
          <p:nvPr>
            <p:ph type="title"/>
          </p:nvPr>
        </p:nvSpPr>
        <p:spPr bwMode="auto">
          <a:xfrm>
            <a:off x="457200" y="384175"/>
            <a:ext cx="8229600" cy="884238"/>
          </a:xfrm>
        </p:spPr>
        <p:txBody>
          <a:bodyPr wrap="square" numCol="1" anchorCtr="0" compatLnSpc="1">
            <a:prstTxWarp prst="textNoShape">
              <a:avLst/>
            </a:prstTxWarp>
          </a:bodyPr>
          <a:lstStyle/>
          <a:p>
            <a:pPr fontAlgn="base">
              <a:spcAft>
                <a:spcPct val="0"/>
              </a:spcAft>
            </a:pPr>
            <a:r>
              <a:rPr lang="en-AU" altLang="en-US" sz="2800" cap="none">
                <a:solidFill>
                  <a:srgbClr val="948A54"/>
                </a:solidFill>
                <a:latin typeface="Arial" panose="020B0604020202020204" pitchFamily="34" charset="0"/>
                <a:ea typeface="MS PGothic" panose="020B0600070205080204" pitchFamily="34" charset="-128"/>
                <a:cs typeface="Arial" panose="020B0604020202020204" pitchFamily="34" charset="0"/>
              </a:rPr>
              <a:t>7.6 Linking profit to owner’s </a:t>
            </a:r>
            <a:br>
              <a:rPr lang="en-AU" altLang="en-US" sz="2800" cap="none">
                <a:solidFill>
                  <a:srgbClr val="948A54"/>
                </a:solidFill>
                <a:latin typeface="Arial" panose="020B0604020202020204" pitchFamily="34" charset="0"/>
                <a:ea typeface="MS PGothic" panose="020B0600070205080204" pitchFamily="34" charset="-128"/>
                <a:cs typeface="Arial" panose="020B0604020202020204" pitchFamily="34" charset="0"/>
              </a:rPr>
            </a:br>
            <a:r>
              <a:rPr lang="en-AU" altLang="en-US" sz="2800" cap="none">
                <a:solidFill>
                  <a:srgbClr val="948A54"/>
                </a:solidFill>
                <a:latin typeface="Arial" panose="020B0604020202020204" pitchFamily="34" charset="0"/>
                <a:ea typeface="MS PGothic" panose="020B0600070205080204" pitchFamily="34" charset="-128"/>
                <a:cs typeface="Arial" panose="020B0604020202020204" pitchFamily="34" charset="0"/>
              </a:rPr>
              <a:t>equity and closing the accounts</a:t>
            </a:r>
          </a:p>
        </p:txBody>
      </p:sp>
      <p:sp>
        <p:nvSpPr>
          <p:cNvPr id="43011" name="Content Placeholder 2">
            <a:extLst>
              <a:ext uri="{FF2B5EF4-FFF2-40B4-BE49-F238E27FC236}">
                <a16:creationId xmlns:a16="http://schemas.microsoft.com/office/drawing/2014/main" id="{6FCC9E2C-1CA9-9B5F-EBE2-192471105ABA}"/>
              </a:ext>
            </a:extLst>
          </p:cNvPr>
          <p:cNvSpPr>
            <a:spLocks noGrp="1"/>
          </p:cNvSpPr>
          <p:nvPr>
            <p:ph idx="1"/>
          </p:nvPr>
        </p:nvSpPr>
        <p:spPr>
          <a:xfrm>
            <a:off x="457200" y="1700213"/>
            <a:ext cx="8153400" cy="4608512"/>
          </a:xfrm>
        </p:spPr>
        <p:txBody>
          <a:bodyPr/>
          <a:lstStyle/>
          <a:p>
            <a:pPr marL="0" indent="0">
              <a:buFont typeface="Arial" panose="020B0604020202020204" pitchFamily="34" charset="0"/>
              <a:buNone/>
            </a:pPr>
            <a:r>
              <a:rPr lang="en-AU" altLang="en-US" sz="2400" b="1">
                <a:solidFill>
                  <a:srgbClr val="31859C"/>
                </a:solidFill>
                <a:latin typeface="Arial" panose="020B0604020202020204" pitchFamily="34" charset="0"/>
                <a:cs typeface="Arial" panose="020B0604020202020204" pitchFamily="34" charset="0"/>
              </a:rPr>
              <a:t>Business issues and values</a:t>
            </a:r>
          </a:p>
          <a:p>
            <a:pPr marL="0" indent="0">
              <a:buFont typeface="Arial" panose="020B0604020202020204" pitchFamily="34" charset="0"/>
              <a:buNone/>
            </a:pPr>
            <a:endParaRPr lang="en-AU" altLang="en-US" sz="2400" b="1">
              <a:solidFill>
                <a:srgbClr val="31859C"/>
              </a:solidFill>
              <a:latin typeface="Arial" panose="020B0604020202020204" pitchFamily="34" charset="0"/>
              <a:cs typeface="Arial" panose="020B0604020202020204" pitchFamily="34" charset="0"/>
            </a:endParaRPr>
          </a:p>
          <a:p>
            <a:pPr marL="0" indent="0"/>
            <a:r>
              <a:rPr lang="en-AU" altLang="en-US" sz="2400">
                <a:latin typeface="Arial" panose="020B0604020202020204" pitchFamily="34" charset="0"/>
                <a:cs typeface="Arial" panose="020B0604020202020204" pitchFamily="34" charset="0"/>
              </a:rPr>
              <a:t>What is corporate social responsibility (CSR)?</a:t>
            </a:r>
          </a:p>
          <a:p>
            <a:pPr marL="0" indent="0"/>
            <a:r>
              <a:rPr lang="en-AU" altLang="en-US" sz="2400">
                <a:latin typeface="Arial" panose="020B0604020202020204" pitchFamily="34" charset="0"/>
                <a:cs typeface="Arial" panose="020B0604020202020204" pitchFamily="34" charset="0"/>
              </a:rPr>
              <a:t>Impact of casualization of labour</a:t>
            </a:r>
          </a:p>
          <a:p>
            <a:pPr marL="0" indent="0"/>
            <a:endParaRPr lang="en-AU" altLang="en-US" sz="2400">
              <a:latin typeface="Arial" panose="020B0604020202020204" pitchFamily="34" charset="0"/>
              <a:cs typeface="Arial" panose="020B0604020202020204" pitchFamily="34" charset="0"/>
            </a:endParaRPr>
          </a:p>
          <a:p>
            <a:pPr marL="0" indent="0"/>
            <a:r>
              <a:rPr lang="en-AU" altLang="en-US" sz="2400">
                <a:latin typeface="Arial" panose="020B0604020202020204" pitchFamily="34" charset="0"/>
                <a:cs typeface="Arial" panose="020B0604020202020204" pitchFamily="34" charset="0"/>
              </a:rPr>
              <a:t>Environmental disasters can result in costs that have signiﬁcant impacts on business proﬁtability.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AD474-B8B6-F7BA-EE42-7636B4CED467}"/>
              </a:ext>
            </a:extLst>
          </p:cNvPr>
          <p:cNvSpPr>
            <a:spLocks noGrp="1"/>
          </p:cNvSpPr>
          <p:nvPr>
            <p:ph type="title"/>
          </p:nvPr>
        </p:nvSpPr>
        <p:spPr>
          <a:xfrm>
            <a:off x="457200" y="260350"/>
            <a:ext cx="8229600" cy="936625"/>
          </a:xfrm>
        </p:spPr>
        <p:txBody>
          <a:bodyPr/>
          <a:lstStyle/>
          <a:p>
            <a:pPr>
              <a:defRPr/>
            </a:pPr>
            <a:r>
              <a:rPr lang="en-AU" sz="2800" cap="none"/>
              <a:t>Key takeaways</a:t>
            </a:r>
          </a:p>
        </p:txBody>
      </p:sp>
      <p:sp>
        <p:nvSpPr>
          <p:cNvPr id="3" name="Content Placeholder 2">
            <a:extLst>
              <a:ext uri="{FF2B5EF4-FFF2-40B4-BE49-F238E27FC236}">
                <a16:creationId xmlns:a16="http://schemas.microsoft.com/office/drawing/2014/main" id="{B909A9AB-748D-4FA7-73DD-B673A1559EE4}"/>
              </a:ext>
            </a:extLst>
          </p:cNvPr>
          <p:cNvSpPr>
            <a:spLocks noGrp="1"/>
          </p:cNvSpPr>
          <p:nvPr>
            <p:ph idx="1"/>
          </p:nvPr>
        </p:nvSpPr>
        <p:spPr>
          <a:xfrm>
            <a:off x="323850" y="1412875"/>
            <a:ext cx="8496300" cy="5229225"/>
          </a:xfrm>
        </p:spPr>
        <p:txBody>
          <a:bodyPr/>
          <a:lstStyle/>
          <a:p>
            <a:pPr>
              <a:defRPr/>
            </a:pPr>
            <a:r>
              <a:rPr lang="en-AU" sz="2400" dirty="0">
                <a:ea typeface="ＭＳ Ｐゴシック" panose="020B0600070205080204" pitchFamily="34" charset="-128"/>
              </a:rPr>
              <a:t>Explain the purpose of the </a:t>
            </a:r>
            <a:r>
              <a:rPr lang="en-AU" sz="2400" b="1" i="1" dirty="0">
                <a:solidFill>
                  <a:schemeClr val="accent5">
                    <a:lumMod val="75000"/>
                  </a:schemeClr>
                </a:solidFill>
                <a:ea typeface="ＭＳ Ｐゴシック" panose="020B0600070205080204" pitchFamily="34" charset="-128"/>
              </a:rPr>
              <a:t>Income Statement </a:t>
            </a:r>
            <a:r>
              <a:rPr lang="en-AU" sz="2400" dirty="0">
                <a:ea typeface="ＭＳ Ｐゴシック" panose="020B0600070205080204" pitchFamily="34" charset="-128"/>
              </a:rPr>
              <a:t>in terms of financial performance.</a:t>
            </a:r>
          </a:p>
          <a:p>
            <a:pPr>
              <a:defRPr/>
            </a:pPr>
            <a:r>
              <a:rPr lang="en-AU" sz="2400" dirty="0">
                <a:ea typeface="ＭＳ Ｐゴシック" panose="020B0600070205080204" pitchFamily="34" charset="-128"/>
              </a:rPr>
              <a:t>Understand the terms </a:t>
            </a:r>
            <a:r>
              <a:rPr lang="en-AU" sz="2400" b="1" i="1" dirty="0">
                <a:solidFill>
                  <a:schemeClr val="accent5">
                    <a:lumMod val="75000"/>
                  </a:schemeClr>
                </a:solidFill>
                <a:ea typeface="ＭＳ Ｐゴシック" panose="020B0600070205080204" pitchFamily="34" charset="-128"/>
              </a:rPr>
              <a:t>Revenue and Expenses.</a:t>
            </a:r>
          </a:p>
          <a:p>
            <a:pPr>
              <a:defRPr/>
            </a:pPr>
            <a:r>
              <a:rPr lang="en-AU" sz="2400" dirty="0">
                <a:ea typeface="ＭＳ Ｐゴシック" panose="020B0600070205080204" pitchFamily="34" charset="-128"/>
              </a:rPr>
              <a:t>Be aware of ratios to evaluate performance.</a:t>
            </a:r>
          </a:p>
          <a:p>
            <a:pPr>
              <a:defRPr/>
            </a:pPr>
            <a:r>
              <a:rPr lang="en-AU" sz="2400" dirty="0">
                <a:ea typeface="ＭＳ Ｐゴシック" panose="020B0600070205080204" pitchFamily="34" charset="-128"/>
              </a:rPr>
              <a:t>Know how </a:t>
            </a:r>
            <a:r>
              <a:rPr lang="en-AU" sz="2400" b="1" i="1" dirty="0">
                <a:solidFill>
                  <a:schemeClr val="accent5">
                    <a:lumMod val="75000"/>
                  </a:schemeClr>
                </a:solidFill>
                <a:ea typeface="ＭＳ Ｐゴシック" panose="020B0600070205080204" pitchFamily="34" charset="-128"/>
              </a:rPr>
              <a:t>profits are transferred </a:t>
            </a:r>
            <a:r>
              <a:rPr lang="en-AU" sz="2400" dirty="0">
                <a:ea typeface="ＭＳ Ｐゴシック" panose="020B0600070205080204" pitchFamily="34" charset="-128"/>
              </a:rPr>
              <a:t>to owners accounts.</a:t>
            </a:r>
          </a:p>
          <a:p>
            <a:pPr>
              <a:defRPr/>
            </a:pPr>
            <a:r>
              <a:rPr lang="en-AU" sz="2400" dirty="0">
                <a:ea typeface="ＭＳ Ｐゴシック" panose="020B0600070205080204" pitchFamily="34" charset="-128"/>
              </a:rPr>
              <a:t>Understand the purpose of </a:t>
            </a:r>
            <a:r>
              <a:rPr lang="en-AU" sz="2400" b="1" dirty="0">
                <a:solidFill>
                  <a:schemeClr val="accent5">
                    <a:lumMod val="75000"/>
                  </a:schemeClr>
                </a:solidFill>
                <a:ea typeface="ＭＳ Ｐゴシック" panose="020B0600070205080204" pitchFamily="34" charset="-128"/>
              </a:rPr>
              <a:t>closing entries. </a:t>
            </a:r>
          </a:p>
          <a:p>
            <a:pPr>
              <a:defRPr/>
            </a:pPr>
            <a:endParaRPr lang="en-AU" dirty="0">
              <a:ea typeface="ＭＳ Ｐゴシック" panose="020B0600070205080204"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8717</TotalTime>
  <Words>2273</Words>
  <Application>Microsoft Office PowerPoint</Application>
  <PresentationFormat>On-screen Show (4:3)</PresentationFormat>
  <Paragraphs>165</Paragraphs>
  <Slides>31</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31</vt:i4>
      </vt:variant>
    </vt:vector>
  </HeadingPairs>
  <TitlesOfParts>
    <vt:vector size="38" baseType="lpstr">
      <vt:lpstr>ＭＳ Ｐゴシック</vt:lpstr>
      <vt:lpstr>Arial</vt:lpstr>
      <vt:lpstr>Arial Narrow</vt:lpstr>
      <vt:lpstr>Calibri</vt:lpstr>
      <vt:lpstr>Calibri Light</vt:lpstr>
      <vt:lpstr>Office Theme</vt:lpstr>
      <vt:lpstr>Custom Design</vt:lpstr>
      <vt:lpstr>PowerPoint Presentation</vt:lpstr>
      <vt:lpstr>Learning objectives</vt:lpstr>
      <vt:lpstr>Key questions</vt:lpstr>
      <vt:lpstr>7.1 Why the income statement is important </vt:lpstr>
      <vt:lpstr>7.1 Why the income statement is important</vt:lpstr>
      <vt:lpstr>7.1 Why the income statement is important</vt:lpstr>
      <vt:lpstr>7.2 Measuring financial performance: the income statement </vt:lpstr>
      <vt:lpstr>7.2 Measuring financial performance: the income statement </vt:lpstr>
      <vt:lpstr>7.2 Measuring financial performance: the income statement </vt:lpstr>
      <vt:lpstr>7.3 Defining and classifying revenues/income</vt:lpstr>
      <vt:lpstr>7.3 Defining and classifying revenues/income </vt:lpstr>
      <vt:lpstr>7.3 Defining and classifying revenues/income </vt:lpstr>
      <vt:lpstr>7.3 Defining and classifying revenues/income</vt:lpstr>
      <vt:lpstr>7.4 Defining and classifying expenses</vt:lpstr>
      <vt:lpstr>7.4 Defining and classifying expenses (Periodic Inventory System)</vt:lpstr>
      <vt:lpstr>Measuring Inventory</vt:lpstr>
      <vt:lpstr>7.4 Defining and classifying expenses</vt:lpstr>
      <vt:lpstr>7.4 Defining and classifying expenses</vt:lpstr>
      <vt:lpstr>7.4 Defining and classifying expenses</vt:lpstr>
      <vt:lpstr>7.5 Evaluating the income statement using ratios</vt:lpstr>
      <vt:lpstr>7.5 Evaluating the income statement using ratios</vt:lpstr>
      <vt:lpstr>Gross Profit percentage</vt:lpstr>
      <vt:lpstr>7.5 Evaluating the income statement using ratios</vt:lpstr>
      <vt:lpstr>7.5 Evaluating the income statement using ratios</vt:lpstr>
      <vt:lpstr>7.5 Evaluating the income statement using ratios</vt:lpstr>
      <vt:lpstr>7.6 Linking profit to owner’s equity  and closing the accounts</vt:lpstr>
      <vt:lpstr>7.6 Linking profit to owner’s equity and closing the accounts</vt:lpstr>
      <vt:lpstr>7.6 Linking profit to owner’s equity  and closing the accounts</vt:lpstr>
      <vt:lpstr>7.6 Linking profit to owner’s equity and closing the accounts</vt:lpstr>
      <vt:lpstr>7.6 Linking profit to owner’s  equity and closing the accounts</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Olga Lavecchia</dc:creator>
  <cp:lastModifiedBy>Christelle Roos</cp:lastModifiedBy>
  <cp:revision>144</cp:revision>
  <dcterms:created xsi:type="dcterms:W3CDTF">2016-03-22T03:34:01Z</dcterms:created>
  <dcterms:modified xsi:type="dcterms:W3CDTF">2025-02-23T22:07:05Z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d9e4d68-54d0-40a5-8c9a-85a36c87352c_Enabled">
    <vt:lpwstr>true</vt:lpwstr>
  </property>
  <property fmtid="{D5CDD505-2E9C-101B-9397-08002B2CF9AE}" pid="3" name="MSIP_Label_bd9e4d68-54d0-40a5-8c9a-85a36c87352c_SetDate">
    <vt:lpwstr>2025-02-23T22:07:05Z</vt:lpwstr>
  </property>
  <property fmtid="{D5CDD505-2E9C-101B-9397-08002B2CF9AE}" pid="4" name="MSIP_Label_bd9e4d68-54d0-40a5-8c9a-85a36c87352c_Method">
    <vt:lpwstr>Standard</vt:lpwstr>
  </property>
  <property fmtid="{D5CDD505-2E9C-101B-9397-08002B2CF9AE}" pid="5" name="MSIP_Label_bd9e4d68-54d0-40a5-8c9a-85a36c87352c_Name">
    <vt:lpwstr>Unclassified</vt:lpwstr>
  </property>
  <property fmtid="{D5CDD505-2E9C-101B-9397-08002B2CF9AE}" pid="6" name="MSIP_Label_bd9e4d68-54d0-40a5-8c9a-85a36c87352c_SiteId">
    <vt:lpwstr>388728e1-bbd0-4378-98dc-f8682e644300</vt:lpwstr>
  </property>
  <property fmtid="{D5CDD505-2E9C-101B-9397-08002B2CF9AE}" pid="7" name="MSIP_Label_bd9e4d68-54d0-40a5-8c9a-85a36c87352c_ActionId">
    <vt:lpwstr>3685fc21-8726-4338-9d42-44abe4b644c8</vt:lpwstr>
  </property>
  <property fmtid="{D5CDD505-2E9C-101B-9397-08002B2CF9AE}" pid="8" name="MSIP_Label_bd9e4d68-54d0-40a5-8c9a-85a36c87352c_ContentBits">
    <vt:lpwstr>0</vt:lpwstr>
  </property>
  <property fmtid="{D5CDD505-2E9C-101B-9397-08002B2CF9AE}" pid="9" name="MSIP_Label_bd9e4d68-54d0-40a5-8c9a-85a36c87352c_Tag">
    <vt:lpwstr>10, 3, 0, 1</vt:lpwstr>
  </property>
</Properties>
</file>